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446d803b8f4159" /><Relationship Type="http://schemas.openxmlformats.org/officeDocument/2006/relationships/extended-properties" Target="/docProps/app.xml" Id="R9f22780319db4d9c" /><Relationship Type="http://schemas.openxmlformats.org/officeDocument/2006/relationships/officeDocument" Target="/ppt/presentation.xml" Id="Rc7c030de412e4c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91358a5f554942"/>
  </p:sldMasterIdLst>
  <p:notesMasterIdLst>
    <p:notesMasterId xmlns:r="http://schemas.openxmlformats.org/officeDocument/2006/relationships" r:id="Rc737de2b14034bbd"/>
  </p:notesMasterIdLst>
  <p:sldIdLst>
    <p:sldId xmlns:r="http://schemas.openxmlformats.org/officeDocument/2006/relationships" id="256" r:id="R75f7dc72012d484a"/>
    <p:sldId xmlns:r="http://schemas.openxmlformats.org/officeDocument/2006/relationships" id="257" r:id="Ra8760c5aad814799"/>
    <p:sldId xmlns:r="http://schemas.openxmlformats.org/officeDocument/2006/relationships" id="258" r:id="Ra097a60bc8fd424c"/>
    <p:sldId xmlns:r="http://schemas.openxmlformats.org/officeDocument/2006/relationships" id="259" r:id="R3415ce331c264356"/>
    <p:sldId xmlns:r="http://schemas.openxmlformats.org/officeDocument/2006/relationships" id="260" r:id="Rf4bdd5287001429f"/>
    <p:sldId xmlns:r="http://schemas.openxmlformats.org/officeDocument/2006/relationships" id="261" r:id="R9758843b61fd4a48"/>
    <p:sldId xmlns:r="http://schemas.openxmlformats.org/officeDocument/2006/relationships" id="262" r:id="R5ade0ac87ec54002"/>
    <p:sldId xmlns:r="http://schemas.openxmlformats.org/officeDocument/2006/relationships" id="263" r:id="Rc3bae419d2f04886"/>
    <p:sldId xmlns:r="http://schemas.openxmlformats.org/officeDocument/2006/relationships" id="264" r:id="R54a88cd83de84352"/>
    <p:sldId xmlns:r="http://schemas.openxmlformats.org/officeDocument/2006/relationships" id="265" r:id="R8a2b6d0e8c0a4cbf"/>
    <p:sldId xmlns:r="http://schemas.openxmlformats.org/officeDocument/2006/relationships" id="266" r:id="R5594703c07614967"/>
    <p:sldId xmlns:r="http://schemas.openxmlformats.org/officeDocument/2006/relationships" id="267" r:id="R385e0b987a29410a"/>
    <p:sldId xmlns:r="http://schemas.openxmlformats.org/officeDocument/2006/relationships" id="268" r:id="Rf0fba20054aa44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b9d0d5d25d41f5" /><Relationship Type="http://schemas.openxmlformats.org/officeDocument/2006/relationships/slideMaster" Target="/ppt/slideMasters/slideMaster1.xml" Id="R0b91358a5f554942" /><Relationship Type="http://schemas.openxmlformats.org/officeDocument/2006/relationships/notesMaster" Target="/ppt/notesMasters/notesMaster1.xml" Id="Rc737de2b14034bbd" /><Relationship Type="http://schemas.openxmlformats.org/officeDocument/2006/relationships/presProps" Target="/ppt/presProps.xml" Id="R040ba86a04304c57" /><Relationship Type="http://schemas.openxmlformats.org/officeDocument/2006/relationships/viewProps" Target="/ppt/viewProps.xml" Id="R5a3471592b854491" /><Relationship Type="http://schemas.openxmlformats.org/officeDocument/2006/relationships/tableStyles" Target="/ppt/tableStyles.xml" Id="Rb1e0a31b069f49dc" /><Relationship Type="http://schemas.openxmlformats.org/officeDocument/2006/relationships/slide" Target="/ppt/slides/slide1.xml" Id="R75f7dc72012d484a" /><Relationship Type="http://schemas.openxmlformats.org/officeDocument/2006/relationships/slide" Target="/ppt/slides/slide2.xml" Id="Ra8760c5aad814799" /><Relationship Type="http://schemas.openxmlformats.org/officeDocument/2006/relationships/slide" Target="/ppt/slides/slide3.xml" Id="Ra097a60bc8fd424c" /><Relationship Type="http://schemas.openxmlformats.org/officeDocument/2006/relationships/slide" Target="/ppt/slides/slide4.xml" Id="R3415ce331c264356" /><Relationship Type="http://schemas.openxmlformats.org/officeDocument/2006/relationships/slide" Target="/ppt/slides/slide5.xml" Id="Rf4bdd5287001429f" /><Relationship Type="http://schemas.openxmlformats.org/officeDocument/2006/relationships/slide" Target="/ppt/slides/slide6.xml" Id="R9758843b61fd4a48" /><Relationship Type="http://schemas.openxmlformats.org/officeDocument/2006/relationships/slide" Target="/ppt/slides/slide7.xml" Id="R5ade0ac87ec54002" /><Relationship Type="http://schemas.openxmlformats.org/officeDocument/2006/relationships/slide" Target="/ppt/slides/slide8.xml" Id="Rc3bae419d2f04886" /><Relationship Type="http://schemas.openxmlformats.org/officeDocument/2006/relationships/slide" Target="/ppt/slides/slide9.xml" Id="R54a88cd83de84352" /><Relationship Type="http://schemas.openxmlformats.org/officeDocument/2006/relationships/slide" Target="/ppt/slides/slide10.xml" Id="R8a2b6d0e8c0a4cbf" /><Relationship Type="http://schemas.openxmlformats.org/officeDocument/2006/relationships/slide" Target="/ppt/slides/slide11.xml" Id="R5594703c07614967" /><Relationship Type="http://schemas.openxmlformats.org/officeDocument/2006/relationships/slide" Target="/ppt/slides/slide12.xml" Id="R385e0b987a29410a" /><Relationship Type="http://schemas.openxmlformats.org/officeDocument/2006/relationships/slide" Target="/ppt/slides/slide13.xml" Id="Rf0fba20054aa44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bde41234184c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49df5855c841c4" /><Relationship Type="http://schemas.openxmlformats.org/officeDocument/2006/relationships/notesMaster" Target="/ppt/notesMasters/notesMaster1.xml" Id="Rb59eb3261cdf4b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e364e90ad84b41" /><Relationship Type="http://schemas.openxmlformats.org/officeDocument/2006/relationships/notesMaster" Target="/ppt/notesMasters/notesMaster1.xml" Id="R0f60bd78319d44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1559700099414e" /><Relationship Type="http://schemas.openxmlformats.org/officeDocument/2006/relationships/notesMaster" Target="/ppt/notesMasters/notesMaster1.xml" Id="Ra17f0ae1153642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c5b81e4fdc4edf" /><Relationship Type="http://schemas.openxmlformats.org/officeDocument/2006/relationships/notesMaster" Target="/ppt/notesMasters/notesMaster1.xml" Id="Rbc9edbc343fa41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7403c5de4c4063" /><Relationship Type="http://schemas.openxmlformats.org/officeDocument/2006/relationships/notesMaster" Target="/ppt/notesMasters/notesMaster1.xml" Id="Rd521285e6e214a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51edff5be5477b" /><Relationship Type="http://schemas.openxmlformats.org/officeDocument/2006/relationships/notesMaster" Target="/ppt/notesMasters/notesMaster1.xml" Id="R9b69691744994c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4c3c9b568240c7" /><Relationship Type="http://schemas.openxmlformats.org/officeDocument/2006/relationships/notesMaster" Target="/ppt/notesMasters/notesMaster1.xml" Id="R390fb0fb8eff48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29957641b245e9" /><Relationship Type="http://schemas.openxmlformats.org/officeDocument/2006/relationships/notesMaster" Target="/ppt/notesMasters/notesMaster1.xml" Id="R7c083b5582c045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0215bf4d6f49e9" /><Relationship Type="http://schemas.openxmlformats.org/officeDocument/2006/relationships/notesMaster" Target="/ppt/notesMasters/notesMaster1.xml" Id="R6560c5a46f0a4b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5b50ec389f47dd" /><Relationship Type="http://schemas.openxmlformats.org/officeDocument/2006/relationships/notesMaster" Target="/ppt/notesMasters/notesMaster1.xml" Id="Rb7f0fccf04924b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123e1b04b04a4c" /><Relationship Type="http://schemas.openxmlformats.org/officeDocument/2006/relationships/notesMaster" Target="/ppt/notesMasters/notesMaster1.xml" Id="R3f138e11ab154a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0ca4d199004acb" /><Relationship Type="http://schemas.openxmlformats.org/officeDocument/2006/relationships/notesMaster" Target="/ppt/notesMasters/notesMaster1.xml" Id="Rce2d4275e35c42e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8d8ff23fdd4477" /><Relationship Type="http://schemas.openxmlformats.org/officeDocument/2006/relationships/notesMaster" Target="/ppt/notesMasters/notesMaster1.xml" Id="Rf2b7cbe3dc0946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课堂类型：对抗实验</a:t>
            </a:r>
          </a:p>
          <a:p xmlns:a="http://schemas.openxmlformats.org/drawingml/2006/main">
            <a:r>
              <a:t>本页判断：先设计失败，再编写 Eval</a:t>
            </a:r>
            <a:endParaRPr/>
          </a:p>
          <a:p xmlns:a="http://schemas.openxmlformats.org/drawingml/2006/main">
            <a:r>
              <a:t>课程主线：先准备部分预占、重复入库、越权收货三个错误实现，再写能稳定杀死它们的 Eval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unittest discover -s tests -v</a:t>
            </a:r>
          </a:p>
          <a:p xmlns:a="http://schemas.openxmlformats.org/drawingml/2006/main">
            <a:r>
              <a:t>边界：测试数量不能抵消核心不变量回归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D:\work\CodexFDE\docs\courses\L05-先设计失败再编写Eval.md</a:t>
            </a:r>
          </a:p>
          <a:p xmlns:a="http://schemas.openxmlformats.org/drawingml/2006/main">
            <a:r>
              <a:t>- D:\work\CodexFDE\course\tasks\L05-失败优先Eval.md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课堂类型：对抗实验</a:t>
            </a:r>
          </a:p>
          <a:p xmlns:a="http://schemas.openxmlformats.org/drawingml/2006/main">
            <a:r>
              <a:t>本页判断：只测正常路径，正确实现和错误实现会一起全绿</a:t>
            </a:r>
            <a:endParaRPr/>
          </a:p>
          <a:p xmlns:a="http://schemas.openxmlformats.org/drawingml/2006/main">
            <a:r>
              <a:t>课程主线：先准备部分预占、重复入库、越权收货三个错误实现，再写能稳定杀死它们的 Eval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unittest discover -s tests -v</a:t>
            </a:r>
          </a:p>
          <a:p xmlns:a="http://schemas.openxmlformats.org/drawingml/2006/main">
            <a:r>
              <a:t>边界：测试数量不能抵消核心不变量回归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D:\work\CodexFDE\docs\courses\L05-先设计失败再编写Eval.md</a:t>
            </a:r>
          </a:p>
          <a:p xmlns:a="http://schemas.openxmlformats.org/drawingml/2006/main">
            <a:r>
              <a:t>- D:\work\CodexFDE\course\tasks\L05-失败优先Eval.md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课堂类型：对抗实验</a:t>
            </a:r>
          </a:p>
          <a:p xmlns:a="http://schemas.openxmlformats.org/drawingml/2006/main">
            <a:r>
              <a:t>本页判断：先签字，再看方法</a:t>
            </a:r>
            <a:endParaRPr/>
          </a:p>
          <a:p xmlns:a="http://schemas.openxmlformats.org/drawingml/2006/main">
            <a:r>
              <a:t>课程主线：先准备部分预占、重复入库、越权收货三个错误实现，再写能稳定杀死它们的 Eval</a:t>
            </a:r>
          </a:p>
          <a:p xmlns:a="http://schemas.openxmlformats.org/drawingml/2006/main">
            <a:r>
              <a:t>讲授动作：读完三项裁决问题后停止翻页，不显示方法答案。</a:t>
            </a:r>
          </a:p>
          <a:p xmlns:a="http://schemas.openxmlformats.org/drawingml/2006/main">
            <a:r>
              <a:t>停顿点：收齐“选择 + 依据 + 最大风险”的第一次签字后再继续。</a:t>
            </a:r>
          </a:p>
          <a:p xmlns:a="http://schemas.openxmlformats.org/drawingml/2006/main">
            <a:r>
              <a:t>交接物：第一次签字。</a:t>
            </a:r>
          </a:p>
          <a:p xmlns:a="http://schemas.openxmlformats.org/drawingml/2006/main">
            <a:r>
              <a:t>验证入口：python -X utf8 -m unittest discover -s tests -v</a:t>
            </a:r>
          </a:p>
          <a:p xmlns:a="http://schemas.openxmlformats.org/drawingml/2006/main">
            <a:r>
              <a:t>边界：测试数量不能抵消核心不变量回归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D:\work\CodexFDE\docs\courses\L05-先设计失败再编写Eval.md</a:t>
            </a:r>
          </a:p>
          <a:p xmlns:a="http://schemas.openxmlformats.org/drawingml/2006/main">
            <a:r>
              <a:t>- D:\work\CodexFDE\course\tasks\L05-失败优先Eval.md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课堂类型：对抗实验</a:t>
            </a:r>
          </a:p>
          <a:p xmlns:a="http://schemas.openxmlformats.org/drawingml/2006/main">
            <a:r>
              <a:t>本页判断：Eval 位于证据链，不是代码覆盖率的装饰</a:t>
            </a:r>
            <a:endParaRPr/>
          </a:p>
          <a:p xmlns:a="http://schemas.openxmlformats.org/drawingml/2006/main">
            <a:r>
              <a:t>课程主线：先准备部分预占、重复入库、越权收货三个错误实现，再写能稳定杀死它们的 Eval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unittest discover -s tests -v</a:t>
            </a:r>
          </a:p>
          <a:p xmlns:a="http://schemas.openxmlformats.org/drawingml/2006/main">
            <a:r>
              <a:t>边界：测试数量不能抵消核心不变量回归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D:\work\CodexFDE\docs\courses\L05-先设计失败再编写Eval.md</a:t>
            </a:r>
          </a:p>
          <a:p xmlns:a="http://schemas.openxmlformats.org/drawingml/2006/main">
            <a:r>
              <a:t>- D:\work\CodexFDE\course\tasks\L05-失败优先Eval.md</a:t>
            </a:r>
          </a:p>
          <a:p xmlns:a="http://schemas.openxmlformats.org/drawingml/2006/main">
            <a:r>
              <a:t>- D:\work\CodexFDE\docs\courses\assets\web-24-delivery-blocking-eval.png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课堂类型：对抗实验</a:t>
            </a:r>
          </a:p>
          <a:p xmlns:a="http://schemas.openxmlformats.org/drawingml/2006/main">
            <a:r>
              <a:t>本页判断：红灯必须先出现，修复才有可比较的前后证据</a:t>
            </a:r>
            <a:endParaRPr/>
          </a:p>
          <a:p xmlns:a="http://schemas.openxmlformats.org/drawingml/2006/main">
            <a:r>
              <a:t>课程主线：先准备部分预占、重复入库、越权收货三个错误实现，再写能稳定杀死它们的 Eval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unittest discover -s tests -v</a:t>
            </a:r>
          </a:p>
          <a:p xmlns:a="http://schemas.openxmlformats.org/drawingml/2006/main">
            <a:r>
              <a:t>边界：测试数量不能抵消核心不变量回归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D:\work\CodexFDE\docs\courses\L05-先设计失败再编写Eval.md</a:t>
            </a:r>
          </a:p>
          <a:p xmlns:a="http://schemas.openxmlformats.org/drawingml/2006/main">
            <a:r>
              <a:t>- D:\work\CodexFDE\course\tasks\L05-失败优先Eval.md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课堂类型：对抗实验</a:t>
            </a:r>
          </a:p>
          <a:p xmlns:a="http://schemas.openxmlformats.org/drawingml/2006/main">
            <a:r>
              <a:t>本页判断：从事故倒推反例，再写断言</a:t>
            </a:r>
            <a:endParaRPr/>
          </a:p>
          <a:p xmlns:a="http://schemas.openxmlformats.org/drawingml/2006/main">
            <a:r>
              <a:t>课程主线：先准备部分预占、重复入库、越权收货三个错误实现，再写能稳定杀死它们的 Eval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unittest discover -s tests -v</a:t>
            </a:r>
          </a:p>
          <a:p xmlns:a="http://schemas.openxmlformats.org/drawingml/2006/main">
            <a:r>
              <a:t>边界：测试数量不能抵消核心不变量回归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D:\work\CodexFDE\docs\courses\L05-先设计失败再编写Eval.md</a:t>
            </a:r>
          </a:p>
          <a:p xmlns:a="http://schemas.openxmlformats.org/drawingml/2006/main">
            <a:r>
              <a:t>- D:\work\CodexFDE\course\tasks\L05-失败优先Eval.md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课堂类型：对抗实验</a:t>
            </a:r>
          </a:p>
          <a:p xmlns:a="http://schemas.openxmlformats.org/drawingml/2006/main">
            <a:r>
              <a:t>本页判断：库存页让 on_hand、reserved、available 同时接受审讯</a:t>
            </a:r>
            <a:endParaRPr/>
          </a:p>
          <a:p xmlns:a="http://schemas.openxmlformats.org/drawingml/2006/main">
            <a:r>
              <a:t>课程主线：先准备部分预占、重复入库、越权收货三个错误实现，再写能稳定杀死它们的 Eval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unittest discover -s tests -v</a:t>
            </a:r>
          </a:p>
          <a:p xmlns:a="http://schemas.openxmlformats.org/drawingml/2006/main">
            <a:r>
              <a:t>边界：测试数量不能抵消核心不变量回归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D:\work\CodexFDE\docs\courses\L05-先设计失败再编写Eval.md</a:t>
            </a:r>
          </a:p>
          <a:p xmlns:a="http://schemas.openxmlformats.org/drawingml/2006/main">
            <a:r>
              <a:t>- D:\work\CodexFDE\course\tasks\L05-失败优先Eval.md</a:t>
            </a:r>
          </a:p>
          <a:p xmlns:a="http://schemas.openxmlformats.org/drawingml/2006/main">
            <a:r>
              <a:t>- D:\work\CodexFDE\docs\courses\assets\fde-evidence-chain.png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课堂类型：对抗实验</a:t>
            </a:r>
          </a:p>
          <a:p xmlns:a="http://schemas.openxmlformats.org/drawingml/2006/main">
            <a:r>
              <a:t>本页判断：每个不变量都要有正常、失败与失败后不变三联断言</a:t>
            </a:r>
            <a:endParaRPr/>
          </a:p>
          <a:p xmlns:a="http://schemas.openxmlformats.org/drawingml/2006/main">
            <a:r>
              <a:t>课程主线：先准备部分预占、重复入库、越权收货三个错误实现，再写能稳定杀死它们的 Eval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unittest discover -s tests -v</a:t>
            </a:r>
          </a:p>
          <a:p xmlns:a="http://schemas.openxmlformats.org/drawingml/2006/main">
            <a:r>
              <a:t>边界：测试数量不能抵消核心不变量回归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D:\work\CodexFDE\docs\courses\L05-先设计失败再编写Eval.md</a:t>
            </a:r>
          </a:p>
          <a:p xmlns:a="http://schemas.openxmlformats.org/drawingml/2006/main">
            <a:r>
              <a:t>- D:\work\CodexFDE\course\tasks\L05-失败优先Eval.md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课堂类型：对抗实验</a:t>
            </a:r>
          </a:p>
          <a:p xmlns:a="http://schemas.openxmlformats.org/drawingml/2006/main">
            <a:r>
              <a:t>本页判断：Blocking Eval 要指出 expected、actual 与直接证据</a:t>
            </a:r>
            <a:endParaRPr/>
          </a:p>
          <a:p xmlns:a="http://schemas.openxmlformats.org/drawingml/2006/main">
            <a:r>
              <a:t>课程主线：先准备部分预占、重复入库、越权收货三个错误实现，再写能稳定杀死它们的 Eval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unittest discover -s tests -v</a:t>
            </a:r>
          </a:p>
          <a:p xmlns:a="http://schemas.openxmlformats.org/drawingml/2006/main">
            <a:r>
              <a:t>边界：测试数量不能抵消核心不变量回归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D:\work\CodexFDE\docs\courses\L05-先设计失败再编写Eval.md</a:t>
            </a:r>
          </a:p>
          <a:p xmlns:a="http://schemas.openxmlformats.org/drawingml/2006/main">
            <a:r>
              <a:t>- D:\work\CodexFDE\course\tasks\L05-失败优先Eval.md</a:t>
            </a:r>
          </a:p>
          <a:p xmlns:a="http://schemas.openxmlformats.org/drawingml/2006/main">
            <a:r>
              <a:t>- D:\work\CodexFDE\docs\courses\assets\web-16-inventory-lots.png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课堂类型：对抗实验</a:t>
            </a:r>
          </a:p>
          <a:p xmlns:a="http://schemas.openxmlformats.org/drawingml/2006/main">
            <a:r>
              <a:t>本页判断：多行订单比单行订单更能暴露原子性缺陷</a:t>
            </a:r>
            <a:endParaRPr/>
          </a:p>
          <a:p xmlns:a="http://schemas.openxmlformats.org/drawingml/2006/main">
            <a:r>
              <a:t>课程主线：先准备部分预占、重复入库、越权收货三个错误实现，再写能稳定杀死它们的 Eval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unittest discover -s tests -v</a:t>
            </a:r>
          </a:p>
          <a:p xmlns:a="http://schemas.openxmlformats.org/drawingml/2006/main">
            <a:r>
              <a:t>边界：测试数量不能抵消核心不变量回归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D:\work\CodexFDE\docs\courses\L05-先设计失败再编写Eval.md</a:t>
            </a:r>
          </a:p>
          <a:p xmlns:a="http://schemas.openxmlformats.org/drawingml/2006/main">
            <a:r>
              <a:t>- D:\work\CodexFDE\course\tasks\L05-失败优先Eval.md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课堂类型：对抗实验</a:t>
            </a:r>
          </a:p>
          <a:p xmlns:a="http://schemas.openxmlformats.org/drawingml/2006/main">
            <a:r>
              <a:t>本页判断：先红后绿记录本身就是可复用反例资产</a:t>
            </a:r>
            <a:endParaRPr/>
          </a:p>
          <a:p xmlns:a="http://schemas.openxmlformats.org/drawingml/2006/main">
            <a:r>
              <a:t>课程主线：先准备部分预占、重复入库、越权收货三个错误实现，再写能稳定杀死它们的 Eval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unittest discover -s tests -v</a:t>
            </a:r>
          </a:p>
          <a:p xmlns:a="http://schemas.openxmlformats.org/drawingml/2006/main">
            <a:r>
              <a:t>边界：测试数量不能抵消核心不变量回归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D:\work\CodexFDE\docs\courses\L05-先设计失败再编写Eval.md</a:t>
            </a:r>
          </a:p>
          <a:p xmlns:a="http://schemas.openxmlformats.org/drawingml/2006/main">
            <a:r>
              <a:t>- D:\work\CodexFDE\course\tasks\L05-失败优先Eval.md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课堂类型：对抗实验</a:t>
            </a:r>
          </a:p>
          <a:p xmlns:a="http://schemas.openxmlformats.org/drawingml/2006/main">
            <a:r>
              <a:t>本页判断：稳定失败要排除环境噪声和偶发时序</a:t>
            </a:r>
            <a:endParaRPr/>
          </a:p>
          <a:p xmlns:a="http://schemas.openxmlformats.org/drawingml/2006/main">
            <a:r>
              <a:t>课程主线：先准备部分预占、重复入库、越权收货三个错误实现，再写能稳定杀死它们的 Eval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unittest discover -s tests -v</a:t>
            </a:r>
          </a:p>
          <a:p xmlns:a="http://schemas.openxmlformats.org/drawingml/2006/main">
            <a:r>
              <a:t>边界：测试数量不能抵消核心不变量回归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D:\work\CodexFDE\docs\courses\L05-先设计失败再编写Eval.md</a:t>
            </a:r>
          </a:p>
          <a:p xmlns:a="http://schemas.openxmlformats.org/drawingml/2006/main">
            <a:r>
              <a:t>- D:\work\CodexFDE\course\tasks\L05-失败优先Eval.md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课堂类型：对抗实验</a:t>
            </a:r>
          </a:p>
          <a:p xmlns:a="http://schemas.openxmlformats.org/drawingml/2006/main">
            <a:r>
              <a:t>本页判断：十七盏灯各自发光，仍然不能决定是否放行</a:t>
            </a:r>
            <a:endParaRPr/>
          </a:p>
          <a:p xmlns:a="http://schemas.openxmlformats.org/drawingml/2006/main">
            <a:r>
              <a:t>课程主线：先准备部分预占、重复入库、越权收货三个错误实现，再写能稳定杀死它们的 Eval</a:t>
            </a:r>
          </a:p>
          <a:p xmlns:a="http://schemas.openxmlformats.org/drawingml/2006/main">
            <a:r>
              <a:t>讲授动作：切换到 VS Code，运行本讲任务；不要在 PPT 中代替学生执行。</a:t>
            </a:r>
          </a:p>
          <a:p xmlns:a="http://schemas.openxmlformats.org/drawingml/2006/main">
            <a:r>
              <a:t>停顿点：取得新的运行证据后，完成第二次签字。</a:t>
            </a:r>
          </a:p>
          <a:p xmlns:a="http://schemas.openxmlformats.org/drawingml/2006/main">
            <a:r>
              <a:t>交接物：VS Code 任务与第二次签字。</a:t>
            </a:r>
          </a:p>
          <a:p xmlns:a="http://schemas.openxmlformats.org/drawingml/2006/main">
            <a:r>
              <a:t>验证入口：python -X utf8 -m unittest discover -s tests -v</a:t>
            </a:r>
          </a:p>
          <a:p xmlns:a="http://schemas.openxmlformats.org/drawingml/2006/main">
            <a:r>
              <a:t>边界：测试数量不能抵消核心不变量回归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D:\work\CodexFDE\docs\courses\L05-先设计失败再编写Eval.md</a:t>
            </a:r>
          </a:p>
          <a:p xmlns:a="http://schemas.openxmlformats.org/drawingml/2006/main">
            <a:r>
              <a:t>- D:\work\CodexFDE\course\tasks\L05-失败优先Eval.md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96368829cb4bf7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3d610db4c74125" /><Relationship Type="http://schemas.openxmlformats.org/officeDocument/2006/relationships/slideLayout" Target="/ppt/slideLayouts/slideLayout1.xml" Id="Rc4ef8547571747b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ef8547571747b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83abc61ff45c2" /><Relationship Type="http://schemas.openxmlformats.org/officeDocument/2006/relationships/notesSlide" Target="/ppt/notesSlides/notesSlide1.xml" Id="R9f5ef77908ae47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862474e034f7e" /><Relationship Type="http://schemas.openxmlformats.org/officeDocument/2006/relationships/notesSlide" Target="/ppt/notesSlides/notesSlide2.xml" Id="Rc1bc80d3830d4b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5c0cb0d924fd9" /><Relationship Type="http://schemas.openxmlformats.org/officeDocument/2006/relationships/notesSlide" Target="/ppt/notesSlides/notesSlide3.xml" Id="Rd96094e0b27b46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ab9927f8f44b3" /><Relationship Type="http://schemas.openxmlformats.org/officeDocument/2006/relationships/image" Target="/ppt/media/image.png" Id="R072c493e56484cf5" /><Relationship Type="http://schemas.openxmlformats.org/officeDocument/2006/relationships/image" Target="/ppt/media/image.jpeg" Id="R68911b7469f54f0e" /><Relationship Type="http://schemas.openxmlformats.org/officeDocument/2006/relationships/notesSlide" Target="/ppt/notesSlides/notesSlide4.xml" Id="R3dc716fd122548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3d35744fc4fdf" /><Relationship Type="http://schemas.openxmlformats.org/officeDocument/2006/relationships/notesSlide" Target="/ppt/notesSlides/notesSlide5.xml" Id="R97474e1e2fa948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336088b7c4165" /><Relationship Type="http://schemas.openxmlformats.org/officeDocument/2006/relationships/notesSlide" Target="/ppt/notesSlides/notesSlide6.xml" Id="R584379347be549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5d128feb745c2" /><Relationship Type="http://schemas.openxmlformats.org/officeDocument/2006/relationships/image" Target="/ppt/media/image.png" Id="R5e41ebb399884fe7" /><Relationship Type="http://schemas.openxmlformats.org/officeDocument/2006/relationships/image" Target="/ppt/media/image2.png" Id="R5177ae20d0914545" /><Relationship Type="http://schemas.openxmlformats.org/officeDocument/2006/relationships/notesSlide" Target="/ppt/notesSlides/notesSlide7.xml" Id="Rec82ce00ecc44c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42d8de5ef400a" /><Relationship Type="http://schemas.openxmlformats.org/officeDocument/2006/relationships/notesSlide" Target="/ppt/notesSlides/notesSlide8.xml" Id="R7e4dc68d541d48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392c8acc94f96" /><Relationship Type="http://schemas.openxmlformats.org/officeDocument/2006/relationships/image" Target="/ppt/media/image.png" Id="R968cade959ac4ea2" /><Relationship Type="http://schemas.openxmlformats.org/officeDocument/2006/relationships/image" Target="/ppt/media/image2.jpeg" Id="Rbad460c04d014347" /><Relationship Type="http://schemas.openxmlformats.org/officeDocument/2006/relationships/notesSlide" Target="/ppt/notesSlides/notesSlide9.xml" Id="R50a8a3e4648747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e7e33f7db4970" /><Relationship Type="http://schemas.openxmlformats.org/officeDocument/2006/relationships/notesSlide" Target="/ppt/notesSlides/notesSlide10.xml" Id="R28dea31af71a46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d920e16c943fb" /><Relationship Type="http://schemas.openxmlformats.org/officeDocument/2006/relationships/notesSlide" Target="/ppt/notesSlides/notesSlide11.xml" Id="R78de8c51b1bb46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a80b65ddc44af" /><Relationship Type="http://schemas.openxmlformats.org/officeDocument/2006/relationships/notesSlide" Target="/ppt/notesSlides/notesSlide12.xml" Id="R6dc9854c26e74be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9523a55ea42f1" /><Relationship Type="http://schemas.openxmlformats.org/officeDocument/2006/relationships/notesSlide" Target="/ppt/notesSlides/notesSlide13.xml" Id="R24b898cf32164c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A3BF46-DE9F-44E8-86F6-0625F12D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69365"/>
            <a:ext cx="10515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8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L05 · Codex + FDE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61E2DB-4E23-49DF-ADA0-2E93FC64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5365"/>
            <a:ext cx="1051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 b="1">
                <a:solidFill>
                  <a:srgbClr val="1764FB"/>
                </a:solidFill>
                <a:latin typeface="Noto Sans CJK SC"/>
                <a:ea typeface="Noto Sans CJK SC"/>
                <a:cs typeface="Noto Sans CJK SC"/>
              </a:rPr>
              <a:t>先设计失败，再编写 Eval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0BD9616-3834-4C1C-8C4A-37C595E9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23" y="319405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主线：先准备部分预占、重复入库、越权收货三个错误实现，再写能稳定杀死它们的 Eval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0F92928-8A4C-4E7B-A82D-B08B2375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" y="512064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8A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CAC116D-833A-4046-AEE4-1BB700D3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FlowERP × 自进化研发交付工作台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9AD6693-1490-42E5-AD4B-61A912D6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44376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9D1B0E-CB94-4560-BD1A-3BE2BBEA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L05 · 对抗实验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2D3B0E4-ADF9-4D52-8239-5E2D6B31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52513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只测正常路径，正确实现和错误实现会一起全绿</a:t>
            </a:r>
            <a:endParaRPr sz="3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C3F25F3-51A3-4E0D-9235-2B25ECAA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裁决标准：每条业务不变量至少有正常路径、失败路径和失败后不变状态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A44815A-8F3D-400A-B0B1-75B9A5CE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02</a:t>
            </a:r>
            <a:endParaRPr sz="1100"/>
          </a:p>
        </p:txBody>
      </p:sp>
      <p:sp>
        <p:nvSpPr>
          <p:cNvPr id="23" name="箭头: 右 22">
            <a:extLst xmlns:a="http://schemas.openxmlformats.org/drawingml/2006/main">
              <a:ext uri="{FF2B5EF4-FFF2-40B4-BE49-F238E27FC236}">
                <a16:creationId xmlns:a16="http://schemas.microsoft.com/office/drawing/2014/main" id="{C6263359-F0B5-4A4C-84FA-1536691C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4" name="箭头: 右 23">
            <a:extLst xmlns:a="http://schemas.openxmlformats.org/drawingml/2006/main">
              <a:ext uri="{FF2B5EF4-FFF2-40B4-BE49-F238E27FC236}">
                <a16:creationId xmlns:a16="http://schemas.microsoft.com/office/drawing/2014/main" id="{984F068E-90FC-4E71-857C-CB2A2EFA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5" name="箭头: 右 24">
            <a:extLst xmlns:a="http://schemas.openxmlformats.org/drawingml/2006/main">
              <a:ext uri="{FF2B5EF4-FFF2-40B4-BE49-F238E27FC236}">
                <a16:creationId xmlns:a16="http://schemas.microsoft.com/office/drawing/2014/main" id="{0CBAAD27-E316-4088-946B-0F3BF1D8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6" name="pain-1">
            <a:extLst xmlns:a="http://schemas.openxmlformats.org/drawingml/2006/main">
              <a:ext uri="{FF2B5EF4-FFF2-40B4-BE49-F238E27FC236}">
                <a16:creationId xmlns:a16="http://schemas.microsoft.com/office/drawing/2014/main" id="{F9E754D8-AC2E-4F25-8880-A918B448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FF8A3D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BCF7E83-5169-490A-9E59-36F94F67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AF489B53-1684-4027-9FE9-7A3251BD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只看表面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09235D8-F9C8-4047-B539-BD44F763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只测正常路径，错误实现和正确实现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同时全绿</a:t>
            </a:r>
          </a:p>
        </p:txBody>
      </p:sp>
      <p:sp>
        <p:nvSpPr>
          <p:cNvPr id="30" name="pain-2">
            <a:extLst xmlns:a="http://schemas.openxmlformats.org/drawingml/2006/main">
              <a:ext uri="{FF2B5EF4-FFF2-40B4-BE49-F238E27FC236}">
                <a16:creationId xmlns:a16="http://schemas.microsoft.com/office/drawing/2014/main" id="{A6C9E5F9-D5F8-4F8D-BD0B-A4580A98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F0655A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9E2B7C0-C852-490D-8D73-E8846A87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84A2229-FB98-44EE-B972-0384208B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只看输出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183F1E7-A7AC-4F53-B770-0E5FF7FE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Agent 说完成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不等于权威状态正确</a:t>
            </a:r>
          </a:p>
        </p:txBody>
      </p:sp>
      <p:sp>
        <p:nvSpPr>
          <p:cNvPr id="34" name="pain-3">
            <a:extLst xmlns:a="http://schemas.openxmlformats.org/drawingml/2006/main">
              <a:ext uri="{FF2B5EF4-FFF2-40B4-BE49-F238E27FC236}">
                <a16:creationId xmlns:a16="http://schemas.microsoft.com/office/drawing/2014/main" id="{CF53BD9D-4D27-47D4-9975-0491B9CC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E5B567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80412876-CBAB-4A9D-B4B1-C96CAA59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E99F129-E46E-4DA9-9A6F-0E0ED58C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只看历史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8442465A-8975-40E0-8D11-AE3895DF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相似经验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不等于当前合同</a:t>
            </a:r>
          </a:p>
        </p:txBody>
      </p:sp>
      <p:sp>
        <p:nvSpPr>
          <p:cNvPr id="38" name="pain-4">
            <a:extLst xmlns:a="http://schemas.openxmlformats.org/drawingml/2006/main">
              <a:ext uri="{FF2B5EF4-FFF2-40B4-BE49-F238E27FC236}">
                <a16:creationId xmlns:a16="http://schemas.microsoft.com/office/drawing/2014/main" id="{7735C86B-1096-4801-9F5E-915E2B28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3DD9A4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5233D3F7-F238-4E84-8D0B-907A9D19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996AADF-86A0-405F-A2FF-15D53F82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真正标准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09E79C9B-DC2D-40CD-A6D2-6F129B6E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结果、轨迹、责任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三者同时成立</a:t>
            </a:r>
          </a:p>
        </p:txBody>
      </p:sp>
      <p:sp>
        <p:nvSpPr>
          <p:cNvPr id="42" name="箭头: 下 41">
            <a:extLst xmlns:a="http://schemas.openxmlformats.org/drawingml/2006/main">
              <a:ext uri="{FF2B5EF4-FFF2-40B4-BE49-F238E27FC236}">
                <a16:creationId xmlns:a16="http://schemas.microsoft.com/office/drawing/2014/main" id="{25FE7694-AA56-4E8F-826E-0CD14D66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76725"/>
            <a:ext cx="32385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0655A"/>
          </a:solidFill>
          <a:ln xmlns:a="http://schemas.openxmlformats.org/drawingml/2006/main" w="0">
            <a:solidFill>
              <a:srgbClr val="F0655A"/>
            </a:solidFill>
            <a:prstDash val="solid"/>
          </a:ln>
        </p:spPr>
      </p:sp>
      <p:sp>
        <p:nvSpPr>
          <p:cNvPr id="43" name="pain-result">
            <a:extLst xmlns:a="http://schemas.openxmlformats.org/drawingml/2006/main">
              <a:ext uri="{FF2B5EF4-FFF2-40B4-BE49-F238E27FC236}">
                <a16:creationId xmlns:a16="http://schemas.microsoft.com/office/drawing/2014/main" id="{4361132F-8B6B-4CBE-BAF3-48C2F3B7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86300"/>
            <a:ext cx="7391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C2430"/>
          </a:solidFill>
          <a:ln xmlns:a="http://schemas.openxmlformats.org/drawingml/2006/main" w="11430">
            <a:solidFill>
              <a:srgbClr val="F0655A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0DE5C3B8-17BA-45E1-BDA5-26E53DFF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815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rPr>
              <a:t>本页只解决一个冲突：只测正常路径，错误实现和正确实现同时全绿</a:t>
            </a:r>
          </a:p>
        </p:txBody>
      </p:sp>
    </p:spTree>
    <p:extLst>
      <p:ext uri="{BB962C8B-B14F-4D97-AF65-F5344CB8AC3E}">
        <p14:creationId xmlns:p14="http://schemas.microsoft.com/office/powerpoint/2010/main" val="11758373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0BAFEFC-288E-470B-8D42-682E6C1B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L05 · 先下注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F95AA5E-B887-4B71-8F23-10D5D8E3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03</a:t>
            </a:r>
            <a:endParaRPr sz="1100"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FB877EC-8DF2-4AAF-B44A-5C03646A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81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先签字，再看方法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F92C034C-3047-41F7-B4CC-67A042E9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40755DF-44D4-43F4-B156-492558B4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F336BB3-43E0-4268-BC29-3B04757B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全绿为何仍可能重复入账？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0BBA49C-1994-4151-AC29-0B918E4C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写下当前判断与证据需求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6DF288C2-BC0D-4CE9-8CAE-FA8A195F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56C1981-B14E-4223-9BC5-36D756A7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4E3B4B4-8B14-4051-8BC2-880EE3DE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最小幂等反例怎么写？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FD3FCF4-352D-4B0B-807F-6D062162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写下反证条件与不变状态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674E1E49-229D-42E7-B1E5-D3405020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1DCDA55-7AC6-4A68-B946-C389FC6B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ECB7241-6104-49F3-8C6F-2D36446E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失败消息要包含哪些事实？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0AFB9C8-1791-4744-8449-8744AAAC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写下最大风险与责任边界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173ED5A-404E-4AD3-87F6-1A56B7CE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62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rPr>
              <a:t>第一次签字｜逐题提交：判断 + 依据 + 最大风险</a:t>
            </a:r>
          </a:p>
        </p:txBody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17E870C8-D1FD-41C5-8FE1-63E25E2D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061C48A-7105-42B2-B3AF-CDB167C7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3870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课堂收件物：先红后绿记录、失败签名与反例资产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1F0BDAD-7258-4A50-9F8F-63C9E62E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19700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先独立签字；提交后再进入 Markdown 查证</a:t>
            </a:r>
          </a:p>
        </p:txBody>
      </p:sp>
    </p:spTree>
    <p:extLst>
      <p:ext uri="{BB962C8B-B14F-4D97-AF65-F5344CB8AC3E}">
        <p14:creationId xmlns:p14="http://schemas.microsoft.com/office/powerpoint/2010/main" val="20692286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L05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Eval 位于证据链，不是代码覆盖率的装饰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04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研发工作台展示阻断级 Eval 的真实裁决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c493e56484c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11b7469f54f0e"/>
          <a:stretch xmlns:a="http://schemas.openxmlformats.org/drawingml/2006/main"/>
        </p:blipFill>
        <p:spPr>
          <a:xfrm xmlns:a="http://schemas.openxmlformats.org/drawingml/2006/main">
            <a:off x="1911574" y="1897052"/>
            <a:ext cx="8489122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F41BC08-5D61-40A1-98D1-F2600CF4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L05 · 阻断级验收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5A0A4F-C656-49BB-94A8-2509CE83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红灯必须先出现，修复才有可比较的前后证据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A4CDEAD-63AB-4B62-90D8-B86CB042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91" y="1488948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同一条规则必须用红灯和绿灯同时证明：每条业务不变量至少有正常路径、失败路径和失败后不变状态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1B4CF20-E93B-4121-B8EA-EA8C5B4D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05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12C8D89-EC20-4183-8D75-1C2B6437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" y="20764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QUALITY GATE</a:t>
            </a:r>
          </a:p>
        </p:txBody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4498A07D-346D-4481-8EE1-DAE381D9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" y="2400300"/>
            <a:ext cx="4572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20A0E"/>
          </a:solidFill>
          <a:ln xmlns:a="http://schemas.openxmlformats.org/drawingml/2006/main" w="11430">
            <a:solidFill>
              <a:srgbClr val="FF5A6B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A25E112-6698-4315-A4DC-00E73E7A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25717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6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FAIL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CF22F415-E353-4516-AC3A-7232DD59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3337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已知错误实现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76F03DD-48AB-4517-A3BD-E10A6899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714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只测正常路径，错误实现和正确实现同时
全绿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DE7EA0EA-F663-44DB-AD3E-A36D7045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2291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失败后不变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026545D-3980-427A-B773-1996CB05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6101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测试数量不能抵消核心不变量回归</a:t>
            </a:r>
          </a:p>
        </p:txBody>
      </p:sp>
      <p:sp>
        <p:nvSpPr>
          <p:cNvPr id="38" name="箭头: 右 37">
            <a:extLst xmlns:a="http://schemas.openxmlformats.org/drawingml/2006/main">
              <a:ext uri="{FF2B5EF4-FFF2-40B4-BE49-F238E27FC236}">
                <a16:creationId xmlns:a16="http://schemas.microsoft.com/office/drawing/2014/main" id="{F88547CD-01F1-4CB4-AA67-85DA3A3E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820" y="3543300"/>
            <a:ext cx="1000125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888E2C37-60B0-4ABF-A70C-F7A9F9B4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070" y="2400300"/>
            <a:ext cx="4572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A229947A-54AF-421C-BC69-5FDB6786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25717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6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PASS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59D1BD19-CD60-4C20-9816-171A88A8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33337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独立 Harness 报告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5000D149-0EFA-41F6-872D-5EE1C3EA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37147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462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缺陷版本稳定红，修复版本用同一命令稳定绿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CA92560-14DC-4599-928C-439B3798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422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具名验收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6305971-15D4-4EF4-A044-B87047EF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46101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先红后绿记录、失败签名与反例资产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EF12E0E4-F414-47A0-9044-6B739EE1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6570" y="54292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只有 PASS + 证据 + 责任人才能进入下一状态</a:t>
            </a:r>
          </a:p>
        </p:txBody>
      </p:sp>
    </p:spTree>
    <p:extLst>
      <p:ext uri="{BB962C8B-B14F-4D97-AF65-F5344CB8AC3E}">
        <p14:creationId xmlns:p14="http://schemas.microsoft.com/office/powerpoint/2010/main" val="6522579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279DD7-4012-4AAD-9350-4B9DF66E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L05 · 对抗实验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FDA6789-3263-4CD1-BBB9-5B355C09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04900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760"/>
              </a:lnSpc>
              <a:buNone/>
            </a:pPr>
            <a:r>
              <a:rPr sz="24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从事故倒推反例，再写断言</a:t>
            </a:r>
            <a:endParaRPr sz="2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58F80C5-E0E5-4E4F-8A77-E966B7AF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06</a:t>
            </a:r>
            <a:endParaRPr sz="1100"/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23AE13E-0C34-4F77-A834-D02AFA9C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F7622A7-9DED-46EE-B9C5-79F7B924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240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865B26B-CF6E-4B97-9F2F-057BE24D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240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从事故倒推风险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BA98D72-7E14-4024-88F1-8D8766C3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9240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锁定：好的 Eval 不是覆盖代码行，而是稳定杀死一个昂贵错误决策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50AD5A09-12D1-474D-8571-EF90ED28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240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CONTRACT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FE36CBC-1257-46BC-B240-85722D92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8B15552-094E-4308-BC4B-AFD18A64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98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9A1CDE6F-F002-4577-A917-28C84C17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098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写错误实现反例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92C8FBBA-F9C5-4673-8B72-E20B856E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098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读取 tests/test_inventory.py 与权威状态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F8572A7-0BAC-4E33-98EC-9FA8F84F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09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FACT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72266A1-E2EA-47C1-84F9-CD20FA4B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98E5835E-4995-47BE-AF99-796F9754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956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70363CF-57E5-4BCC-9D13-8279387A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956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固定 expected/actual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EAD5D10-C4BD-4016-A71D-8D7C7773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956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执行 python -X utf8 -m unittest discover -s tests -v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1314E408-CCF2-42B7-A19E-B81DE960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956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ACTION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AF0D9B0-29A4-4404-8885-B42CF4E4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431A35E3-CE60-4232-BC44-D89767BD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814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BD6"/>
          </a:solidFill>
          <a:ln xmlns:a="http://schemas.openxmlformats.org/drawingml/2006/main" w="0">
            <a:solidFill>
              <a:srgbClr val="FF2BD6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CD02E03B-FF14-4C9D-A5A9-0F3B5A88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814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验证失败后不变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62B3092-75B3-4F44-83FD-92E96B56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981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67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用 缺陷版本稳定红，修复版本用同一命令稳定绿 裁决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45D9CA7E-187F-4B93-9616-6CC9CACF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814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PROOF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A0E0F08F-3B89-4179-BEC7-E0FAD758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05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01A990C4-1CF6-416B-B2E2-002B99AA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672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B8555B56-A303-4FDF-AC12-C6AC9D4F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672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同命令红转绿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2516F074-5D0C-44DB-91F4-9715B748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672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交付 先红后绿记录、失败签名与反例资产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C7E40B82-9D05-409E-B8B2-5212F6C1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672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HANDOFF</a:t>
            </a:r>
          </a:p>
        </p:txBody>
      </p:sp>
      <p:sp>
        <p:nvSpPr>
          <p:cNvPr id="46" name="矩形: 圆角 45">
            <a:extLst xmlns:a="http://schemas.openxmlformats.org/drawingml/2006/main">
              <a:ext uri="{FF2B5EF4-FFF2-40B4-BE49-F238E27FC236}">
                <a16:creationId xmlns:a16="http://schemas.microsoft.com/office/drawing/2014/main" id="{7874BF94-ACCB-423C-81B7-F74C1300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05450"/>
            <a:ext cx="6858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9862DCA-BE1C-4DD4-987C-44F7466F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626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下一步只能由证据推进：让 Harness 汇总多个 Eval 并给出唯一结论</a:t>
            </a:r>
          </a:p>
        </p:txBody>
      </p:sp>
    </p:spTree>
    <p:extLst>
      <p:ext uri="{BB962C8B-B14F-4D97-AF65-F5344CB8AC3E}">
        <p14:creationId xmlns:p14="http://schemas.microsoft.com/office/powerpoint/2010/main" val="12762227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L05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库存页让 on_hand、reserved、available 同时接受审讯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07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从 Spec 到红绿门禁的工程证据链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1ebb399884f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7ae20d0914545"/>
          <a:stretch xmlns:a="http://schemas.openxmlformats.org/drawingml/2006/main"/>
        </p:blipFill>
        <p:spPr>
          <a:xfrm xmlns:a="http://schemas.openxmlformats.org/drawingml/2006/main">
            <a:off x="1911221" y="1897052"/>
            <a:ext cx="8489828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A5DBCCE-80DA-46C1-BC6E-FB196EAB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L05 · 验收矩阵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F2A29F-A48A-43AF-8F95-B425675D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每个不变量都要有正常、失败与失败后不变三联断言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6FB70D5-B428-4381-956B-039A8ECA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3733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每一行都改变一个可观察状态，并留下下一步所需证据。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870BE4-6AA6-41DB-A68D-9E5ED93E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08</a:t>
            </a:r>
            <a:endParaRPr sz="1100"/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225F962-67E7-44F3-8EF5-2B688DA5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812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对象 / 风险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40CA56F-3F41-4324-B9B4-9C72CB13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812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现场动作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FA15EF28-2439-4AE7-9A73-01B3F2D7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812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留下资产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219FE910-7CA5-4524-A642-CE85224D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812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过关证据</a:t>
            </a: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A75824AA-E251-4CA8-9A58-68EEBEBA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7E396E9E-6E27-436A-B3F1-464697EF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ABE94B10-E91B-48BA-938F-7FA9D917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97FF18EB-D71E-4440-8471-97B6CE70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代码覆盖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C3C8C77-218D-4E6C-BAE6-1F7E5275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杀死错误策略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177DAC8C-F998-494B-83EC-2B288B97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098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tests/test_inventory.py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9693250A-6249-417F-A246-FD919AD8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098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adversarial eval</a:t>
            </a: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686C1731-C85B-4FA3-A5ED-3E44F93E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0A0E"/>
          </a:solidFill>
          <a:ln xmlns:a="http://schemas.openxmlformats.org/drawingml/2006/main" w="10478">
            <a:solidFill>
              <a:srgbClr val="FF5A6B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CE2D41B9-5852-4C6A-8636-D37D52C6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EAE8AE4D-BEC5-4F8B-8943-227F5DCF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9ADCD58B-4F3C-4285-A031-318DDC1F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只看异常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0A348BDF-2F08-4C8D-B246-374F63AF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9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核对持久化不变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C8B3ACB5-21F3-4799-9EEB-06827D2C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9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tests/test_purchase.py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DEF9A81C-DE26-453E-A2A1-4B348FD7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099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state assertion</a:t>
            </a: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8773DB77-737D-428C-A271-34CBCA07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BD943CAB-3C46-4CA6-91A5-9202ED91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BC5D2C84-029D-4FAF-ACAD-B8D803A3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34F61C28-DC60-4B17-BF29-EB6972E6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一次红灯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C452BA5D-1FEE-4B66-A7E2-373EDD29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00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稳定失败签名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250BAA25-1832-4FA4-84B8-97430C33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100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eval/cases.py</a:t>
            </a: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9F474969-151A-4BD1-965C-227BF45B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100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signature</a:t>
            </a:r>
          </a:p>
        </p:txBody>
      </p:sp>
      <p:sp>
        <p:nvSpPr>
          <p:cNvPr id="68" name="圆角矩形 67">
            <a:extLst xmlns:a="http://schemas.openxmlformats.org/drawingml/2006/main">
              <a:ext uri="{FF2B5EF4-FFF2-40B4-BE49-F238E27FC236}">
                <a16:creationId xmlns:a16="http://schemas.microsoft.com/office/drawing/2014/main" id="{608C28A8-EF01-4DB1-89F0-64C96025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9421ABF1-8DF2-4B14-8D6B-7E7FACBF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79810087-E95B-4976-8189-B04D4464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ACC72102-D087-4C94-80CF-B6D1C1F0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修后换题</a:t>
            </a: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5CD2D98-8D81-4EAE-9222-90547A8A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101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原 Eval 恢复绿色</a:t>
            </a: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1CF562E4-5360-4E58-9719-BF62AAAD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01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eval/harness.py</a:t>
            </a: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5A6670A3-1F9C-4030-8928-08E47141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101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缺陷版本稳定红，修复版本用同一命令稳定绿</a:t>
            </a:r>
          </a:p>
        </p:txBody>
      </p:sp>
    </p:spTree>
    <p:extLst>
      <p:ext uri="{BB962C8B-B14F-4D97-AF65-F5344CB8AC3E}">
        <p14:creationId xmlns:p14="http://schemas.microsoft.com/office/powerpoint/2010/main" val="7598062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L05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Blocking Eval 要指出 expected、actual 与直接证据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09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真实项目：库存、批次、预占和补货点在同一观察面中呈现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8cade959ac4e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460c04d014347"/>
          <a:stretch xmlns:a="http://schemas.openxmlformats.org/drawingml/2006/main"/>
        </p:blipFill>
        <p:spPr>
          <a:xfrm xmlns:a="http://schemas.openxmlformats.org/drawingml/2006/main">
            <a:off x="1911574" y="1897052"/>
            <a:ext cx="8489122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D7D5079-CC1B-469C-8ABA-E592A3C3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L05 · 对抗实验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3EDE8A0-34ED-48C3-9FE6-D819C697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" y="948296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多行订单比单行订单更能暴露原子性缺陷</a:t>
            </a:r>
            <a:endParaRPr sz="3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58FF44B-83AF-4886-85A5-B589C67E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10</a:t>
            </a:r>
            <a:endParaRPr sz="1100"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21AC50A-5A80-43CA-AFDE-D411F4F6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2619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75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跑过很多行</a:t>
            </a:r>
          </a:p>
        </p:txBody>
      </p:sp>
      <p:sp>
        <p:nvSpPr>
          <p:cNvPr id="14" name="箭头: 右 13">
            <a:extLst xmlns:a="http://schemas.openxmlformats.org/drawingml/2006/main">
              <a:ext uri="{FF2B5EF4-FFF2-40B4-BE49-F238E27FC236}">
                <a16:creationId xmlns:a16="http://schemas.microsoft.com/office/drawing/2014/main" id="{5B068980-2C15-4164-AC23-6A96C3FB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95250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0E15024E-A449-424A-98BA-B4E7001F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81200"/>
            <a:ext cx="3048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30A0E"/>
          </a:solidFill>
          <a:ln xmlns:a="http://schemas.openxmlformats.org/drawingml/2006/main" w="11430">
            <a:solidFill>
              <a:srgbClr val="FF5A6B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79DCF79-DB1E-4336-8775-60639D6F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1455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rPr>
              <a:t>控制位置迁移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0FB5D26-1E6B-430A-AA74-00980AEF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03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杀死错误策略 → 核对持久化不变</a:t>
            </a:r>
          </a:p>
        </p:txBody>
      </p:sp>
      <p:sp>
        <p:nvSpPr>
          <p:cNvPr id="18" name="箭头: 右 17">
            <a:extLst xmlns:a="http://schemas.openxmlformats.org/drawingml/2006/main">
              <a:ext uri="{FF2B5EF4-FFF2-40B4-BE49-F238E27FC236}">
                <a16:creationId xmlns:a16="http://schemas.microsoft.com/office/drawing/2014/main" id="{D2D93868-5D9B-4619-9DFD-E046F85B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381250"/>
            <a:ext cx="95250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3DBE9C3-E2B7-4378-84D6-5C202BD7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619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277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原 Eval 恢复绿色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C04C5F0-9576-4A91-A1A8-0704FF43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AD10493-8ADB-4723-920D-DC380619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861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定义 / Contract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9BAF19C-ED9E-4B6C-AA3A-3FC201E2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861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975E80F-3C6D-4A24-AE2C-5FB380E7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861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执行 / Control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F3F7675-CF02-4572-8703-0F01AA33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861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DD70B61-4263-4029-BE60-A3A78456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2861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失败 / Evidence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C1ACF70D-7170-4499-9883-FB9FD320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861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AAD40B8-4023-4DE4-BA22-C246DDE0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交接 / Handoff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BAC7070-A5BD-4C3D-A197-E0129799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88CDCFB-A083-41F5-A381-895B4F4D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旧的安全感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E30D64E0-6F23-46E8-8472-0B56625E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5770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代码覆盖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跑过很多行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A37B404F-929A-4F08-A61B-01026647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957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专业能力迁移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F8E3213B-BE32-4894-8A9E-F0761CC6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45770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只看异常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核对持久化不变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5283840A-C87C-4F39-B43D-97714CDB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可扩展地负责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29567FC0-75E3-42B0-B2B2-B463661B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577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修后换题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原 Eval 恢复绿色</a:t>
            </a:r>
          </a:p>
        </p:txBody>
      </p:sp>
    </p:spTree>
    <p:extLst>
      <p:ext uri="{BB962C8B-B14F-4D97-AF65-F5344CB8AC3E}">
        <p14:creationId xmlns:p14="http://schemas.microsoft.com/office/powerpoint/2010/main" val="7099640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279DD7-4012-4AAD-9350-4B9DF66E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L05 · 收件物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FDA6789-3263-4CD1-BBB9-5B355C09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28700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760"/>
              </a:lnSpc>
              <a:buNone/>
            </a:pPr>
            <a:r>
              <a:rPr sz="24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先红后绿记录本身就是可复用反例资产</a:t>
            </a:r>
            <a:endParaRPr sz="2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58F80C5-E0E5-4E4F-8A77-E966B7AF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11</a:t>
            </a:r>
            <a:endParaRPr sz="1100"/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23AE13E-0C34-4F77-A834-D02AFA9C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F7622A7-9DED-46EE-B9C5-79F7B924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240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865B26B-CF6E-4B97-9F2F-057BE24D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240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tests/test_inventory.py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BA98D72-7E14-4024-88F1-8D8766C3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9240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库存原子预占反例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50AD5A09-12D1-474D-8571-EF90ED28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240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SOURCE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FE36CBC-1257-46BC-B240-85722D92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8B15552-094E-4308-BC4B-AFD18A64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98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9A1CDE6F-F002-4577-A917-28C84C17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098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tests/test_purchase.py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92C8FBBA-F9C5-4673-8B72-E20B856E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098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审批与幂等反例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F8572A7-0BAC-4E33-98EC-9FA8F84F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09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STATE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72266A1-E2EA-47C1-84F9-CD20FA4B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98E5835E-4995-47BE-AF99-796F9754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956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70363CF-57E5-4BCC-9D13-8279387A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956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eval/cases.py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EAD5D10-C4BD-4016-A71D-8D7C7773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956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业务级评测定义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1314E408-CCF2-42B7-A19E-B81DE960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956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CONTROL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AF0D9B0-29A4-4404-8885-B42CF4E4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431A35E3-CE60-4232-BC44-D89767BD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814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BD6"/>
          </a:solidFill>
          <a:ln xmlns:a="http://schemas.openxmlformats.org/drawingml/2006/main" w="0">
            <a:solidFill>
              <a:srgbClr val="FF2BD6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CD02E03B-FF14-4C9D-A5A9-0F3B5A88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814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eval/harness.py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62B3092-75B3-4F44-83FD-92E96B56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981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统一入口的上游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45D9CA7E-187F-4B93-9616-6CC9CACF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814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EVIDENCE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A0E0F08F-3B89-4179-BEC7-E0FAD758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05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01A990C4-1CF6-416B-B2E2-002B99AA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672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B8555B56-A303-4FDF-AC12-C6AC9D4F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672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failure_signature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2516F074-5D0C-44DB-91F4-9715B748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672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可比较失败身份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C7E40B82-9D05-409E-B8B2-5212F6C1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672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HANDOFF</a:t>
            </a:r>
          </a:p>
        </p:txBody>
      </p:sp>
      <p:sp>
        <p:nvSpPr>
          <p:cNvPr id="46" name="矩形: 圆角 45">
            <a:extLst xmlns:a="http://schemas.openxmlformats.org/drawingml/2006/main">
              <a:ext uri="{FF2B5EF4-FFF2-40B4-BE49-F238E27FC236}">
                <a16:creationId xmlns:a16="http://schemas.microsoft.com/office/drawing/2014/main" id="{7874BF94-ACCB-423C-81B7-F74C1300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05450"/>
            <a:ext cx="6858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9862DCA-BE1C-4DD4-987C-44F7466F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626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最终交付：先红后绿记录、失败签名与反例资产</a:t>
            </a:r>
          </a:p>
        </p:txBody>
      </p:sp>
    </p:spTree>
    <p:extLst>
      <p:ext uri="{BB962C8B-B14F-4D97-AF65-F5344CB8AC3E}">
        <p14:creationId xmlns:p14="http://schemas.microsoft.com/office/powerpoint/2010/main" val="12762227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8CC39F9-06BD-4D9E-8547-6BB8C833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L05 · 现场验收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22E65F8-BBBD-4F59-87CE-099D71C3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稳定失败要排除环境噪声和偶发时序</a:t>
            </a:r>
            <a:endParaRPr sz="3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8E3434E-39A1-49C3-AFBA-3F091516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12</a:t>
            </a:r>
            <a:endParaRPr sz="1100"/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1BDD3D7F-1DDE-490F-918D-ECD843C7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671512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4111CB2-8C76-44C5-A778-C30CD863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CHECK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5258C7E-E891-4356-AE97-7E334665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[✓]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C705395-FE40-4557-951A-0D577B51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93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从事故倒推风险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EB5E61C-A042-4A03-8E89-49B7706C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289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[✓]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1D7A947-CDE6-4E19-83D8-72C9C2FF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289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写错误实现反例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200C0765-7C68-431F-9A41-591FE4BF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385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[✓]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711A5CFA-B687-4774-800C-DA127E6E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385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固定 expected/actual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CB5936CF-014D-4BC8-94E0-F48E413C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481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[+]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D6F9721-6923-4803-8ECB-4D73EA4C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481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验证失败后不变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6BE6521D-D235-463F-AA4A-26D339DD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790319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5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45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READY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6F3120C-733D-429A-A39E-BBC00AF1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933319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578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先红后绿记录、失败签名与反例资产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2B0BE1F0-AC1F-4607-9D4C-7C70FF10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476244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必须现场运行、记录退出码并保留失败后状态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99137D3F-C9D6-45DE-A5CC-512F90FC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81069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课末 10 分钟抽查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B787E721-5D62-4094-871B-E09D8611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09669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命令 → python -X utf8 -m unittest discover…</a:t>
            </a:r>
          </a:p>
        </p:txBody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49A5FC80-82A3-46C5-9EFA-5744EB84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66869"/>
            <a:ext cx="3524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D0A12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C6190CC5-B394-483D-A8AF-533286CB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62119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rPr>
              <a:t>不通过 → 测试数量不能抵消核心不变量回归</a:t>
            </a:r>
          </a:p>
        </p:txBody>
      </p:sp>
    </p:spTree>
    <p:extLst>
      <p:ext uri="{BB962C8B-B14F-4D97-AF65-F5344CB8AC3E}">
        <p14:creationId xmlns:p14="http://schemas.microsoft.com/office/powerpoint/2010/main" val="2105145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D29E6BA-B309-4E97-84D0-59EF3128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13</a:t>
            </a:r>
            <a:endParaRPr sz="1100"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86A529E-4523-4E21-B8B0-990A0FE8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1885950"/>
            <a:ext cx="7800975" cy="2843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6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第二次签字：是否改判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→ 打开 VS Code</a:t>
            </a:r>
          </a:p>
        </p:txBody>
      </p:sp>
    </p:spTree>
    <p:extLst>
      <p:ext uri="{BB962C8B-B14F-4D97-AF65-F5344CB8AC3E}">
        <p14:creationId xmlns:p14="http://schemas.microsoft.com/office/powerpoint/2010/main" val="14759078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2026-09-01T07:16:10.0010000Z</dcterms:created>
  <dcterms:modified xsi:type="dcterms:W3CDTF">2026-09-01T07:16:10.0010000Z</dcterms:modified>
</coreProperties>
</file>