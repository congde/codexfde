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46e4ed6d954b50" /><Relationship Type="http://schemas.openxmlformats.org/officeDocument/2006/relationships/extended-properties" Target="/docProps/app.xml" Id="Rf32c59eabe114f53" /><Relationship Type="http://schemas.openxmlformats.org/officeDocument/2006/relationships/officeDocument" Target="/ppt/presentation.xml" Id="R983b5c634bde44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b43f16dcff48f3"/>
  </p:sldMasterIdLst>
  <p:notesMasterIdLst>
    <p:notesMasterId xmlns:r="http://schemas.openxmlformats.org/officeDocument/2006/relationships" r:id="R7c777043780a4f18"/>
  </p:notesMasterIdLst>
  <p:sldIdLst>
    <p:sldId xmlns:r="http://schemas.openxmlformats.org/officeDocument/2006/relationships" id="256" r:id="Rbb864bca36d140dc"/>
    <p:sldId xmlns:r="http://schemas.openxmlformats.org/officeDocument/2006/relationships" id="257" r:id="R9b66cee56e57446f"/>
    <p:sldId xmlns:r="http://schemas.openxmlformats.org/officeDocument/2006/relationships" id="258" r:id="R7425ad0dcda644c3"/>
    <p:sldId xmlns:r="http://schemas.openxmlformats.org/officeDocument/2006/relationships" id="259" r:id="Re539fa8a59c9440a"/>
    <p:sldId xmlns:r="http://schemas.openxmlformats.org/officeDocument/2006/relationships" id="260" r:id="Rb31bf6fec68c4b71"/>
    <p:sldId xmlns:r="http://schemas.openxmlformats.org/officeDocument/2006/relationships" id="261" r:id="Ra9a9a7a06689449a"/>
    <p:sldId xmlns:r="http://schemas.openxmlformats.org/officeDocument/2006/relationships" id="262" r:id="Ra90cdac2647140f7"/>
    <p:sldId xmlns:r="http://schemas.openxmlformats.org/officeDocument/2006/relationships" id="263" r:id="R941dd1786dd2461e"/>
    <p:sldId xmlns:r="http://schemas.openxmlformats.org/officeDocument/2006/relationships" id="264" r:id="Rd217925cfc6a4154"/>
    <p:sldId xmlns:r="http://schemas.openxmlformats.org/officeDocument/2006/relationships" id="265" r:id="R7dc2d2d14e2f4a22"/>
    <p:sldId xmlns:r="http://schemas.openxmlformats.org/officeDocument/2006/relationships" id="266" r:id="R24da4acc924c4e1d"/>
    <p:sldId xmlns:r="http://schemas.openxmlformats.org/officeDocument/2006/relationships" id="267" r:id="R944ae19e088c4c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4f332782984898" /><Relationship Type="http://schemas.openxmlformats.org/officeDocument/2006/relationships/slideMaster" Target="/ppt/slideMasters/slideMaster1.xml" Id="R04b43f16dcff48f3" /><Relationship Type="http://schemas.openxmlformats.org/officeDocument/2006/relationships/notesMaster" Target="/ppt/notesMasters/notesMaster1.xml" Id="R7c777043780a4f18" /><Relationship Type="http://schemas.openxmlformats.org/officeDocument/2006/relationships/presProps" Target="/ppt/presProps.xml" Id="R168d7074fe3345e7" /><Relationship Type="http://schemas.openxmlformats.org/officeDocument/2006/relationships/viewProps" Target="/ppt/viewProps.xml" Id="Rfacff4c686344bd2" /><Relationship Type="http://schemas.openxmlformats.org/officeDocument/2006/relationships/tableStyles" Target="/ppt/tableStyles.xml" Id="R433e170a075d4719" /><Relationship Type="http://schemas.openxmlformats.org/officeDocument/2006/relationships/slide" Target="/ppt/slides/slide1.xml" Id="Rbb864bca36d140dc" /><Relationship Type="http://schemas.openxmlformats.org/officeDocument/2006/relationships/slide" Target="/ppt/slides/slide2.xml" Id="R9b66cee56e57446f" /><Relationship Type="http://schemas.openxmlformats.org/officeDocument/2006/relationships/slide" Target="/ppt/slides/slide3.xml" Id="R7425ad0dcda644c3" /><Relationship Type="http://schemas.openxmlformats.org/officeDocument/2006/relationships/slide" Target="/ppt/slides/slide4.xml" Id="Re539fa8a59c9440a" /><Relationship Type="http://schemas.openxmlformats.org/officeDocument/2006/relationships/slide" Target="/ppt/slides/slide5.xml" Id="Rb31bf6fec68c4b71" /><Relationship Type="http://schemas.openxmlformats.org/officeDocument/2006/relationships/slide" Target="/ppt/slides/slide6.xml" Id="Ra9a9a7a06689449a" /><Relationship Type="http://schemas.openxmlformats.org/officeDocument/2006/relationships/slide" Target="/ppt/slides/slide7.xml" Id="Ra90cdac2647140f7" /><Relationship Type="http://schemas.openxmlformats.org/officeDocument/2006/relationships/slide" Target="/ppt/slides/slide8.xml" Id="R941dd1786dd2461e" /><Relationship Type="http://schemas.openxmlformats.org/officeDocument/2006/relationships/slide" Target="/ppt/slides/slide9.xml" Id="Rd217925cfc6a4154" /><Relationship Type="http://schemas.openxmlformats.org/officeDocument/2006/relationships/slide" Target="/ppt/slides/slide10.xml" Id="R7dc2d2d14e2f4a22" /><Relationship Type="http://schemas.openxmlformats.org/officeDocument/2006/relationships/slide" Target="/ppt/slides/slide11.xml" Id="R24da4acc924c4e1d" /><Relationship Type="http://schemas.openxmlformats.org/officeDocument/2006/relationships/slide" Target="/ppt/slides/slide12.xml" Id="R944ae19e088c4c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eae9ef65d241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8846b92b1f4203" /><Relationship Type="http://schemas.openxmlformats.org/officeDocument/2006/relationships/notesMaster" Target="/ppt/notesMasters/notesMaster1.xml" Id="R5d4a8579d28346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e4a912df15405a" /><Relationship Type="http://schemas.openxmlformats.org/officeDocument/2006/relationships/notesMaster" Target="/ppt/notesMasters/notesMaster1.xml" Id="Rd4eebcaf5dd442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4a1867cfab4cb1" /><Relationship Type="http://schemas.openxmlformats.org/officeDocument/2006/relationships/notesMaster" Target="/ppt/notesMasters/notesMaster1.xml" Id="R0b2296dd0da74c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f75fa0d01e42c2" /><Relationship Type="http://schemas.openxmlformats.org/officeDocument/2006/relationships/notesMaster" Target="/ppt/notesMasters/notesMaster1.xml" Id="Rf86eb2ace83340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f8f4468cea4613" /><Relationship Type="http://schemas.openxmlformats.org/officeDocument/2006/relationships/notesMaster" Target="/ppt/notesMasters/notesMaster1.xml" Id="Ra72b6cbed14b4f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d090af420f40db" /><Relationship Type="http://schemas.openxmlformats.org/officeDocument/2006/relationships/notesMaster" Target="/ppt/notesMasters/notesMaster1.xml" Id="R5a3a14de4f7642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79b25e92734286" /><Relationship Type="http://schemas.openxmlformats.org/officeDocument/2006/relationships/notesMaster" Target="/ppt/notesMasters/notesMaster1.xml" Id="R8aea96e4395644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e1c725fe4b494f" /><Relationship Type="http://schemas.openxmlformats.org/officeDocument/2006/relationships/notesMaster" Target="/ppt/notesMasters/notesMaster1.xml" Id="R1fb12554684a4f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fb4238b4d94560" /><Relationship Type="http://schemas.openxmlformats.org/officeDocument/2006/relationships/notesMaster" Target="/ppt/notesMasters/notesMaster1.xml" Id="R5f6c77b6a9db40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60baed6fe741fa" /><Relationship Type="http://schemas.openxmlformats.org/officeDocument/2006/relationships/notesMaster" Target="/ppt/notesMasters/notesMaster1.xml" Id="R3fe2b028968947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685286dbd84589" /><Relationship Type="http://schemas.openxmlformats.org/officeDocument/2006/relationships/notesMaster" Target="/ppt/notesMasters/notesMaster1.xml" Id="R2475eeae9fba4a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e8cd863e984288" /><Relationship Type="http://schemas.openxmlformats.org/officeDocument/2006/relationships/notesMaster" Target="/ppt/notesMasters/notesMaster1.xml" Id="R79844ae1a7fb4b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课堂类型：规则法庭</a:t>
            </a:r>
          </a:p>
          <a:p xmlns:a="http://schemas.openxmlformats.org/drawingml/2006/main">
            <a:r>
              <a:t>本页判断：把仓库规则写进 AGENTS.md</a:t>
            </a:r>
            <a:endParaRPr/>
          </a:p>
          <a:p xmlns:a="http://schemas.openxmlformats.org/drawingml/2006/main">
            <a:r>
              <a:t>课程主线：让“直接把库存改成 100”撞上长期禁区、真实权限与合法替代路径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验证入口：Get-Content AGENTS.md</a:t>
            </a:r>
          </a:p>
          <a:p xmlns:a="http://schemas.openxmlformats.org/drawingml/2006/main">
            <a:r>
              <a:t>边界：Memory 是历史候选，AGENTS.md 也不能替代服务端权限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D:\work\CodexFDE\docs\courses\L02-把仓库规则写进AGENTS.md.md</a:t>
            </a:r>
          </a:p>
          <a:p xmlns:a="http://schemas.openxmlformats.org/drawingml/2006/main">
            <a:r>
              <a:t>- D:\work\CodexFDE\course\tasks\L02-AGENTS项目约束.md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课堂类型：规则法庭</a:t>
            </a:r>
          </a:p>
          <a:p xmlns:a="http://schemas.openxmlformats.org/drawingml/2006/main">
            <a:r>
              <a:t>本页判断：一句省事请求，可能同时越过三道责任边界</a:t>
            </a:r>
            <a:endParaRPr/>
          </a:p>
          <a:p xmlns:a="http://schemas.openxmlformats.org/drawingml/2006/main">
            <a:r>
              <a:t>课程主线：让“直接把库存改成 100”撞上长期禁区、真实权限与合法替代路径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验证入口：Get-Content AGENTS.md</a:t>
            </a:r>
          </a:p>
          <a:p xmlns:a="http://schemas.openxmlformats.org/drawingml/2006/main">
            <a:r>
              <a:t>边界：Memory 是历史候选，AGENTS.md 也不能替代服务端权限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D:\work\CodexFDE\docs\courses\L02-把仓库规则写进AGENTS.md.md</a:t>
            </a:r>
          </a:p>
          <a:p xmlns:a="http://schemas.openxmlformats.org/drawingml/2006/main">
            <a:r>
              <a:t>- D:\work\CodexFDE\course\tasks\L02-AGENTS项目约束.md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课堂类型：规则法庭</a:t>
            </a:r>
          </a:p>
          <a:p xmlns:a="http://schemas.openxmlformats.org/drawingml/2006/main">
            <a:r>
              <a:t>本页判断：先判案：这条请求究竟该由谁拒绝</a:t>
            </a:r>
            <a:endParaRPr/>
          </a:p>
          <a:p xmlns:a="http://schemas.openxmlformats.org/drawingml/2006/main">
            <a:r>
              <a:t>课程主线：让“直接把库存改成 100”撞上长期禁区、真实权限与合法替代路径</a:t>
            </a:r>
          </a:p>
          <a:p xmlns:a="http://schemas.openxmlformats.org/drawingml/2006/main">
            <a:r>
              <a:t>讲授动作：读完三项裁决问题后停止翻页，不显示方法答案。</a:t>
            </a:r>
          </a:p>
          <a:p xmlns:a="http://schemas.openxmlformats.org/drawingml/2006/main">
            <a:r>
              <a:t>停顿点：收齐“选择 + 依据 + 最大风险”的第一次签字后再继续。</a:t>
            </a:r>
          </a:p>
          <a:p xmlns:a="http://schemas.openxmlformats.org/drawingml/2006/main">
            <a:r>
              <a:t>交接物：第一次签字。</a:t>
            </a:r>
          </a:p>
          <a:p xmlns:a="http://schemas.openxmlformats.org/drawingml/2006/main">
            <a:r>
              <a:t>验证入口：Get-Content AGENTS.md</a:t>
            </a:r>
          </a:p>
          <a:p xmlns:a="http://schemas.openxmlformats.org/drawingml/2006/main">
            <a:r>
              <a:t>边界：Memory 是历史候选，AGENTS.md 也不能替代服务端权限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D:\work\CodexFDE\docs\courses\L02-把仓库规则写进AGENTS.md.md</a:t>
            </a:r>
          </a:p>
          <a:p xmlns:a="http://schemas.openxmlformats.org/drawingml/2006/main">
            <a:r>
              <a:t>- D:\work\CodexFDE\course\tasks\L02-AGENTS项目约束.md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课堂类型：规则法庭</a:t>
            </a:r>
          </a:p>
          <a:p xmlns:a="http://schemas.openxmlformats.org/drawingml/2006/main">
            <a:r>
              <a:t>本页判断：AGENTS.md、Memory 与服务端权限各守一层</a:t>
            </a:r>
            <a:endParaRPr/>
          </a:p>
          <a:p xmlns:a="http://schemas.openxmlformats.org/drawingml/2006/main">
            <a:r>
              <a:t>课程主线：让“直接把库存改成 100”撞上长期禁区、真实权限与合法替代路径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验证入口：Get-Content AGENTS.md</a:t>
            </a:r>
          </a:p>
          <a:p xmlns:a="http://schemas.openxmlformats.org/drawingml/2006/main">
            <a:r>
              <a:t>边界：Memory 是历史候选，AGENTS.md 也不能替代服务端权限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D:\work\CodexFDE\docs\courses\L02-把仓库规则写进AGENTS.md.md</a:t>
            </a:r>
          </a:p>
          <a:p xmlns:a="http://schemas.openxmlformats.org/drawingml/2006/main">
            <a:r>
              <a:t>- D:\work\CodexFDE\course\tasks\L02-AGENTS项目约束.md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课堂类型：规则法庭</a:t>
            </a:r>
          </a:p>
          <a:p xmlns:a="http://schemas.openxmlformats.org/drawingml/2006/main">
            <a:r>
              <a:t>本页判断：长期规则必须落在会被版本控制的位置</a:t>
            </a:r>
            <a:endParaRPr/>
          </a:p>
          <a:p xmlns:a="http://schemas.openxmlformats.org/drawingml/2006/main">
            <a:r>
              <a:t>课程主线：让“直接把库存改成 100”撞上长期禁区、真实权限与合法替代路径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验证入口：Get-Content AGENTS.md</a:t>
            </a:r>
          </a:p>
          <a:p xmlns:a="http://schemas.openxmlformats.org/drawingml/2006/main">
            <a:r>
              <a:t>边界：Memory 是历史候选，AGENTS.md 也不能替代服务端权限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D:\work\CodexFDE\docs\courses\L02-把仓库规则写进AGENTS.md.md</a:t>
            </a:r>
          </a:p>
          <a:p xmlns:a="http://schemas.openxmlformats.org/drawingml/2006/main">
            <a:r>
              <a:t>- D:\work\CodexFDE\course\tasks\L02-AGENTS项目约束.md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课堂类型：规则法庭</a:t>
            </a:r>
          </a:p>
          <a:p xmlns:a="http://schemas.openxmlformats.org/drawingml/2006/main">
            <a:r>
              <a:t>本页判断：规则从口号变成五段式可执行合同</a:t>
            </a:r>
            <a:endParaRPr/>
          </a:p>
          <a:p xmlns:a="http://schemas.openxmlformats.org/drawingml/2006/main">
            <a:r>
              <a:t>课程主线：让“直接把库存改成 100”撞上长期禁区、真实权限与合法替代路径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验证入口：Get-Content AGENTS.md</a:t>
            </a:r>
          </a:p>
          <a:p xmlns:a="http://schemas.openxmlformats.org/drawingml/2006/main">
            <a:r>
              <a:t>边界：Memory 是历史候选，AGENTS.md 也不能替代服务端权限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D:\work\CodexFDE\docs\courses\L02-把仓库规则写进AGENTS.md.md</a:t>
            </a:r>
          </a:p>
          <a:p xmlns:a="http://schemas.openxmlformats.org/drawingml/2006/main">
            <a:r>
              <a:t>- D:\work\CodexFDE\course\tasks\L02-AGENTS项目约束.md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课堂类型：规则法庭</a:t>
            </a:r>
          </a:p>
          <a:p xmlns:a="http://schemas.openxmlformats.org/drawingml/2006/main">
            <a:r>
              <a:t>本页判断：审计轨迹证明请求走了哪条合法路径</a:t>
            </a:r>
            <a:endParaRPr/>
          </a:p>
          <a:p xmlns:a="http://schemas.openxmlformats.org/drawingml/2006/main">
            <a:r>
              <a:t>课程主线：让“直接把库存改成 100”撞上长期禁区、真实权限与合法替代路径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验证入口：Get-Content AGENTS.md</a:t>
            </a:r>
          </a:p>
          <a:p xmlns:a="http://schemas.openxmlformats.org/drawingml/2006/main">
            <a:r>
              <a:t>边界：Memory 是历史候选，AGENTS.md 也不能替代服务端权限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D:\work\CodexFDE\docs\courses\L02-把仓库规则写进AGENTS.md.md</a:t>
            </a:r>
          </a:p>
          <a:p xmlns:a="http://schemas.openxmlformats.org/drawingml/2006/main">
            <a:r>
              <a:t>- D:\work\CodexFDE\course\tasks\L02-AGENTS项目约束.md</a:t>
            </a:r>
          </a:p>
          <a:p xmlns:a="http://schemas.openxmlformats.org/drawingml/2006/main">
            <a:r>
              <a:t>- D:\work\CodexFDE\docs\courses\assets\web-19-audit-trace.png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课堂类型：规则法庭</a:t>
            </a:r>
          </a:p>
          <a:p xmlns:a="http://schemas.openxmlformats.org/drawingml/2006/main">
            <a:r>
              <a:t>本页判断：规则文件不能替人审批，也不能替服务授权</a:t>
            </a:r>
            <a:endParaRPr/>
          </a:p>
          <a:p xmlns:a="http://schemas.openxmlformats.org/drawingml/2006/main">
            <a:r>
              <a:t>课程主线：让“直接把库存改成 100”撞上长期禁区、真实权限与合法替代路径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验证入口：Get-Content AGENTS.md</a:t>
            </a:r>
          </a:p>
          <a:p xmlns:a="http://schemas.openxmlformats.org/drawingml/2006/main">
            <a:r>
              <a:t>边界：Memory 是历史候选，AGENTS.md 也不能替代服务端权限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D:\work\CodexFDE\docs\courses\L02-把仓库规则写进AGENTS.md.md</a:t>
            </a:r>
          </a:p>
          <a:p xmlns:a="http://schemas.openxmlformats.org/drawingml/2006/main">
            <a:r>
              <a:t>- D:\work\CodexFDE\course\tasks\L02-AGENTS项目约束.md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课堂类型：规则法庭</a:t>
            </a:r>
          </a:p>
          <a:p xmlns:a="http://schemas.openxmlformats.org/drawingml/2006/main">
            <a:r>
              <a:t>本页判断：采购入库只有具名批准才能跨过业务守卫</a:t>
            </a:r>
            <a:endParaRPr/>
          </a:p>
          <a:p xmlns:a="http://schemas.openxmlformats.org/drawingml/2006/main">
            <a:r>
              <a:t>课程主线：让“直接把库存改成 100”撞上长期禁区、真实权限与合法替代路径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验证入口：Get-Content AGENTS.md</a:t>
            </a:r>
          </a:p>
          <a:p xmlns:a="http://schemas.openxmlformats.org/drawingml/2006/main">
            <a:r>
              <a:t>边界：Memory 是历史候选，AGENTS.md 也不能替代服务端权限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D:\work\CodexFDE\docs\courses\L02-把仓库规则写进AGENTS.md.md</a:t>
            </a:r>
          </a:p>
          <a:p xmlns:a="http://schemas.openxmlformats.org/drawingml/2006/main">
            <a:r>
              <a:t>- D:\work\CodexFDE\course\tasks\L02-AGENTS项目约束.md</a:t>
            </a:r>
          </a:p>
          <a:p xmlns:a="http://schemas.openxmlformats.org/drawingml/2006/main">
            <a:r>
              <a:t>- D:\work\CodexFDE\docs\courses\assets\web-19-audit-trace.png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课堂类型：规则法庭</a:t>
            </a:r>
          </a:p>
          <a:p xmlns:a="http://schemas.openxmlformats.org/drawingml/2006/main">
            <a:r>
              <a:t>本页判断：过期经验必须被拒绝，而不是被‘记住’</a:t>
            </a:r>
            <a:endParaRPr/>
          </a:p>
          <a:p xmlns:a="http://schemas.openxmlformats.org/drawingml/2006/main">
            <a:r>
              <a:t>课程主线：让“直接把库存改成 100”撞上长期禁区、真实权限与合法替代路径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验证入口：Get-Content AGENTS.md</a:t>
            </a:r>
          </a:p>
          <a:p xmlns:a="http://schemas.openxmlformats.org/drawingml/2006/main">
            <a:r>
              <a:t>边界：Memory 是历史候选，AGENTS.md 也不能替代服务端权限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D:\work\CodexFDE\docs\courses\L02-把仓库规则写进AGENTS.md.md</a:t>
            </a:r>
          </a:p>
          <a:p xmlns:a="http://schemas.openxmlformats.org/drawingml/2006/main">
            <a:r>
              <a:t>- D:\work\CodexFDE\course\tasks\L02-AGENTS项目约束.md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课堂类型：规则法庭</a:t>
            </a:r>
          </a:p>
          <a:p xmlns:a="http://schemas.openxmlformats.org/drawingml/2006/main">
            <a:r>
              <a:t>本页判断：越界请求被挡住后，还要给出安全替代动作</a:t>
            </a:r>
            <a:endParaRPr/>
          </a:p>
          <a:p xmlns:a="http://schemas.openxmlformats.org/drawingml/2006/main">
            <a:r>
              <a:t>课程主线：让“直接把库存改成 100”撞上长期禁区、真实权限与合法替代路径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验证入口：Get-Content AGENTS.md</a:t>
            </a:r>
          </a:p>
          <a:p xmlns:a="http://schemas.openxmlformats.org/drawingml/2006/main">
            <a:r>
              <a:t>边界：Memory 是历史候选，AGENTS.md 也不能替代服务端权限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D:\work\CodexFDE\docs\courses\L02-把仓库规则写进AGENTS.md.md</a:t>
            </a:r>
          </a:p>
          <a:p xmlns:a="http://schemas.openxmlformats.org/drawingml/2006/main">
            <a:r>
              <a:t>- D:\work\CodexFDE\course\tasks\L02-AGENTS项目约束.md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课堂类型：规则法庭</a:t>
            </a:r>
          </a:p>
          <a:p xmlns:a="http://schemas.openxmlformats.org/drawingml/2006/main">
            <a:r>
              <a:t>本页判断：规则写进去了，本次需求仍然悬空</a:t>
            </a:r>
            <a:endParaRPr/>
          </a:p>
          <a:p xmlns:a="http://schemas.openxmlformats.org/drawingml/2006/main">
            <a:r>
              <a:t>课程主线：让“直接把库存改成 100”撞上长期禁区、真实权限与合法替代路径</a:t>
            </a:r>
          </a:p>
          <a:p xmlns:a="http://schemas.openxmlformats.org/drawingml/2006/main">
            <a:r>
              <a:t>讲授动作：切换到 VS Code，运行本讲任务；不要在 PPT 中代替学生执行。</a:t>
            </a:r>
          </a:p>
          <a:p xmlns:a="http://schemas.openxmlformats.org/drawingml/2006/main">
            <a:r>
              <a:t>停顿点：取得新的运行证据后，完成第二次签字。</a:t>
            </a:r>
          </a:p>
          <a:p xmlns:a="http://schemas.openxmlformats.org/drawingml/2006/main">
            <a:r>
              <a:t>交接物：VS Code 任务与第二次签字。</a:t>
            </a:r>
          </a:p>
          <a:p xmlns:a="http://schemas.openxmlformats.org/drawingml/2006/main">
            <a:r>
              <a:t>验证入口：Get-Content AGENTS.md</a:t>
            </a:r>
          </a:p>
          <a:p xmlns:a="http://schemas.openxmlformats.org/drawingml/2006/main">
            <a:r>
              <a:t>边界：Memory 是历史候选，AGENTS.md 也不能替代服务端权限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D:\work\CodexFDE\docs\courses\L02-把仓库规则写进AGENTS.md.md</a:t>
            </a:r>
          </a:p>
          <a:p xmlns:a="http://schemas.openxmlformats.org/drawingml/2006/main">
            <a:r>
              <a:t>- D:\work\CodexFDE\course\tasks\L02-AGENTS项目约束.md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8edf7d8b5b4e7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04fb90b85c4081" /><Relationship Type="http://schemas.openxmlformats.org/officeDocument/2006/relationships/slideLayout" Target="/ppt/slideLayouts/slideLayout1.xml" Id="Rcaed0cb028954df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ed0cb028954df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15c97c59c4751" /><Relationship Type="http://schemas.openxmlformats.org/officeDocument/2006/relationships/notesSlide" Target="/ppt/notesSlides/notesSlide1.xml" Id="R23a795c020d040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f744992614056" /><Relationship Type="http://schemas.openxmlformats.org/officeDocument/2006/relationships/notesSlide" Target="/ppt/notesSlides/notesSlide2.xml" Id="Rac748bb07a4647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5317e52a745f5" /><Relationship Type="http://schemas.openxmlformats.org/officeDocument/2006/relationships/notesSlide" Target="/ppt/notesSlides/notesSlide3.xml" Id="R4fe092ef52fc4e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06bb0267f42aa" /><Relationship Type="http://schemas.openxmlformats.org/officeDocument/2006/relationships/notesSlide" Target="/ppt/notesSlides/notesSlide4.xml" Id="Rd3450f7179e748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3435bc9fc49bb" /><Relationship Type="http://schemas.openxmlformats.org/officeDocument/2006/relationships/notesSlide" Target="/ppt/notesSlides/notesSlide5.xml" Id="R7b4ff65bef784d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d86418e32486b" /><Relationship Type="http://schemas.openxmlformats.org/officeDocument/2006/relationships/notesSlide" Target="/ppt/notesSlides/notesSlide6.xml" Id="R8601858bde4b4c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53ec7993d4bab" /><Relationship Type="http://schemas.openxmlformats.org/officeDocument/2006/relationships/image" Target="/ppt/media/image.png" Id="Ra85a5082b65346df" /><Relationship Type="http://schemas.openxmlformats.org/officeDocument/2006/relationships/image" Target="/ppt/media/image.jpeg" Id="R522378ec8275486b" /><Relationship Type="http://schemas.openxmlformats.org/officeDocument/2006/relationships/notesSlide" Target="/ppt/notesSlides/notesSlide7.xml" Id="Rf8ee702c725349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55c0020d54306" /><Relationship Type="http://schemas.openxmlformats.org/officeDocument/2006/relationships/notesSlide" Target="/ppt/notesSlides/notesSlide8.xml" Id="R2a63416597c74f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7fb0aa84f4597" /><Relationship Type="http://schemas.openxmlformats.org/officeDocument/2006/relationships/image" Target="/ppt/media/image.png" Id="R55b10cfffcbc48e0" /><Relationship Type="http://schemas.openxmlformats.org/officeDocument/2006/relationships/image" Target="/ppt/media/image2.jpeg" Id="R897acfbd5a1d4699" /><Relationship Type="http://schemas.openxmlformats.org/officeDocument/2006/relationships/notesSlide" Target="/ppt/notesSlides/notesSlide9.xml" Id="Rc0c39f261d5f4c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fd3cb3d474142" /><Relationship Type="http://schemas.openxmlformats.org/officeDocument/2006/relationships/notesSlide" Target="/ppt/notesSlides/notesSlide10.xml" Id="Re8ddce387ccf4a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50043f1f34d5a" /><Relationship Type="http://schemas.openxmlformats.org/officeDocument/2006/relationships/notesSlide" Target="/ppt/notesSlides/notesSlide11.xml" Id="R6f21de2b37714c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83c8544b24e07" /><Relationship Type="http://schemas.openxmlformats.org/officeDocument/2006/relationships/notesSlide" Target="/ppt/notesSlides/notesSlide12.xml" Id="Rf792c659b5e84d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A3BF46-DE9F-44E8-86F6-0625F1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69365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L02 · Codex + FDE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1E2DB-4E23-49DF-ADA0-2E93FC6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536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764FB"/>
                </a:solidFill>
                <a:latin typeface="Noto Sans CJK SC"/>
                <a:ea typeface="Noto Sans CJK SC"/>
                <a:cs typeface="Noto Sans CJK SC"/>
              </a:rPr>
              <a:t>把仓库规则写进 AGENTS.md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D9616-3834-4C1C-8C4A-37C595E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23" y="319405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主线：让“直接把库存改成 100”撞上长期禁区、真实权限与合法替代路径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F92928-8A4C-4E7B-A82D-B08B237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" y="512064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AC116D-833A-4046-AEE4-1BB700D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FlowERP × 自进化研发交付工作台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AD6693-1490-42E5-AD4B-61A912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37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9D1B0E-CB94-4560-BD1A-3BE2BBE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L02 · 规则法庭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D3B0E4-ADF9-4D52-8239-5E2D6B31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2513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一句省事请求，可能同时越过三道责任边界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3F25F3-51A3-4E0D-9235-2B25ECA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裁决标准：长期规则写禁区、替代动作、验证命令和完成定义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A44815A-8F3D-400A-B0B1-75B9A5C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100"/>
          </a:p>
        </p:txBody>
      </p:sp>
      <p:sp>
        <p:nvSpPr>
          <p:cNvPr id="23" name="箭头: 右 22">
            <a:extLst xmlns:a="http://schemas.openxmlformats.org/drawingml/2006/main">
              <a:ext uri="{FF2B5EF4-FFF2-40B4-BE49-F238E27FC236}">
                <a16:creationId xmlns:a16="http://schemas.microsoft.com/office/drawing/2014/main" id="{C6263359-F0B5-4A4C-84FA-1536691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4" name="箭头: 右 23">
            <a:extLst xmlns:a="http://schemas.openxmlformats.org/drawingml/2006/main">
              <a:ext uri="{FF2B5EF4-FFF2-40B4-BE49-F238E27FC236}">
                <a16:creationId xmlns:a16="http://schemas.microsoft.com/office/drawing/2014/main" id="{984F068E-90FC-4E71-857C-CB2A2EF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5" name="箭头: 右 24">
            <a:extLst xmlns:a="http://schemas.openxmlformats.org/drawingml/2006/main">
              <a:ext uri="{FF2B5EF4-FFF2-40B4-BE49-F238E27FC236}">
                <a16:creationId xmlns:a16="http://schemas.microsoft.com/office/drawing/2014/main" id="{0CBAAD27-E316-4088-946B-0F3BF1D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6" name="pain-1">
            <a:extLst xmlns:a="http://schemas.openxmlformats.org/drawingml/2006/main">
              <a:ext uri="{FF2B5EF4-FFF2-40B4-BE49-F238E27FC236}">
                <a16:creationId xmlns:a16="http://schemas.microsoft.com/office/drawing/2014/main" id="{F9E754D8-AC2E-4F25-8880-A918B44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F8A3D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CF7E83-5169-490A-9E59-36F94F6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489B53-1684-4027-9FE9-7A3251B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只看表面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09235D8-F9C8-4047-B539-BD44F76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收到“直接把库存改成 100”后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绕过服务层写数据库</a:t>
            </a:r>
          </a:p>
        </p:txBody>
      </p:sp>
      <p:sp>
        <p:nvSpPr>
          <p:cNvPr id="30" name="pain-2">
            <a:extLst xmlns:a="http://schemas.openxmlformats.org/drawingml/2006/main">
              <a:ext uri="{FF2B5EF4-FFF2-40B4-BE49-F238E27FC236}">
                <a16:creationId xmlns:a16="http://schemas.microsoft.com/office/drawing/2014/main" id="{A6C9E5F9-D5F8-4F8D-BD0B-A4580A9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E2B7C0-C852-490D-8D73-E8846A8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84A2229-FB98-44EE-B972-0384208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只看输出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83F1E7-A7AC-4F53-B770-0E5FF7F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Agent 说完成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不等于权威状态正确</a:t>
            </a:r>
          </a:p>
        </p:txBody>
      </p:sp>
      <p:sp>
        <p:nvSpPr>
          <p:cNvPr id="34" name="pain-3">
            <a:extLst xmlns:a="http://schemas.openxmlformats.org/drawingml/2006/main">
              <a:ext uri="{FF2B5EF4-FFF2-40B4-BE49-F238E27FC236}">
                <a16:creationId xmlns:a16="http://schemas.microsoft.com/office/drawing/2014/main" id="{CF53BD9D-4D27-47D4-9975-0491B9C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E5B567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0412876-CBAB-4A9D-B4B1-C96CAA5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E99F129-E46E-4DA9-9A6F-0E0ED58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只看历史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442465A-8975-40E0-8D11-AE3895D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相似经验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不等于当前合同</a:t>
            </a:r>
          </a:p>
        </p:txBody>
      </p:sp>
      <p:sp>
        <p:nvSpPr>
          <p:cNvPr id="38" name="pain-4">
            <a:extLst xmlns:a="http://schemas.openxmlformats.org/drawingml/2006/main">
              <a:ext uri="{FF2B5EF4-FFF2-40B4-BE49-F238E27FC236}">
                <a16:creationId xmlns:a16="http://schemas.microsoft.com/office/drawing/2014/main" id="{7735C86B-1096-4801-9F5E-915E2B2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3DD9A4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233D3F7-F238-4E84-8D0B-907A9D1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996AADF-86A0-405F-A2FF-15D53F8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真正标准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9E79C9B-DC2D-40CD-A6D2-6F129B6E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结果、轨迹、责任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三者同时成立</a:t>
            </a:r>
          </a:p>
        </p:txBody>
      </p:sp>
      <p:sp>
        <p:nvSpPr>
          <p:cNvPr id="42" name="箭头: 下 41">
            <a:extLst xmlns:a="http://schemas.openxmlformats.org/drawingml/2006/main">
              <a:ext uri="{FF2B5EF4-FFF2-40B4-BE49-F238E27FC236}">
                <a16:creationId xmlns:a16="http://schemas.microsoft.com/office/drawing/2014/main" id="{25FE7694-AA56-4E8F-826E-0CD14D66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76725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0655A"/>
          </a:solidFill>
          <a:ln xmlns:a="http://schemas.openxmlformats.org/drawingml/2006/main" w="0">
            <a:solidFill>
              <a:srgbClr val="F0655A"/>
            </a:solidFill>
            <a:prstDash val="solid"/>
          </a:ln>
        </p:spPr>
      </p:sp>
      <p:sp>
        <p:nvSpPr>
          <p:cNvPr id="43" name="pain-result">
            <a:extLst xmlns:a="http://schemas.openxmlformats.org/drawingml/2006/main">
              <a:ext uri="{FF2B5EF4-FFF2-40B4-BE49-F238E27FC236}">
                <a16:creationId xmlns:a16="http://schemas.microsoft.com/office/drawing/2014/main" id="{4361132F-8B6B-4CBE-BAF3-48C2F3B7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7391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E5C3B8-17BA-45E1-BDA5-26E53DF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815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本页只解决一个冲突：收到“直接把库存改成 100”后绕过服务层写数据库</a:t>
            </a:r>
          </a:p>
        </p:txBody>
      </p:sp>
    </p:spTree>
    <p:extLst>
      <p:ext uri="{BB962C8B-B14F-4D97-AF65-F5344CB8AC3E}">
        <p14:creationId xmlns:p14="http://schemas.microsoft.com/office/powerpoint/2010/main" val="11758373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BAFEFC-288E-470B-8D42-682E6C1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L02 · 先下注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5AA5E-B887-4B71-8F23-10D5D8E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100"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B877EC-8DF2-4AAF-B44A-5C03646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先判案：这条请求究竟该由谁拒绝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92C034C-3047-41F7-B4CC-67A042E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755DF-44D4-43F4-B156-492558B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336BB3-43E0-4268-BC29-3B04757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禁止改库存应写在哪一层？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BBA49C-1994-4151-AC29-0B918E4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写下当前判断与证据需求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DF288C2-BC0D-4CE9-8CAE-FA8A195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6C1981-B14E-4223-9BC5-36D756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E3B4B4-8B14-4051-8BC2-880EE3D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局部规则能放宽审批吗？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D3FCF4-352D-4B0B-807F-6D0621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写下反证条件与不变状态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674E1E49-229D-42E7-B1E5-D34050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DCDA55-7AC6-4A68-B946-C389FC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CB7241-6104-49F3-8C6F-2D36446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拒绝后怎样给合法路径？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0AFB9C8-1791-4744-8449-8744AAA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写下最大风险与责任边界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73ED5A-404E-4AD3-87F6-1A56B7C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第一次签字｜逐题提交：判断 + 依据 + 最大风险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7E870C8-D1FD-41C5-8FE1-63E25E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61C48A-7105-42B2-B3AF-CDB167C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课堂收件物：五段式仓库规则与 Memory 生命周期卡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1F0BDAD-7258-4A50-9F8F-63C9E62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先独立签字；提交后再进入 Markdown 查证</a:t>
            </a:r>
          </a:p>
        </p:txBody>
      </p:sp>
    </p:spTree>
    <p:extLst>
      <p:ext uri="{BB962C8B-B14F-4D97-AF65-F5344CB8AC3E}">
        <p14:creationId xmlns:p14="http://schemas.microsoft.com/office/powerpoint/2010/main" val="2069228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26F9A0-B29F-4E0A-9987-CB512DE8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L02 · 系统边界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BA6901-7757-4A21-8884-ABA304E8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AGENTS.md、Memory 与服务端权限各守一层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C754054-2851-4FF3-AE49-1F89FCA1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100"/>
          </a:p>
        </p:txBody>
      </p:sp>
      <p:sp>
        <p:nvSpPr>
          <p:cNvPr id="56" name="矩形: 圆角 55">
            <a:extLst xmlns:a="http://schemas.openxmlformats.org/drawingml/2006/main">
              <a:ext uri="{FF2B5EF4-FFF2-40B4-BE49-F238E27FC236}">
                <a16:creationId xmlns:a16="http://schemas.microsoft.com/office/drawing/2014/main" id="{2DEAC58F-0354-4825-B9C1-0E846242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54200"/>
            <a:ext cx="10287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910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BD8AF188-9F4C-4A9A-B9E4-86D37EE8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20256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23FE1FC5-803D-44ED-9219-00D4AFC9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20066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CONTEXT / 读什么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7BACE3E8-319F-4AA9-BFA5-1D3532BD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2006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当前事实、版本、来源与排除理由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A9068E2-6346-4315-A9A4-CDB10EF5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20066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AGENTS.md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0404E979-229A-427A-8D30-66B65127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25781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44A76E1A-21F1-413E-8E7D-8A4A6D81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26733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208EAB27-1832-47B1-A140-F3FC1CE1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26543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EXECUTION / 做什么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09F9CE4D-04EA-4E1B-868F-855FD93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2654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Agent 只执行有 Schema、有授权的动作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3724FA20-5883-4AE4-B559-AC49B02A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26543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Get-Content AGENTS.md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D8B81F2A-0452-4660-BCDA-CCD1AAF5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32258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566812C-BD40-4B82-856B-7E8A2AED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33210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2EF9B48-1E26-4F2B-A4B7-0EEC2B56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3020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CONTROL / 何时停</a:t>
            </a: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5EFB4FB9-DED8-453F-9918-5E8497C9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33020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长期规则写禁区、替代动作、验证命令和完成定义</a:t>
            </a: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CF3E4D23-C3B1-4B2D-82EB-2AE7C58C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3020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Harness · Loop · Graph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150EE3BD-7C9F-4187-BC12-B87757E8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38735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1049FDCD-5A54-4155-86A6-E5004DB9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39687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B10852D4-6CC0-4D12-AF49-B3C786D0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9497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CONNECTION / 接什么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A5D6F81-19D3-406F-87DD-52C321F7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3949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MCP 负责连接，Tool 负责一次动作</a:t>
            </a: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E7B22C23-93C2-44CD-8CD2-A133C0C8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9497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MCP · Tools · Router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8898851A-737E-492B-BE80-F5FCF9B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45212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F2F0ED34-2E85-4587-A8A6-EF2453A8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46164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14D16ED1-6EB8-45C6-9AAF-D290B12F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45974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MEMORY / 继承什么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40326985-E61B-46D2-87B6-B241D074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45974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Memory 是历史候选，AGENTS.md 也不能替代服务端权限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B35F83F9-F917-4A90-8870-9D4AC402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45974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来源 · Scope · 版本 · ACL</a:t>
            </a:r>
          </a:p>
        </p:txBody>
      </p:sp>
      <p:sp>
        <p:nvSpPr>
          <p:cNvPr id="81" name="矩形: 圆角 80">
            <a:extLst xmlns:a="http://schemas.openxmlformats.org/drawingml/2006/main">
              <a:ext uri="{FF2B5EF4-FFF2-40B4-BE49-F238E27FC236}">
                <a16:creationId xmlns:a16="http://schemas.microsoft.com/office/drawing/2014/main" id="{001F6FF1-3517-4D3A-ABC6-DE0EA79F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5407025"/>
            <a:ext cx="8763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66981A38-1429-4A2B-9F5A-404409A6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" y="54737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飞轮：五段式仓库规则与 Memory 生命周期卡 → 用 Spec 定义这一次具体要交付什么</a:t>
            </a:r>
          </a:p>
        </p:txBody>
      </p:sp>
    </p:spTree>
    <p:extLst>
      <p:ext uri="{BB962C8B-B14F-4D97-AF65-F5344CB8AC3E}">
        <p14:creationId xmlns:p14="http://schemas.microsoft.com/office/powerpoint/2010/main" val="5612127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04E8E9-5C7F-4A0B-ABC6-0A406DF2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L02 · 仓库落点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147F4A-696F-4FDE-978A-60C84F28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760"/>
              </a:lnSpc>
              <a:buNone/>
            </a:pPr>
            <a:r>
              <a:rPr sz="24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长期规则必须落在会被版本控制的位置</a:t>
            </a:r>
            <a:endParaRPr sz="2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E9941A7-3BEA-4C8F-AE3B-6CAA362A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100"/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05010127-3782-4E28-9C51-2E5ACC11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66800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7D47B4F-91B2-413E-BB57-D0D920C1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PROJECT_TREE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B8C2932-F126-4C62-9B8F-D0CE7359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├─ AGENTS.md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50D5F59-EFDE-40E1-8493-B45177EB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项目目标、目录边界与 DoD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0DE79F8-709C-4B6E-A2BF-2BDECE0B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├─ flowerp/services.py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8C4F656-DB40-4CE6-849B-41AB602D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194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业务规则真正执行位置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E62AB7A-E90C-45F6-AD2B-CFF47F80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├─ tests/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FAE433D-F92B-403F-9D91-7A340108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正常路径与失败路径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CAD0F94-2375-4000-B0E8-9D02F40A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├─ eval/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16ABD63-19AB-4BC4-84C8-BB399BD2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052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不可绕过的质量入口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FD9E929-541B-4D6D-99FF-D3CB0A94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└─ Memory Asset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2C61BD5-CDD7-41A7-B77F-894BE2D8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482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带来源、Scope、版本和证据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F0D623D-328E-4722-9581-0A901718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19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B82331DA-75B9-4B48-A708-E2089FDB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976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COMMAND // Get-Content AGENTS.md  ·  PROOF // 越权请求被阻断且给出合法替代路径</a:t>
            </a:r>
          </a:p>
        </p:txBody>
      </p:sp>
    </p:spTree>
    <p:extLst>
      <p:ext uri="{BB962C8B-B14F-4D97-AF65-F5344CB8AC3E}">
        <p14:creationId xmlns:p14="http://schemas.microsoft.com/office/powerpoint/2010/main" val="5275651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7D5079-CC1B-469C-8ABA-E592A3C3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L02 · 规则法庭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EDE8A0-34ED-48C3-9FE6-D819C697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" y="948296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规则从口号变成五段式可执行合同</a:t>
            </a:r>
            <a:endParaRPr sz="3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58FF44B-83AF-4886-85A5-B589C67E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100"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21AC50A-5A80-43CA-AFDE-D411F4F6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619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32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只在作者脑中</a:t>
            </a:r>
          </a:p>
        </p:txBody>
      </p:sp>
      <p:sp>
        <p:nvSpPr>
          <p:cNvPr id="14" name="箭头: 右 13">
            <a:extLst xmlns:a="http://schemas.openxmlformats.org/drawingml/2006/main">
              <a:ext uri="{FF2B5EF4-FFF2-40B4-BE49-F238E27FC236}">
                <a16:creationId xmlns:a16="http://schemas.microsoft.com/office/drawing/2014/main" id="{5B068980-2C15-4164-AC23-6A96C3FB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9525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0E15024E-A449-424A-98BA-B4E7001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81200"/>
            <a:ext cx="3048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79DCF79-DB1E-4336-8775-60639D6F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145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控制位置迁移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0FB5D26-1E6B-430A-AA74-00980AEF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03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写入版本化仓库 → 给出合法替代</a:t>
            </a:r>
          </a:p>
        </p:txBody>
      </p:sp>
      <p:sp>
        <p:nvSpPr>
          <p:cNvPr id="18" name="箭头: 右 17">
            <a:extLst xmlns:a="http://schemas.openxmlformats.org/drawingml/2006/main">
              <a:ext uri="{FF2B5EF4-FFF2-40B4-BE49-F238E27FC236}">
                <a16:creationId xmlns:a16="http://schemas.microsoft.com/office/drawing/2014/main" id="{D2D93868-5D9B-4619-9DFD-E046F85B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81250"/>
            <a:ext cx="9525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3DBE9C3-E2B7-4378-84D6-5C202BD7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619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DoD + Eval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C04C5F0-9576-4A91-A1A8-0704FF43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D10493-8ADB-4723-920D-DC380619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861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定义 / Contract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9BAF19C-ED9E-4B6C-AA3A-3FC201E2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975E80F-3C6D-4A24-AE2C-5FB380E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861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执行 / Control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F3F7675-CF02-4572-8703-0F01AA33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DD70B61-4263-4029-BE60-A3A78456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861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失败 / Evidence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1ACF70D-7170-4499-9883-FB9FD320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AAD40B8-4023-4DE4-BA22-C246DDE0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交接 / Handoff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BAC7070-A5BD-4C3D-A197-E0129799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88CDCFB-A083-41F5-A381-895B4F4D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旧的安全感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30D64E0-6F23-46E8-8472-0B56625E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577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口头约定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只在作者脑中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37B404F-929A-4F08-A61B-01026647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专业能力迁移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8E3213B-BE32-4894-8A9E-F0761CC6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577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禁止命令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给出合法替代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5283840A-C87C-4F39-B43D-97714CDB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可扩展地负责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9567FC0-75E3-42B0-B2B2-B463661B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577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完成判断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DoD + Eval</a:t>
            </a:r>
          </a:p>
        </p:txBody>
      </p:sp>
    </p:spTree>
    <p:extLst>
      <p:ext uri="{BB962C8B-B14F-4D97-AF65-F5344CB8AC3E}">
        <p14:creationId xmlns:p14="http://schemas.microsoft.com/office/powerpoint/2010/main" val="7099640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L02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审计轨迹证明请求走了哪条合法路径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FlowERP 审计页展示可以追溯的操作记录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a5082b65346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378ec8275486b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99AA67-CE21-4B00-8222-B562A4EF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L02 · 责任交接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22D159-3DEA-4060-B4F8-3C06451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规则文件不能替人审批，也不能替服务授权</a:t>
            </a:r>
            <a:endParaRPr sz="3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232DC4-36FC-491D-9833-0065D02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100"/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139C70E3-9411-4086-A208-EDA12B99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553A0C0-2141-4066-8E22-BDB837E8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07F32F1-495D-4A4D-9C48-C0A8166E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Agent / Codex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F357699-105D-4099-8AAA-AF24453E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764A5FCE-FA05-4D0C-84F4-77EBF461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427D402-8C23-4E1A-80B6-6B12B5C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理解上下文并执行 Get-Content AGENTS.md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ABCA02B5-8D84-43BC-A44B-EE0DDC9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BA01E53-3EAE-4F23-AEA3-3D100B6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越过：长期规则写禁区、替代动作、验证命令和完成定义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21D7BB11-E453-4B76-8C1C-C470FA4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574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236B350-1335-4920-BA80-9F216DDD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AGENTS.md</a:t>
            </a: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4AE4A8EC-2BE8-4370-B283-AECE5E19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CB6EB17-EA51-4F76-9806-E4BE219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C37F5E77-32DD-4B37-B7DE-88E1F38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Eval / Harness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45B5A22-A6FF-4A01-A994-4CD48145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988FFA7-33E0-48A5-B41F-F8E8C241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18E55BB2-0842-46B6-A3D7-8948FF4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验证：越权请求被阻断且给出合法替代路径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5D2BF47C-2E34-432C-9C22-347F5C58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79FB1BFE-17C1-4676-A9D6-5453F36C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为通过而降低断言</a:t>
            </a: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66326AB6-1ED3-4BA6-BA89-BF9E0D7A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1945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3D1675A-3787-4DC8-824F-68E04602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766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tests/</a:t>
            </a: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D5BF2E91-52CE-4830-9FA5-FBAC77F0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24C4EA3F-B149-40CE-A9F5-71D02D29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34CAA4E-A0F2-43FB-9B83-A5100A33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具名审核人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89F21E8-147F-485E-97C1-94437D46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3F95441-916B-47D0-BFBF-E97970E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728C24C0-78E6-4249-94EE-AF93721F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确认业务结果、权限与剩余风险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FDD170A-7708-4F63-A8FF-10F8D6F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DCD4CB6-F5C8-4A26-810D-CD3EE83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把最终责任交给模型</a:t>
            </a:r>
          </a:p>
        </p:txBody>
      </p:sp>
      <p:sp>
        <p:nvSpPr>
          <p:cNvPr id="67" name="圆角矩形 66">
            <a:extLst xmlns:a="http://schemas.openxmlformats.org/drawingml/2006/main">
              <a:ext uri="{FF2B5EF4-FFF2-40B4-BE49-F238E27FC236}">
                <a16:creationId xmlns:a16="http://schemas.microsoft.com/office/drawing/2014/main" id="{59EBEE09-19BE-40BC-817B-D7DEFD9A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815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CC489E74-D14C-4562-ADEC-93AC9A4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386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批准 / 打回</a:t>
            </a: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1F0DEDF2-4E95-4CAE-B701-ED2235AC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3E57FB9-2D67-40A8-AF8B-A3F4799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共同前提：Memory 是历史候选，AGENTS.md 也不能替代服务端权限</a:t>
            </a:r>
          </a:p>
        </p:txBody>
      </p:sp>
    </p:spTree>
    <p:extLst>
      <p:ext uri="{BB962C8B-B14F-4D97-AF65-F5344CB8AC3E}">
        <p14:creationId xmlns:p14="http://schemas.microsoft.com/office/powerpoint/2010/main" val="1036215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L02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采购入库只有具名批准才能跨过业务守卫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真实项目：审计日志把操作者、动作、对象和请求身份放在同一张证据表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10cfffcbc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acfbd5a1d4699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CC39F9-06BD-4D9E-8547-6BB8C833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L02 · 现场验收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2E65F8-BBBD-4F59-87CE-099D71C3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过期经验必须被拒绝，而不是被‘记住’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8E3434E-39A1-49C3-AFBA-3F091516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100"/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1BDD3D7F-1DDE-490F-918D-ECD843C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71512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4111CB2-8C76-44C5-A778-C30CD863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CHECK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5258C7E-E891-4356-AE97-7E334665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C705395-FE40-4557-951A-0D577B51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找到昂贵不变量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EB5E61C-A042-4A03-8E89-49B7706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1D7A947-CDE6-4E19-83D8-72C9C2F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289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声明目录与作用域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00C0765-7C68-431F-9A41-591FE4BF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11A5CFA-B687-4774-800C-DA127E6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385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写允许与禁止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B5936CF-014D-4BC8-94E0-F48E413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[+]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6F9721-6923-4803-8ECB-4D73EA4C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481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绑定验证命令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BE6521D-D235-463F-AA4A-26D339DD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90319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READY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6F3120C-733D-429A-A39E-BBC00AF1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33319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08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五段式仓库规则与 Memory 生命周期卡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B0BE1F0-AC1F-4607-9D4C-7C70FF10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476244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必须现场运行、记录退出码并保留失败后状态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9137D3F-C9D6-45DE-A5CC-512F90FC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069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课末 10 分钟抽查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787E721-5D62-4094-871B-E09D861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09669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命令 → Get-Content AGENTS.md</a:t>
            </a:r>
          </a:p>
        </p:txBody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49A5FC80-82A3-46C5-9EFA-5744EB8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66869"/>
            <a:ext cx="3524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D0A12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6190CC5-B394-483D-A8AF-533286C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119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不通过 → Memory 是历史候选，AGENTS.md 也不能替代服务端权限</a:t>
            </a:r>
          </a:p>
        </p:txBody>
      </p:sp>
    </p:spTree>
    <p:extLst>
      <p:ext uri="{BB962C8B-B14F-4D97-AF65-F5344CB8AC3E}">
        <p14:creationId xmlns:p14="http://schemas.microsoft.com/office/powerpoint/2010/main" val="210514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41BC08-5D61-40A1-98D1-F2600CF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L02 · 阻断级验收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5A0A4F-C656-49BB-94A8-2509CE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越界请求被挡住后，还要给出安全替代动作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4CDEAD-63AB-4B62-90D8-B86CB04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91" y="148894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同一条规则必须用红灯和绿灯同时证明：长期规则写禁区、替代动作、验证命令和完成定义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B4CF20-E93B-4121-B8EA-EA8C5B4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12C8D89-EC20-4183-8D75-1C2B6437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076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QUALITY GATE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4498A07D-346D-4481-8EE1-DAE381D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2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A25E112-6698-4315-A4DC-00E73E7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5717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F22F415-E353-4516-AC3A-7232DD59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333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已知错误实现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76F03DD-48AB-4517-A3BD-E10A689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714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收到“直接把库存改成 100”后绕过
服务层写数据库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E7EA0EA-F663-44DB-AD3E-A36D704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2291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失败后不变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026545D-3980-427A-B773-1996CB0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610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9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Memory 是历史候选，AGENTS.md 也不能替…</a:t>
            </a:r>
          </a:p>
        </p:txBody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F88547CD-01F1-4CB4-AA67-85DA3A3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543300"/>
            <a:ext cx="1000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888E2C37-60B0-4ABF-A70C-F7A9F9B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229947A-54AF-421C-BC69-5FDB678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2571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PASS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9D1BD19-CD60-4C20-9816-171A88A8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333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独立 Harness 报告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000D149-0EFA-41F6-872D-5EE1C3E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714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越权请求被阻断且给出合法替代路径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CA92560-14DC-4599-928C-439B379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22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具名验收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6305971-15D4-4EF4-A044-B87047E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61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五段式仓库规则与 Memory 生命周期卡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F12E0E4-F414-47A0-9044-6B739EE1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570" y="5429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只有 PASS + 证据 + 责任人才能进入下一状态</a:t>
            </a:r>
          </a:p>
        </p:txBody>
      </p:sp>
    </p:spTree>
    <p:extLst>
      <p:ext uri="{BB962C8B-B14F-4D97-AF65-F5344CB8AC3E}">
        <p14:creationId xmlns:p14="http://schemas.microsoft.com/office/powerpoint/2010/main" val="6522579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29E6BA-B309-4E97-84D0-59EF312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12</a:t>
            </a:r>
            <a:endParaRPr sz="1100"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6A529E-4523-4E21-B8B0-990A0FE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1885950"/>
            <a:ext cx="7800975" cy="2843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第二次签字：是否改判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→ 打开 VS Code</a:t>
            </a:r>
          </a:p>
        </p:txBody>
      </p:sp>
    </p:spTree>
    <p:extLst>
      <p:ext uri="{BB962C8B-B14F-4D97-AF65-F5344CB8AC3E}">
        <p14:creationId xmlns:p14="http://schemas.microsoft.com/office/powerpoint/2010/main" val="14759078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2026-09-01T07:15:56.9560000Z</dcterms:created>
  <dcterms:modified xsi:type="dcterms:W3CDTF">2026-09-01T07:15:56.9560000Z</dcterms:modified>
</coreProperties>
</file>