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e2bed7c51814f26" /><Relationship Type="http://schemas.openxmlformats.org/officeDocument/2006/relationships/extended-properties" Target="/docProps/app.xml" Id="R018339c6541e48cd" /><Relationship Type="http://schemas.openxmlformats.org/officeDocument/2006/relationships/officeDocument" Target="/ppt/presentation.xml" Id="R2e92bb704a2141b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47d319279174b5d"/>
  </p:sldMasterIdLst>
  <p:notesMasterIdLst>
    <p:notesMasterId xmlns:r="http://schemas.openxmlformats.org/officeDocument/2006/relationships" r:id="R937f44f8a73943b4"/>
  </p:notesMasterIdLst>
  <p:sldIdLst>
    <p:sldId xmlns:r="http://schemas.openxmlformats.org/officeDocument/2006/relationships" id="256" r:id="R29fab3b544954bc9"/>
    <p:sldId xmlns:r="http://schemas.openxmlformats.org/officeDocument/2006/relationships" id="257" r:id="Rdb0bcd7d2c1448a9"/>
    <p:sldId xmlns:r="http://schemas.openxmlformats.org/officeDocument/2006/relationships" id="258" r:id="R19180701271d4eca"/>
    <p:sldId xmlns:r="http://schemas.openxmlformats.org/officeDocument/2006/relationships" id="259" r:id="R0dd97becd16d412d"/>
    <p:sldId xmlns:r="http://schemas.openxmlformats.org/officeDocument/2006/relationships" id="260" r:id="R0b7a8d5d38a64b59"/>
    <p:sldId xmlns:r="http://schemas.openxmlformats.org/officeDocument/2006/relationships" id="261" r:id="Rd8dbb316246e496b"/>
    <p:sldId xmlns:r="http://schemas.openxmlformats.org/officeDocument/2006/relationships" id="262" r:id="Rb21bb73780ce46d4"/>
    <p:sldId xmlns:r="http://schemas.openxmlformats.org/officeDocument/2006/relationships" id="263" r:id="R607d3ab0770b4ad6"/>
    <p:sldId xmlns:r="http://schemas.openxmlformats.org/officeDocument/2006/relationships" id="264" r:id="R36488361ca60415f"/>
    <p:sldId xmlns:r="http://schemas.openxmlformats.org/officeDocument/2006/relationships" id="265" r:id="Raefeeb2b96854dd9"/>
    <p:sldId xmlns:r="http://schemas.openxmlformats.org/officeDocument/2006/relationships" id="266" r:id="Re60f215798ff410d"/>
    <p:sldId xmlns:r="http://schemas.openxmlformats.org/officeDocument/2006/relationships" id="267" r:id="R11ba8131750d48af"/>
    <p:sldId xmlns:r="http://schemas.openxmlformats.org/officeDocument/2006/relationships" id="268" r:id="Rcf650c008f514ea1"/>
    <p:sldId xmlns:r="http://schemas.openxmlformats.org/officeDocument/2006/relationships" id="269" r:id="R8ef172d96edd485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6d09e8007904fa1" /><Relationship Type="http://schemas.openxmlformats.org/officeDocument/2006/relationships/slideMaster" Target="/ppt/slideMasters/slideMaster1.xml" Id="Re47d319279174b5d" /><Relationship Type="http://schemas.openxmlformats.org/officeDocument/2006/relationships/notesMaster" Target="/ppt/notesMasters/notesMaster1.xml" Id="R937f44f8a73943b4" /><Relationship Type="http://schemas.openxmlformats.org/officeDocument/2006/relationships/presProps" Target="/ppt/presProps.xml" Id="Re1c21b4cdf4647dd" /><Relationship Type="http://schemas.openxmlformats.org/officeDocument/2006/relationships/viewProps" Target="/ppt/viewProps.xml" Id="Ra7804b1034834e3c" /><Relationship Type="http://schemas.openxmlformats.org/officeDocument/2006/relationships/tableStyles" Target="/ppt/tableStyles.xml" Id="Re68776fc26414cd0" /><Relationship Type="http://schemas.openxmlformats.org/officeDocument/2006/relationships/slide" Target="/ppt/slides/slide1.xml" Id="R29fab3b544954bc9" /><Relationship Type="http://schemas.openxmlformats.org/officeDocument/2006/relationships/slide" Target="/ppt/slides/slide2.xml" Id="Rdb0bcd7d2c1448a9" /><Relationship Type="http://schemas.openxmlformats.org/officeDocument/2006/relationships/slide" Target="/ppt/slides/slide3.xml" Id="R19180701271d4eca" /><Relationship Type="http://schemas.openxmlformats.org/officeDocument/2006/relationships/slide" Target="/ppt/slides/slide4.xml" Id="R0dd97becd16d412d" /><Relationship Type="http://schemas.openxmlformats.org/officeDocument/2006/relationships/slide" Target="/ppt/slides/slide5.xml" Id="R0b7a8d5d38a64b59" /><Relationship Type="http://schemas.openxmlformats.org/officeDocument/2006/relationships/slide" Target="/ppt/slides/slide6.xml" Id="Rd8dbb316246e496b" /><Relationship Type="http://schemas.openxmlformats.org/officeDocument/2006/relationships/slide" Target="/ppt/slides/slide7.xml" Id="Rb21bb73780ce46d4" /><Relationship Type="http://schemas.openxmlformats.org/officeDocument/2006/relationships/slide" Target="/ppt/slides/slide8.xml" Id="R607d3ab0770b4ad6" /><Relationship Type="http://schemas.openxmlformats.org/officeDocument/2006/relationships/slide" Target="/ppt/slides/slide9.xml" Id="R36488361ca60415f" /><Relationship Type="http://schemas.openxmlformats.org/officeDocument/2006/relationships/slide" Target="/ppt/slides/slide10.xml" Id="Raefeeb2b96854dd9" /><Relationship Type="http://schemas.openxmlformats.org/officeDocument/2006/relationships/slide" Target="/ppt/slides/slide11.xml" Id="Re60f215798ff410d" /><Relationship Type="http://schemas.openxmlformats.org/officeDocument/2006/relationships/slide" Target="/ppt/slides/slide12.xml" Id="R11ba8131750d48af" /><Relationship Type="http://schemas.openxmlformats.org/officeDocument/2006/relationships/slide" Target="/ppt/slides/slide13.xml" Id="Rcf650c008f514ea1" /><Relationship Type="http://schemas.openxmlformats.org/officeDocument/2006/relationships/slide" Target="/ppt/slides/slide14.xml" Id="R8ef172d96edd485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6622bacd62f44f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ef1217414774ef1" /><Relationship Type="http://schemas.openxmlformats.org/officeDocument/2006/relationships/notesMaster" Target="/ppt/notesMasters/notesMaster1.xml" Id="R59831e9d51b3449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6af66e9af4c4f34" /><Relationship Type="http://schemas.openxmlformats.org/officeDocument/2006/relationships/notesMaster" Target="/ppt/notesMasters/notesMaster1.xml" Id="R0a15b65f30484ce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44c48ad25ff461c" /><Relationship Type="http://schemas.openxmlformats.org/officeDocument/2006/relationships/notesMaster" Target="/ppt/notesMasters/notesMaster1.xml" Id="Rf4cdb8e9f9d6450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9fde6c3e5bf4c71" /><Relationship Type="http://schemas.openxmlformats.org/officeDocument/2006/relationships/notesMaster" Target="/ppt/notesMasters/notesMaster1.xml" Id="Re3b8e7680b1049c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2d5a9555a624e1e" /><Relationship Type="http://schemas.openxmlformats.org/officeDocument/2006/relationships/notesMaster" Target="/ppt/notesMasters/notesMaster1.xml" Id="R22783ba7146f472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67c178a8b7d44fe" /><Relationship Type="http://schemas.openxmlformats.org/officeDocument/2006/relationships/notesMaster" Target="/ppt/notesMasters/notesMaster1.xml" Id="R4ca715cb36eb401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44b14d6746c4206" /><Relationship Type="http://schemas.openxmlformats.org/officeDocument/2006/relationships/notesMaster" Target="/ppt/notesMasters/notesMaster1.xml" Id="Ra26c052af040413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025380c1e5743e9" /><Relationship Type="http://schemas.openxmlformats.org/officeDocument/2006/relationships/notesMaster" Target="/ppt/notesMasters/notesMaster1.xml" Id="R44bd3251403640b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e96469e043b41b8" /><Relationship Type="http://schemas.openxmlformats.org/officeDocument/2006/relationships/notesMaster" Target="/ppt/notesMasters/notesMaster1.xml" Id="Rf185c39afd7d453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c010870001c4208" /><Relationship Type="http://schemas.openxmlformats.org/officeDocument/2006/relationships/notesMaster" Target="/ppt/notesMasters/notesMaster1.xml" Id="R76ce983a18d5429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531eb32d3144eb0" /><Relationship Type="http://schemas.openxmlformats.org/officeDocument/2006/relationships/notesMaster" Target="/ppt/notesMasters/notesMaster1.xml" Id="R4ca28e3255a141a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f4fc83022ca4fff" /><Relationship Type="http://schemas.openxmlformats.org/officeDocument/2006/relationships/notesMaster" Target="/ppt/notesMasters/notesMaster1.xml" Id="R01055f9cd7ea45d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5a552aaada44c8c" /><Relationship Type="http://schemas.openxmlformats.org/officeDocument/2006/relationships/notesMaster" Target="/ppt/notesMasters/notesMaster1.xml" Id="Rd3f17e84ba5f40b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6450002560d4332" /><Relationship Type="http://schemas.openxmlformats.org/officeDocument/2006/relationships/notesMaster" Target="/ppt/notesMasters/notesMaster1.xml" Id="Re5fd0d89aba749c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课堂类型：外科手术</a:t>
            </a:r>
          </a:p>
          <a:p xmlns:a="http://schemas.openxmlformats.org/drawingml/2006/main">
            <a:r>
              <a:t>本页判断：委托 Codex 执行一次最小变更</a:t>
            </a:r>
            <a:endParaRPr/>
          </a:p>
          <a:p xmlns:a="http://schemas.openxmlformats.org/drawingml/2006/main">
            <a:r>
              <a:t>课程主线：固定 Spec，只授权一个低库存切片，用写集、Diff 与独立复验控制因果半径</a:t>
            </a:r>
          </a:p>
          <a:p xmlns:a="http://schemas.openxmlformats.org/drawingml/2006/main">
            <a:r>
              <a:t>讲授动作：先让学员判断，再运行真实命令或核对权威状态。</a:t>
            </a:r>
          </a:p>
          <a:p xmlns:a="http://schemas.openxmlformats.org/drawingml/2006/main">
            <a:r>
              <a:t>停顿点：学生能说明本页证据如何改变判断后再继续。</a:t>
            </a:r>
          </a:p>
          <a:p xmlns:a="http://schemas.openxmlformats.org/drawingml/2006/main">
            <a:r>
              <a:t>交接物：本页判断、证据缺口或运行产物。</a:t>
            </a:r>
          </a:p>
          <a:p xmlns:a="http://schemas.openxmlformats.org/drawingml/2006/main">
            <a:r>
              <a:t>验证入口：python -X utf8 -m workbench.cli task run TASK-ID</a:t>
            </a:r>
          </a:p>
          <a:p xmlns:a="http://schemas.openxmlformats.org/drawingml/2006/main">
            <a:r>
              <a:t>边界：Tool 能做什么不等于 Agent 被授权做什么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D:\work\CodexFDE\docs\courses\L04-委托Codex执行一次最小变更.md</a:t>
            </a:r>
          </a:p>
          <a:p xmlns:a="http://schemas.openxmlformats.org/drawingml/2006/main">
            <a:r>
              <a:t>- D:\work\CodexFDE\course\tasks\L04-Codex最小变更.md</a:t>
            </a:r>
          </a:p>
          <a:p xmlns:a="http://schemas.openxmlformats.org/drawingml/2006/main">
            <a:r>
              <a:t>- D:\work\CodexFDE\AGENTS.md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课堂类型：外科手术</a:t>
            </a:r>
          </a:p>
          <a:p xmlns:a="http://schemas.openxmlformats.org/drawingml/2006/main">
            <a:r>
              <a:t>本页判断：能改很多，不等于能解释为什么改对</a:t>
            </a:r>
            <a:endParaRPr/>
          </a:p>
          <a:p xmlns:a="http://schemas.openxmlformats.org/drawingml/2006/main">
            <a:r>
              <a:t>课程主线：固定 Spec，只授权一个低库存切片，用写集、Diff 与独立复验控制因果半径</a:t>
            </a:r>
          </a:p>
          <a:p xmlns:a="http://schemas.openxmlformats.org/drawingml/2006/main">
            <a:r>
              <a:t>讲授动作：先让学员判断，再运行真实命令或核对权威状态。</a:t>
            </a:r>
          </a:p>
          <a:p xmlns:a="http://schemas.openxmlformats.org/drawingml/2006/main">
            <a:r>
              <a:t>停顿点：学生能说明本页证据如何改变判断后再继续。</a:t>
            </a:r>
          </a:p>
          <a:p xmlns:a="http://schemas.openxmlformats.org/drawingml/2006/main">
            <a:r>
              <a:t>交接物：本页判断、证据缺口或运行产物。</a:t>
            </a:r>
          </a:p>
          <a:p xmlns:a="http://schemas.openxmlformats.org/drawingml/2006/main">
            <a:r>
              <a:t>验证入口：python -X utf8 -m workbench.cli task run TASK-ID</a:t>
            </a:r>
          </a:p>
          <a:p xmlns:a="http://schemas.openxmlformats.org/drawingml/2006/main">
            <a:r>
              <a:t>边界：Tool 能做什么不等于 Agent 被授权做什么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D:\work\CodexFDE\docs\courses\L04-委托Codex执行一次最小变更.md</a:t>
            </a:r>
          </a:p>
          <a:p xmlns:a="http://schemas.openxmlformats.org/drawingml/2006/main">
            <a:r>
              <a:t>- D:\work\CodexFDE\course\tasks\L04-Codex最小变更.md</a:t>
            </a:r>
          </a:p>
          <a:p xmlns:a="http://schemas.openxmlformats.org/drawingml/2006/main">
            <a:r>
              <a:t>- D:\work\CodexFDE\AGENTS.md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课堂类型：外科手术</a:t>
            </a:r>
          </a:p>
          <a:p xmlns:a="http://schemas.openxmlformats.org/drawingml/2006/main">
            <a:r>
              <a:t>本页判断：先签字，再看方法</a:t>
            </a:r>
            <a:endParaRPr/>
          </a:p>
          <a:p xmlns:a="http://schemas.openxmlformats.org/drawingml/2006/main">
            <a:r>
              <a:t>课程主线：固定 Spec，只授权一个低库存切片，用写集、Diff 与独立复验控制因果半径</a:t>
            </a:r>
          </a:p>
          <a:p xmlns:a="http://schemas.openxmlformats.org/drawingml/2006/main">
            <a:r>
              <a:t>讲授动作：读完三项裁决问题后停止翻页，不显示方法答案。</a:t>
            </a:r>
          </a:p>
          <a:p xmlns:a="http://schemas.openxmlformats.org/drawingml/2006/main">
            <a:r>
              <a:t>停顿点：收齐“选择 + 依据 + 最大风险”的第一次签字后再继续。</a:t>
            </a:r>
          </a:p>
          <a:p xmlns:a="http://schemas.openxmlformats.org/drawingml/2006/main">
            <a:r>
              <a:t>交接物：第一次签字。</a:t>
            </a:r>
          </a:p>
          <a:p xmlns:a="http://schemas.openxmlformats.org/drawingml/2006/main">
            <a:r>
              <a:t>验证入口：python -X utf8 -m workbench.cli task run TASK-ID</a:t>
            </a:r>
          </a:p>
          <a:p xmlns:a="http://schemas.openxmlformats.org/drawingml/2006/main">
            <a:r>
              <a:t>边界：Tool 能做什么不等于 Agent 被授权做什么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D:\work\CodexFDE\docs\courses\L04-委托Codex执行一次最小变更.md</a:t>
            </a:r>
          </a:p>
          <a:p xmlns:a="http://schemas.openxmlformats.org/drawingml/2006/main">
            <a:r>
              <a:t>- D:\work\CodexFDE\course\tasks\L04-Codex最小变更.md</a:t>
            </a:r>
          </a:p>
          <a:p xmlns:a="http://schemas.openxmlformats.org/drawingml/2006/main">
            <a:r>
              <a:t>- D:\work\CodexFDE\AGENTS.md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课堂类型：外科手术</a:t>
            </a:r>
          </a:p>
          <a:p xmlns:a="http://schemas.openxmlformats.org/drawingml/2006/main">
            <a:r>
              <a:t>本页判断：最小变更从冻结合同开始，而不是从写代码开始</a:t>
            </a:r>
            <a:endParaRPr/>
          </a:p>
          <a:p xmlns:a="http://schemas.openxmlformats.org/drawingml/2006/main">
            <a:r>
              <a:t>课程主线：固定 Spec，只授权一个低库存切片，用写集、Diff 与独立复验控制因果半径</a:t>
            </a:r>
          </a:p>
          <a:p xmlns:a="http://schemas.openxmlformats.org/drawingml/2006/main">
            <a:r>
              <a:t>讲授动作：先让学员判断，再运行真实命令或核对权威状态。</a:t>
            </a:r>
          </a:p>
          <a:p xmlns:a="http://schemas.openxmlformats.org/drawingml/2006/main">
            <a:r>
              <a:t>停顿点：学生能说明本页证据如何改变判断后再继续。</a:t>
            </a:r>
          </a:p>
          <a:p xmlns:a="http://schemas.openxmlformats.org/drawingml/2006/main">
            <a:r>
              <a:t>交接物：本页判断、证据缺口或运行产物。</a:t>
            </a:r>
          </a:p>
          <a:p xmlns:a="http://schemas.openxmlformats.org/drawingml/2006/main">
            <a:r>
              <a:t>验证入口：python -X utf8 -m workbench.cli task run TASK-ID</a:t>
            </a:r>
          </a:p>
          <a:p xmlns:a="http://schemas.openxmlformats.org/drawingml/2006/main">
            <a:r>
              <a:t>边界：Tool 能做什么不等于 Agent 被授权做什么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D:\work\CodexFDE\docs\courses\L04-委托Codex执行一次最小变更.md</a:t>
            </a:r>
          </a:p>
          <a:p xmlns:a="http://schemas.openxmlformats.org/drawingml/2006/main">
            <a:r>
              <a:t>- D:\work\CodexFDE\course\tasks\L04-Codex最小变更.md</a:t>
            </a:r>
          </a:p>
          <a:p xmlns:a="http://schemas.openxmlformats.org/drawingml/2006/main">
            <a:r>
              <a:t>- D:\work\CodexFDE\AGENTS.md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课堂类型：外科手术</a:t>
            </a:r>
          </a:p>
          <a:p xmlns:a="http://schemas.openxmlformats.org/drawingml/2006/main">
            <a:r>
              <a:t>本页判断：Prompt、Context、MCP、Tool、Agent 与 Router 不能混用</a:t>
            </a:r>
            <a:endParaRPr/>
          </a:p>
          <a:p xmlns:a="http://schemas.openxmlformats.org/drawingml/2006/main">
            <a:r>
              <a:t>课程主线：固定 Spec，只授权一个低库存切片，用写集、Diff 与独立复验控制因果半径</a:t>
            </a:r>
          </a:p>
          <a:p xmlns:a="http://schemas.openxmlformats.org/drawingml/2006/main">
            <a:r>
              <a:t>讲授动作：先让学员判断，再运行真实命令或核对权威状态。</a:t>
            </a:r>
          </a:p>
          <a:p xmlns:a="http://schemas.openxmlformats.org/drawingml/2006/main">
            <a:r>
              <a:t>停顿点：学生能说明本页证据如何改变判断后再继续。</a:t>
            </a:r>
          </a:p>
          <a:p xmlns:a="http://schemas.openxmlformats.org/drawingml/2006/main">
            <a:r>
              <a:t>交接物：本页判断、证据缺口或运行产物。</a:t>
            </a:r>
          </a:p>
          <a:p xmlns:a="http://schemas.openxmlformats.org/drawingml/2006/main">
            <a:r>
              <a:t>验证入口：python -X utf8 -m workbench.cli task run TASK-ID</a:t>
            </a:r>
          </a:p>
          <a:p xmlns:a="http://schemas.openxmlformats.org/drawingml/2006/main">
            <a:r>
              <a:t>边界：Tool 能做什么不等于 Agent 被授权做什么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D:\work\CodexFDE\docs\courses\L04-委托Codex执行一次最小变更.md</a:t>
            </a:r>
          </a:p>
          <a:p xmlns:a="http://schemas.openxmlformats.org/drawingml/2006/main">
            <a:r>
              <a:t>- D:\work\CodexFDE\course\tasks\L04-Codex最小变更.md</a:t>
            </a:r>
          </a:p>
          <a:p xmlns:a="http://schemas.openxmlformats.org/drawingml/2006/main">
            <a:r>
              <a:t>- D:\work\CodexFDE\AGENTS.md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课堂类型：外科手术</a:t>
            </a:r>
          </a:p>
          <a:p xmlns:a="http://schemas.openxmlformats.org/drawingml/2006/main">
            <a:r>
              <a:t>本页判断：执行信封把写入白名单、超时和验证命令写死</a:t>
            </a:r>
            <a:endParaRPr/>
          </a:p>
          <a:p xmlns:a="http://schemas.openxmlformats.org/drawingml/2006/main">
            <a:r>
              <a:t>课程主线：固定 Spec，只授权一个低库存切片，用写集、Diff 与独立复验控制因果半径</a:t>
            </a:r>
          </a:p>
          <a:p xmlns:a="http://schemas.openxmlformats.org/drawingml/2006/main">
            <a:r>
              <a:t>讲授动作：先让学员判断，再运行真实命令或核对权威状态。</a:t>
            </a:r>
          </a:p>
          <a:p xmlns:a="http://schemas.openxmlformats.org/drawingml/2006/main">
            <a:r>
              <a:t>停顿点：学生能说明本页证据如何改变判断后再继续。</a:t>
            </a:r>
          </a:p>
          <a:p xmlns:a="http://schemas.openxmlformats.org/drawingml/2006/main">
            <a:r>
              <a:t>交接物：本页判断、证据缺口或运行产物。</a:t>
            </a:r>
          </a:p>
          <a:p xmlns:a="http://schemas.openxmlformats.org/drawingml/2006/main">
            <a:r>
              <a:t>验证入口：python -X utf8 -m workbench.cli task run TASK-ID</a:t>
            </a:r>
          </a:p>
          <a:p xmlns:a="http://schemas.openxmlformats.org/drawingml/2006/main">
            <a:r>
              <a:t>边界：Tool 能做什么不等于 Agent 被授权做什么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D:\work\CodexFDE\docs\courses\L04-委托Codex执行一次最小变更.md</a:t>
            </a:r>
          </a:p>
          <a:p xmlns:a="http://schemas.openxmlformats.org/drawingml/2006/main">
            <a:r>
              <a:t>- D:\work\CodexFDE\course\tasks\L04-Codex最小变更.md</a:t>
            </a:r>
          </a:p>
          <a:p xmlns:a="http://schemas.openxmlformats.org/drawingml/2006/main">
            <a:r>
              <a:t>- D:\work\CodexFDE\AGENTS.md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课堂类型：外科手术</a:t>
            </a:r>
          </a:p>
          <a:p xmlns:a="http://schemas.openxmlformats.org/drawingml/2006/main">
            <a:r>
              <a:t>本页判断：任务先有身份，执行动作才有追溯入口</a:t>
            </a:r>
            <a:endParaRPr/>
          </a:p>
          <a:p xmlns:a="http://schemas.openxmlformats.org/drawingml/2006/main">
            <a:r>
              <a:t>课程主线：固定 Spec，只授权一个低库存切片，用写集、Diff 与独立复验控制因果半径</a:t>
            </a:r>
          </a:p>
          <a:p xmlns:a="http://schemas.openxmlformats.org/drawingml/2006/main">
            <a:r>
              <a:t>讲授动作：先让学员判断，再运行真实命令或核对权威状态。</a:t>
            </a:r>
          </a:p>
          <a:p xmlns:a="http://schemas.openxmlformats.org/drawingml/2006/main">
            <a:r>
              <a:t>停顿点：学生能说明本页证据如何改变判断后再继续。</a:t>
            </a:r>
          </a:p>
          <a:p xmlns:a="http://schemas.openxmlformats.org/drawingml/2006/main">
            <a:r>
              <a:t>交接物：本页判断、证据缺口或运行产物。</a:t>
            </a:r>
          </a:p>
          <a:p xmlns:a="http://schemas.openxmlformats.org/drawingml/2006/main">
            <a:r>
              <a:t>验证入口：python -X utf8 -m workbench.cli task run TASK-ID</a:t>
            </a:r>
          </a:p>
          <a:p xmlns:a="http://schemas.openxmlformats.org/drawingml/2006/main">
            <a:r>
              <a:t>边界：Tool 能做什么不等于 Agent 被授权做什么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D:\work\CodexFDE\docs\courses\L04-委托Codex执行一次最小变更.md</a:t>
            </a:r>
          </a:p>
          <a:p xmlns:a="http://schemas.openxmlformats.org/drawingml/2006/main">
            <a:r>
              <a:t>- D:\work\CodexFDE\course\tasks\L04-Codex最小变更.md</a:t>
            </a:r>
          </a:p>
          <a:p xmlns:a="http://schemas.openxmlformats.org/drawingml/2006/main">
            <a:r>
              <a:t>- D:\work\CodexFDE\docs\courses\assets\web-26-delivery-real-code-executor.png</a:t>
            </a:r>
          </a:p>
          <a:p xmlns:a="http://schemas.openxmlformats.org/drawingml/2006/main">
            <a:r>
              <a:t>- D:\work\CodexFDE\AGENTS.md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课堂类型：外科手术</a:t>
            </a:r>
          </a:p>
          <a:p xmlns:a="http://schemas.openxmlformats.org/drawingml/2006/main">
            <a:r>
              <a:t>本页判断：能力信封决定 Agent 能看到什么、能改什么、何时停止</a:t>
            </a:r>
            <a:endParaRPr/>
          </a:p>
          <a:p xmlns:a="http://schemas.openxmlformats.org/drawingml/2006/main">
            <a:r>
              <a:t>课程主线：固定 Spec，只授权一个低库存切片，用写集、Diff 与独立复验控制因果半径</a:t>
            </a:r>
          </a:p>
          <a:p xmlns:a="http://schemas.openxmlformats.org/drawingml/2006/main">
            <a:r>
              <a:t>讲授动作：先让学员判断，再运行真实命令或核对权威状态。</a:t>
            </a:r>
          </a:p>
          <a:p xmlns:a="http://schemas.openxmlformats.org/drawingml/2006/main">
            <a:r>
              <a:t>停顿点：学生能说明本页证据如何改变判断后再继续。</a:t>
            </a:r>
          </a:p>
          <a:p xmlns:a="http://schemas.openxmlformats.org/drawingml/2006/main">
            <a:r>
              <a:t>交接物：本页判断、证据缺口或运行产物。</a:t>
            </a:r>
          </a:p>
          <a:p xmlns:a="http://schemas.openxmlformats.org/drawingml/2006/main">
            <a:r>
              <a:t>验证入口：python -X utf8 -m workbench.cli task run TASK-ID</a:t>
            </a:r>
          </a:p>
          <a:p xmlns:a="http://schemas.openxmlformats.org/drawingml/2006/main">
            <a:r>
              <a:t>边界：Tool 能做什么不等于 Agent 被授权做什么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D:\work\CodexFDE\docs\courses\L04-委托Codex执行一次最小变更.md</a:t>
            </a:r>
          </a:p>
          <a:p xmlns:a="http://schemas.openxmlformats.org/drawingml/2006/main">
            <a:r>
              <a:t>- D:\work\CodexFDE\course\tasks\L04-Codex最小变更.md</a:t>
            </a:r>
          </a:p>
          <a:p xmlns:a="http://schemas.openxmlformats.org/drawingml/2006/main">
            <a:r>
              <a:t>- D:\work\CodexFDE\AGENTS.md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课堂类型：外科手术</a:t>
            </a:r>
          </a:p>
          <a:p xmlns:a="http://schemas.openxmlformats.org/drawingml/2006/main">
            <a:r>
              <a:t>本页判断：真实代码执行器必须显式展示授权范围</a:t>
            </a:r>
            <a:endParaRPr/>
          </a:p>
          <a:p xmlns:a="http://schemas.openxmlformats.org/drawingml/2006/main">
            <a:r>
              <a:t>课程主线：固定 Spec，只授权一个低库存切片，用写集、Diff 与独立复验控制因果半径</a:t>
            </a:r>
          </a:p>
          <a:p xmlns:a="http://schemas.openxmlformats.org/drawingml/2006/main">
            <a:r>
              <a:t>讲授动作：先让学员判断，再运行真实命令或核对权威状态。</a:t>
            </a:r>
          </a:p>
          <a:p xmlns:a="http://schemas.openxmlformats.org/drawingml/2006/main">
            <a:r>
              <a:t>停顿点：学生能说明本页证据如何改变判断后再继续。</a:t>
            </a:r>
          </a:p>
          <a:p xmlns:a="http://schemas.openxmlformats.org/drawingml/2006/main">
            <a:r>
              <a:t>交接物：本页判断、证据缺口或运行产物。</a:t>
            </a:r>
          </a:p>
          <a:p xmlns:a="http://schemas.openxmlformats.org/drawingml/2006/main">
            <a:r>
              <a:t>验证入口：python -X utf8 -m workbench.cli task run TASK-ID</a:t>
            </a:r>
          </a:p>
          <a:p xmlns:a="http://schemas.openxmlformats.org/drawingml/2006/main">
            <a:r>
              <a:t>边界：Tool 能做什么不等于 Agent 被授权做什么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D:\work\CodexFDE\docs\courses\L04-委托Codex执行一次最小变更.md</a:t>
            </a:r>
          </a:p>
          <a:p xmlns:a="http://schemas.openxmlformats.org/drawingml/2006/main">
            <a:r>
              <a:t>- D:\work\CodexFDE\course\tasks\L04-Codex最小变更.md</a:t>
            </a:r>
          </a:p>
          <a:p xmlns:a="http://schemas.openxmlformats.org/drawingml/2006/main">
            <a:r>
              <a:t>- D:\work\CodexFDE\docs\courses\assets\web-26-delivery-real-code-executor.png</a:t>
            </a:r>
          </a:p>
          <a:p xmlns:a="http://schemas.openxmlformats.org/drawingml/2006/main">
            <a:r>
              <a:t>- D:\work\CodexFDE\AGENTS.md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课堂类型：外科手术</a:t>
            </a:r>
          </a:p>
          <a:p xmlns:a="http://schemas.openxmlformats.org/drawingml/2006/main">
            <a:r>
              <a:t>本页判断：漂亮 Diff 也可能与测试共享同一个错误公式</a:t>
            </a:r>
            <a:endParaRPr/>
          </a:p>
          <a:p xmlns:a="http://schemas.openxmlformats.org/drawingml/2006/main">
            <a:r>
              <a:t>课程主线：固定 Spec，只授权一个低库存切片，用写集、Diff 与独立复验控制因果半径</a:t>
            </a:r>
          </a:p>
          <a:p xmlns:a="http://schemas.openxmlformats.org/drawingml/2006/main">
            <a:r>
              <a:t>讲授动作：先让学员判断，再运行真实命令或核对权威状态。</a:t>
            </a:r>
          </a:p>
          <a:p xmlns:a="http://schemas.openxmlformats.org/drawingml/2006/main">
            <a:r>
              <a:t>停顿点：学生能说明本页证据如何改变判断后再继续。</a:t>
            </a:r>
          </a:p>
          <a:p xmlns:a="http://schemas.openxmlformats.org/drawingml/2006/main">
            <a:r>
              <a:t>交接物：本页判断、证据缺口或运行产物。</a:t>
            </a:r>
          </a:p>
          <a:p xmlns:a="http://schemas.openxmlformats.org/drawingml/2006/main">
            <a:r>
              <a:t>验证入口：python -X utf8 -m workbench.cli task run TASK-ID</a:t>
            </a:r>
          </a:p>
          <a:p xmlns:a="http://schemas.openxmlformats.org/drawingml/2006/main">
            <a:r>
              <a:t>边界：Tool 能做什么不等于 Agent 被授权做什么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D:\work\CodexFDE\docs\courses\L04-委托Codex执行一次最小变更.md</a:t>
            </a:r>
          </a:p>
          <a:p xmlns:a="http://schemas.openxmlformats.org/drawingml/2006/main">
            <a:r>
              <a:t>- D:\work\CodexFDE\course\tasks\L04-Codex最小变更.md</a:t>
            </a:r>
          </a:p>
          <a:p xmlns:a="http://schemas.openxmlformats.org/drawingml/2006/main">
            <a:r>
              <a:t>- D:\work\CodexFDE\AGENTS.md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课堂类型：外科手术</a:t>
            </a:r>
          </a:p>
          <a:p xmlns:a="http://schemas.openxmlformats.org/drawingml/2006/main">
            <a:r>
              <a:t>本页判断：修改者不能用自述给自己判定成功</a:t>
            </a:r>
            <a:endParaRPr/>
          </a:p>
          <a:p xmlns:a="http://schemas.openxmlformats.org/drawingml/2006/main">
            <a:r>
              <a:t>课程主线：固定 Spec，只授权一个低库存切片，用写集、Diff 与独立复验控制因果半径</a:t>
            </a:r>
          </a:p>
          <a:p xmlns:a="http://schemas.openxmlformats.org/drawingml/2006/main">
            <a:r>
              <a:t>讲授动作：先让学员判断，再运行真实命令或核对权威状态。</a:t>
            </a:r>
          </a:p>
          <a:p xmlns:a="http://schemas.openxmlformats.org/drawingml/2006/main">
            <a:r>
              <a:t>停顿点：学生能说明本页证据如何改变判断后再继续。</a:t>
            </a:r>
          </a:p>
          <a:p xmlns:a="http://schemas.openxmlformats.org/drawingml/2006/main">
            <a:r>
              <a:t>交接物：本页判断、证据缺口或运行产物。</a:t>
            </a:r>
          </a:p>
          <a:p xmlns:a="http://schemas.openxmlformats.org/drawingml/2006/main">
            <a:r>
              <a:t>验证入口：python -X utf8 -m workbench.cli task run TASK-ID</a:t>
            </a:r>
          </a:p>
          <a:p xmlns:a="http://schemas.openxmlformats.org/drawingml/2006/main">
            <a:r>
              <a:t>边界：Tool 能做什么不等于 Agent 被授权做什么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D:\work\CodexFDE\docs\courses\L04-委托Codex执行一次最小变更.md</a:t>
            </a:r>
          </a:p>
          <a:p xmlns:a="http://schemas.openxmlformats.org/drawingml/2006/main">
            <a:r>
              <a:t>- D:\work\CodexFDE\course\tasks\L04-Codex最小变更.md</a:t>
            </a:r>
          </a:p>
          <a:p xmlns:a="http://schemas.openxmlformats.org/drawingml/2006/main">
            <a:r>
              <a:t>- D:\work\CodexFDE\AGENTS.md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课堂类型：外科手术</a:t>
            </a:r>
          </a:p>
          <a:p xmlns:a="http://schemas.openxmlformats.org/drawingml/2006/main">
            <a:r>
              <a:t>本页判断：人工审查 Diff 只问五个能改变结论的问题</a:t>
            </a:r>
            <a:endParaRPr/>
          </a:p>
          <a:p xmlns:a="http://schemas.openxmlformats.org/drawingml/2006/main">
            <a:r>
              <a:t>课程主线：固定 Spec，只授权一个低库存切片，用写集、Diff 与独立复验控制因果半径</a:t>
            </a:r>
          </a:p>
          <a:p xmlns:a="http://schemas.openxmlformats.org/drawingml/2006/main">
            <a:r>
              <a:t>讲授动作：先让学员判断，再运行真实命令或核对权威状态。</a:t>
            </a:r>
          </a:p>
          <a:p xmlns:a="http://schemas.openxmlformats.org/drawingml/2006/main">
            <a:r>
              <a:t>停顿点：学生能说明本页证据如何改变判断后再继续。</a:t>
            </a:r>
          </a:p>
          <a:p xmlns:a="http://schemas.openxmlformats.org/drawingml/2006/main">
            <a:r>
              <a:t>交接物：本页判断、证据缺口或运行产物。</a:t>
            </a:r>
          </a:p>
          <a:p xmlns:a="http://schemas.openxmlformats.org/drawingml/2006/main">
            <a:r>
              <a:t>验证入口：python -X utf8 -m workbench.cli task run TASK-ID</a:t>
            </a:r>
          </a:p>
          <a:p xmlns:a="http://schemas.openxmlformats.org/drawingml/2006/main">
            <a:r>
              <a:t>边界：Tool 能做什么不等于 Agent 被授权做什么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D:\work\CodexFDE\docs\courses\L04-委托Codex执行一次最小变更.md</a:t>
            </a:r>
          </a:p>
          <a:p xmlns:a="http://schemas.openxmlformats.org/drawingml/2006/main">
            <a:r>
              <a:t>- D:\work\CodexFDE\course\tasks\L04-Codex最小变更.md</a:t>
            </a:r>
          </a:p>
          <a:p xmlns:a="http://schemas.openxmlformats.org/drawingml/2006/main">
            <a:r>
              <a:t>- D:\work\CodexFDE\AGENTS.md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课堂类型：外科手术</a:t>
            </a:r>
          </a:p>
          <a:p xmlns:a="http://schemas.openxmlformats.org/drawingml/2006/main">
            <a:r>
              <a:t>本页判断：技术全绿之后仍停在具名审核</a:t>
            </a:r>
            <a:endParaRPr/>
          </a:p>
          <a:p xmlns:a="http://schemas.openxmlformats.org/drawingml/2006/main">
            <a:r>
              <a:t>课程主线：固定 Spec，只授权一个低库存切片，用写集、Diff 与独立复验控制因果半径</a:t>
            </a:r>
          </a:p>
          <a:p xmlns:a="http://schemas.openxmlformats.org/drawingml/2006/main">
            <a:r>
              <a:t>讲授动作：先让学员判断，再运行真实命令或核对权威状态。</a:t>
            </a:r>
          </a:p>
          <a:p xmlns:a="http://schemas.openxmlformats.org/drawingml/2006/main">
            <a:r>
              <a:t>停顿点：学生能说明本页证据如何改变判断后再继续。</a:t>
            </a:r>
          </a:p>
          <a:p xmlns:a="http://schemas.openxmlformats.org/drawingml/2006/main">
            <a:r>
              <a:t>交接物：本页判断、证据缺口或运行产物。</a:t>
            </a:r>
          </a:p>
          <a:p xmlns:a="http://schemas.openxmlformats.org/drawingml/2006/main">
            <a:r>
              <a:t>验证入口：python -X utf8 -m workbench.cli task run TASK-ID</a:t>
            </a:r>
          </a:p>
          <a:p xmlns:a="http://schemas.openxmlformats.org/drawingml/2006/main">
            <a:r>
              <a:t>边界：Tool 能做什么不等于 Agent 被授权做什么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D:\work\CodexFDE\docs\courses\L04-委托Codex执行一次最小变更.md</a:t>
            </a:r>
          </a:p>
          <a:p xmlns:a="http://schemas.openxmlformats.org/drawingml/2006/main">
            <a:r>
              <a:t>- D:\work\CodexFDE\course\tasks\L04-Codex最小变更.md</a:t>
            </a:r>
          </a:p>
          <a:p xmlns:a="http://schemas.openxmlformats.org/drawingml/2006/main">
            <a:r>
              <a:t>- D:\work\CodexFDE\docs\courses\assets\web-26-delivery-real-code-executor.png</a:t>
            </a:r>
          </a:p>
          <a:p xmlns:a="http://schemas.openxmlformats.org/drawingml/2006/main">
            <a:r>
              <a:t>- D:\work\CodexFDE\AGENTS.md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课堂类型：外科手术</a:t>
            </a:r>
          </a:p>
          <a:p xmlns:a="http://schemas.openxmlformats.org/drawingml/2006/main">
            <a:r>
              <a:t>本页判断：最小 Diff 已完成，下一步先设计能杀死它的失败</a:t>
            </a:r>
            <a:endParaRPr/>
          </a:p>
          <a:p xmlns:a="http://schemas.openxmlformats.org/drawingml/2006/main">
            <a:r>
              <a:t>课程主线：固定 Spec，只授权一个低库存切片，用写集、Diff 与独立复验控制因果半径</a:t>
            </a:r>
          </a:p>
          <a:p xmlns:a="http://schemas.openxmlformats.org/drawingml/2006/main">
            <a:r>
              <a:t>讲授动作：切换到 VS Code，运行本讲任务；不要在 PPT 中代替学生执行。</a:t>
            </a:r>
          </a:p>
          <a:p xmlns:a="http://schemas.openxmlformats.org/drawingml/2006/main">
            <a:r>
              <a:t>停顿点：取得新的运行证据后，完成第二次签字。</a:t>
            </a:r>
          </a:p>
          <a:p xmlns:a="http://schemas.openxmlformats.org/drawingml/2006/main">
            <a:r>
              <a:t>交接物：VS Code 任务与第二次签字。</a:t>
            </a:r>
          </a:p>
          <a:p xmlns:a="http://schemas.openxmlformats.org/drawingml/2006/main">
            <a:r>
              <a:t>验证入口：python -X utf8 -m workbench.cli task run TASK-ID</a:t>
            </a:r>
          </a:p>
          <a:p xmlns:a="http://schemas.openxmlformats.org/drawingml/2006/main">
            <a:r>
              <a:t>边界：Tool 能做什么不等于 Agent 被授权做什么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D:\work\CodexFDE\docs\courses\L04-委托Codex执行一次最小变更.md</a:t>
            </a:r>
          </a:p>
          <a:p xmlns:a="http://schemas.openxmlformats.org/drawingml/2006/main">
            <a:r>
              <a:t>- D:\work\CodexFDE\course\tasks\L04-Codex最小变更.md</a:t>
            </a:r>
          </a:p>
          <a:p xmlns:a="http://schemas.openxmlformats.org/drawingml/2006/main">
            <a:r>
              <a:t>- D:\work\CodexFDE\AGENTS.md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ba21efd78714beb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9bdb0af015248bf" /><Relationship Type="http://schemas.openxmlformats.org/officeDocument/2006/relationships/slideLayout" Target="/ppt/slideLayouts/slideLayout1.xml" Id="Rf2efe8c8ba5f48ca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2efe8c8ba5f48ca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560b484e8144cf" /><Relationship Type="http://schemas.openxmlformats.org/officeDocument/2006/relationships/notesSlide" Target="/ppt/notesSlides/notesSlide1.xml" Id="R699969d0420c417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e44985669a44a9" /><Relationship Type="http://schemas.openxmlformats.org/officeDocument/2006/relationships/notesSlide" Target="/ppt/notesSlides/notesSlide2.xml" Id="R7cd272f711e040c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a5ed6a577a4893" /><Relationship Type="http://schemas.openxmlformats.org/officeDocument/2006/relationships/notesSlide" Target="/ppt/notesSlides/notesSlide3.xml" Id="R8c33a2add3f74f4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7377dc221d4ba7" /><Relationship Type="http://schemas.openxmlformats.org/officeDocument/2006/relationships/notesSlide" Target="/ppt/notesSlides/notesSlide4.xml" Id="Rcf07c499ec994f8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174be3190f4619" /><Relationship Type="http://schemas.openxmlformats.org/officeDocument/2006/relationships/notesSlide" Target="/ppt/notesSlides/notesSlide5.xml" Id="Raf27cd71005f48e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0fc38b6ec74005" /><Relationship Type="http://schemas.openxmlformats.org/officeDocument/2006/relationships/notesSlide" Target="/ppt/notesSlides/notesSlide6.xml" Id="R2bc26e844e8745d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6043e8385a44ff" /><Relationship Type="http://schemas.openxmlformats.org/officeDocument/2006/relationships/image" Target="/ppt/media/image.png" Id="R5b0cc4c23f064cf4" /><Relationship Type="http://schemas.openxmlformats.org/officeDocument/2006/relationships/image" Target="/ppt/media/image.jpeg" Id="R99461675e6fd4750" /><Relationship Type="http://schemas.openxmlformats.org/officeDocument/2006/relationships/notesSlide" Target="/ppt/notesSlides/notesSlide7.xml" Id="R0552b9104d1641e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5226122f9c467a" /><Relationship Type="http://schemas.openxmlformats.org/officeDocument/2006/relationships/notesSlide" Target="/ppt/notesSlides/notesSlide8.xml" Id="R0dae976c0081408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053bc9c8b44a83" /><Relationship Type="http://schemas.openxmlformats.org/officeDocument/2006/relationships/image" Target="/ppt/media/image.png" Id="R38293ecaf2324e9e" /><Relationship Type="http://schemas.openxmlformats.org/officeDocument/2006/relationships/image" Target="/ppt/media/image2.jpeg" Id="Rb98812cd49d54e33" /><Relationship Type="http://schemas.openxmlformats.org/officeDocument/2006/relationships/notesSlide" Target="/ppt/notesSlides/notesSlide9.xml" Id="R9059998d9e0f4e9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c6a5d80a194549" /><Relationship Type="http://schemas.openxmlformats.org/officeDocument/2006/relationships/notesSlide" Target="/ppt/notesSlides/notesSlide10.xml" Id="R20026e28b9f74b4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b9e15bc5214e24" /><Relationship Type="http://schemas.openxmlformats.org/officeDocument/2006/relationships/notesSlide" Target="/ppt/notesSlides/notesSlide11.xml" Id="R020a4fd765b941e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70d6d4fd6b48f9" /><Relationship Type="http://schemas.openxmlformats.org/officeDocument/2006/relationships/notesSlide" Target="/ppt/notesSlides/notesSlide12.xml" Id="R7dd07eb567b241b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b48ae653534264" /><Relationship Type="http://schemas.openxmlformats.org/officeDocument/2006/relationships/image" Target="/ppt/media/image.png" Id="R8ee1a1bc26df4325" /><Relationship Type="http://schemas.openxmlformats.org/officeDocument/2006/relationships/image" Target="/ppt/media/image3.jpeg" Id="Rbce8bd06c725464d" /><Relationship Type="http://schemas.openxmlformats.org/officeDocument/2006/relationships/notesSlide" Target="/ppt/notesSlides/notesSlide13.xml" Id="R77b828ab46674c5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56369f1e1544b3" /><Relationship Type="http://schemas.openxmlformats.org/officeDocument/2006/relationships/notesSlide" Target="/ppt/notesSlides/notesSlide14.xml" Id="R6f97848533894ef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E11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5AA3BF46-DE9F-44E8-86F6-0625F12DB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269365"/>
            <a:ext cx="10515600" cy="118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5800" b="1">
                <a:solidFill>
                  <a:srgbClr val="F2F4F8"/>
                </a:solidFill>
                <a:latin typeface="Noto Sans CJK SC"/>
                <a:ea typeface="Noto Sans CJK SC"/>
                <a:cs typeface="Noto Sans CJK SC"/>
              </a:rPr>
              <a:t>L04 · Codex + FDE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7D61E2DB-4E23-49DF-ADA0-2E93FC64B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285365"/>
            <a:ext cx="105156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4000" b="1">
                <a:solidFill>
                  <a:srgbClr val="1764FB"/>
                </a:solidFill>
                <a:latin typeface="Noto Sans CJK SC"/>
                <a:ea typeface="Noto Sans CJK SC"/>
                <a:cs typeface="Noto Sans CJK SC"/>
              </a:rPr>
              <a:t>委托 Codex 执行一次最小变更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30BD9616-3834-4C1C-8C4A-37C595E94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123" y="3194050"/>
            <a:ext cx="100584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700">
                <a:solidFill>
                  <a:srgbClr val="9BA6B4"/>
                </a:solidFill>
                <a:latin typeface="Noto Sans CJK SC"/>
                <a:ea typeface="Noto Sans CJK SC"/>
                <a:cs typeface="Noto Sans CJK SC"/>
              </a:rPr>
              <a:t>主线：固定 Spec，只授权一个低库存切片，用写集、Diff 与独立复验控制因果半径</a:t>
            </a:r>
            <a:endParaRPr sz="17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50F92928-8A4C-4E7B-A82D-B08B23759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180" y="5120640"/>
            <a:ext cx="1828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FF8A3D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4CAC116D-833A-4046-AEE4-1BB700D3D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257800"/>
            <a:ext cx="100584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 b="1">
                <a:solidFill>
                  <a:srgbClr val="F2F4F8"/>
                </a:solidFill>
                <a:latin typeface="Noto Sans CJK SC"/>
                <a:ea typeface="Noto Sans CJK SC"/>
                <a:cs typeface="Noto Sans CJK SC"/>
              </a:rPr>
              <a:t>FlowERP × 自进化研发交付工作台</a:t>
            </a:r>
            <a:endParaRPr sz="15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09AD6693-1490-42E5-AD4B-61A912D68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55080"/>
            <a:ext cx="5486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6B7684"/>
                </a:solidFill>
                <a:latin typeface="DejaVu Sans Mono"/>
                <a:ea typeface="DejaVu Sans Mono"/>
                <a:cs typeface="DejaVu Sans Mono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84437678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E11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629D1B0E-CB94-4560-BD1A-3BE2BBEAB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" y="45720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E5B567"/>
                </a:solidFill>
                <a:latin typeface="Noto Sans CJK SC"/>
                <a:ea typeface="Noto Sans CJK SC"/>
                <a:cs typeface="Noto Sans CJK SC"/>
              </a:rPr>
              <a:t>L04 · 外科手术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02D3B0E4-ADF9-4D52-8239-5E2D6B31D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052513"/>
            <a:ext cx="1106424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3400"/>
              </a:lnSpc>
              <a:buNone/>
            </a:pPr>
            <a:r>
              <a:rPr sz="3000" b="1">
                <a:solidFill>
                  <a:srgbClr val="F2F4F8"/>
                </a:solidFill>
                <a:latin typeface="Noto Sans CJK SC"/>
                <a:ea typeface="Noto Sans CJK SC"/>
                <a:cs typeface="Noto Sans CJK SC"/>
              </a:rPr>
              <a:t>能改很多，不等于能解释为什么改对</a:t>
            </a:r>
            <a:endParaRPr sz="300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5C3F25F3-51A3-4E0D-9235-2B25ECAA6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80644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 b="1">
                <a:solidFill>
                  <a:srgbClr val="3DD9A4"/>
                </a:solidFill>
                <a:latin typeface="Noto Sans CJK SC"/>
                <a:ea typeface="Noto Sans CJK SC"/>
                <a:cs typeface="Noto Sans CJK SC"/>
              </a:rPr>
              <a:t>裁决标准：只授权一个业务切片；修改者不能用自述给自己判成功</a:t>
            </a:r>
            <a:endParaRPr sz="15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7A44815A-8F3D-400A-B0B1-75B9A5CEE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55080"/>
            <a:ext cx="5486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6B7684"/>
                </a:solidFill>
                <a:latin typeface="DejaVu Sans Mono"/>
                <a:ea typeface="DejaVu Sans Mono"/>
                <a:cs typeface="DejaVu Sans Mono"/>
              </a:rPr>
              <a:t>02</a:t>
            </a:r>
            <a:endParaRPr sz="1100"/>
          </a:p>
        </p:txBody>
      </p:sp>
      <p:sp>
        <p:nvSpPr>
          <p:cNvPr id="23" name="箭头: 右 22">
            <a:extLst xmlns:a="http://schemas.openxmlformats.org/drawingml/2006/main">
              <a:ext uri="{FF2B5EF4-FFF2-40B4-BE49-F238E27FC236}">
                <a16:creationId xmlns:a16="http://schemas.microsoft.com/office/drawing/2014/main" id="{C6263359-F0B5-4A4C-84FA-1536691CB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952750"/>
            <a:ext cx="3429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B7684"/>
          </a:solidFill>
          <a:ln xmlns:a="http://schemas.openxmlformats.org/drawingml/2006/main" w="0">
            <a:solidFill>
              <a:srgbClr val="6B7684"/>
            </a:solidFill>
            <a:prstDash val="solid"/>
          </a:ln>
        </p:spPr>
      </p:sp>
      <p:sp>
        <p:nvSpPr>
          <p:cNvPr id="24" name="箭头: 右 23">
            <a:extLst xmlns:a="http://schemas.openxmlformats.org/drawingml/2006/main">
              <a:ext uri="{FF2B5EF4-FFF2-40B4-BE49-F238E27FC236}">
                <a16:creationId xmlns:a16="http://schemas.microsoft.com/office/drawing/2014/main" id="{984F068E-90FC-4E71-857C-CB2A2EFA4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952750"/>
            <a:ext cx="3429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B7684"/>
          </a:solidFill>
          <a:ln xmlns:a="http://schemas.openxmlformats.org/drawingml/2006/main" w="0">
            <a:solidFill>
              <a:srgbClr val="6B7684"/>
            </a:solidFill>
            <a:prstDash val="solid"/>
          </a:ln>
        </p:spPr>
      </p:sp>
      <p:sp>
        <p:nvSpPr>
          <p:cNvPr id="25" name="箭头: 右 24">
            <a:extLst xmlns:a="http://schemas.openxmlformats.org/drawingml/2006/main">
              <a:ext uri="{FF2B5EF4-FFF2-40B4-BE49-F238E27FC236}">
                <a16:creationId xmlns:a16="http://schemas.microsoft.com/office/drawing/2014/main" id="{0CBAAD27-E316-4088-946B-0F3BF1D8C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952750"/>
            <a:ext cx="3429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B7684"/>
          </a:solidFill>
          <a:ln xmlns:a="http://schemas.openxmlformats.org/drawingml/2006/main" w="0">
            <a:solidFill>
              <a:srgbClr val="6B7684"/>
            </a:solidFill>
            <a:prstDash val="solid"/>
          </a:ln>
        </p:spPr>
      </p:sp>
      <p:sp>
        <p:nvSpPr>
          <p:cNvPr id="26" name="pain-1">
            <a:extLst xmlns:a="http://schemas.openxmlformats.org/drawingml/2006/main">
              <a:ext uri="{FF2B5EF4-FFF2-40B4-BE49-F238E27FC236}">
                <a16:creationId xmlns:a16="http://schemas.microsoft.com/office/drawing/2014/main" id="{F9E754D8-AC2E-4F25-8880-A918B4484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14550"/>
            <a:ext cx="2381250" cy="20574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161B22"/>
          </a:solidFill>
          <a:ln xmlns:a="http://schemas.openxmlformats.org/drawingml/2006/main" w="11430">
            <a:solidFill>
              <a:srgbClr val="FF8A3D"/>
            </a:solidFill>
            <a:prstDash val="solid"/>
          </a:ln>
        </p:spPr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3BCF7E83-5169-490A-9E59-36F94F67B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6695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F8A3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FF8A3D"/>
                </a:solidFill>
                <a:latin typeface="Noto Sans CJK SC"/>
                <a:ea typeface="Noto Sans CJK SC"/>
                <a:cs typeface="Noto Sans CJK SC"/>
              </a:rPr>
              <a:t>01</a:t>
            </a:r>
          </a:p>
        </p:txBody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AF489B53-1684-4027-9FE9-7A3251BDC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28900"/>
            <a:ext cx="20383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F2F4F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2F4F8"/>
                </a:solidFill>
                <a:latin typeface="Noto Sans CJK SC"/>
                <a:ea typeface="Noto Sans CJK SC"/>
                <a:cs typeface="Noto Sans CJK SC"/>
              </a:rPr>
              <a:t>只看表面</a:t>
            </a:r>
          </a:p>
        </p:txBody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E09235D8-F9C8-4047-B539-BD44F7638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81350"/>
            <a:ext cx="20383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BA6B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9BA6B4"/>
                </a:solidFill>
                <a:latin typeface="Noto Sans CJK SC"/>
                <a:ea typeface="Noto Sans CJK SC"/>
                <a:cs typeface="Noto Sans CJK SC"/>
              </a:rPr>
              <a:t>顺手重构扩大 Diff，结果全绿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9BA6B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9BA6B4"/>
                </a:solidFill>
                <a:latin typeface="Noto Sans CJK SC"/>
                <a:ea typeface="Noto Sans CJK SC"/>
                <a:cs typeface="Noto Sans CJK SC"/>
              </a:rPr>
              <a:t>也无法定位真实因果</a:t>
            </a:r>
          </a:p>
        </p:txBody>
      </p:sp>
      <p:sp>
        <p:nvSpPr>
          <p:cNvPr id="30" name="pain-2">
            <a:extLst xmlns:a="http://schemas.openxmlformats.org/drawingml/2006/main">
              <a:ext uri="{FF2B5EF4-FFF2-40B4-BE49-F238E27FC236}">
                <a16:creationId xmlns:a16="http://schemas.microsoft.com/office/drawing/2014/main" id="{A6C9E5F9-D5F8-4F8D-BD0B-A4580A98E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114550"/>
            <a:ext cx="2381250" cy="20574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161B22"/>
          </a:solidFill>
          <a:ln xmlns:a="http://schemas.openxmlformats.org/drawingml/2006/main" w="11430">
            <a:solidFill>
              <a:srgbClr val="F0655A"/>
            </a:solidFill>
            <a:prstDash val="solid"/>
          </a:ln>
        </p:spPr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E9E2B7C0-C852-490D-8D73-E8846A87F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26695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0655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F0655A"/>
                </a:solidFill>
                <a:latin typeface="Noto Sans CJK SC"/>
                <a:ea typeface="Noto Sans CJK SC"/>
                <a:cs typeface="Noto Sans CJK SC"/>
              </a:rPr>
              <a:t>02</a:t>
            </a:r>
          </a:p>
        </p:txBody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584A2229-FB98-44EE-B972-0384208B8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628900"/>
            <a:ext cx="20383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F2F4F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2F4F8"/>
                </a:solidFill>
                <a:latin typeface="Noto Sans CJK SC"/>
                <a:ea typeface="Noto Sans CJK SC"/>
                <a:cs typeface="Noto Sans CJK SC"/>
              </a:rPr>
              <a:t>只看输出</a:t>
            </a: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6183F1E7-A7AC-4F53-B770-0E5FF7FE9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181350"/>
            <a:ext cx="20383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BA6B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9BA6B4"/>
                </a:solidFill>
                <a:latin typeface="Noto Sans CJK SC"/>
                <a:ea typeface="Noto Sans CJK SC"/>
                <a:cs typeface="Noto Sans CJK SC"/>
              </a:rPr>
              <a:t>Agent 说完成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9BA6B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9BA6B4"/>
                </a:solidFill>
                <a:latin typeface="Noto Sans CJK SC"/>
                <a:ea typeface="Noto Sans CJK SC"/>
                <a:cs typeface="Noto Sans CJK SC"/>
              </a:rPr>
              <a:t>不等于权威状态正确</a:t>
            </a:r>
          </a:p>
        </p:txBody>
      </p:sp>
      <p:sp>
        <p:nvSpPr>
          <p:cNvPr id="34" name="pain-3">
            <a:extLst xmlns:a="http://schemas.openxmlformats.org/drawingml/2006/main">
              <a:ext uri="{FF2B5EF4-FFF2-40B4-BE49-F238E27FC236}">
                <a16:creationId xmlns:a16="http://schemas.microsoft.com/office/drawing/2014/main" id="{CF53BD9D-4D27-47D4-9975-0491B9CCE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114550"/>
            <a:ext cx="2381250" cy="20574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161B22"/>
          </a:solidFill>
          <a:ln xmlns:a="http://schemas.openxmlformats.org/drawingml/2006/main" w="11430">
            <a:solidFill>
              <a:srgbClr val="E5B567"/>
            </a:solidFill>
            <a:prstDash val="solid"/>
          </a:ln>
        </p:spPr>
      </p:sp>
      <p:sp>
        <p:nvSpPr>
          <p:cNvPr id="35" name="矩形 34">
            <a:extLst xmlns:a="http://schemas.openxmlformats.org/drawingml/2006/main">
              <a:ext uri="{FF2B5EF4-FFF2-40B4-BE49-F238E27FC236}">
                <a16:creationId xmlns:a16="http://schemas.microsoft.com/office/drawing/2014/main" id="{80412876-CBAB-4A9D-B4B1-C96CAA596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26695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5B56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E5B567"/>
                </a:solidFill>
                <a:latin typeface="Noto Sans CJK SC"/>
                <a:ea typeface="Noto Sans CJK SC"/>
                <a:cs typeface="Noto Sans CJK SC"/>
              </a:rPr>
              <a:t>03</a:t>
            </a:r>
          </a:p>
        </p:txBody>
      </p:sp>
      <p:sp>
        <p:nvSpPr>
          <p:cNvPr id="36" name="矩形 35">
            <a:extLst xmlns:a="http://schemas.openxmlformats.org/drawingml/2006/main">
              <a:ext uri="{FF2B5EF4-FFF2-40B4-BE49-F238E27FC236}">
                <a16:creationId xmlns:a16="http://schemas.microsoft.com/office/drawing/2014/main" id="{4E99F129-E46E-4DA9-9A6F-0E0ED58C3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628900"/>
            <a:ext cx="20383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F2F4F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2F4F8"/>
                </a:solidFill>
                <a:latin typeface="Noto Sans CJK SC"/>
                <a:ea typeface="Noto Sans CJK SC"/>
                <a:cs typeface="Noto Sans CJK SC"/>
              </a:rPr>
              <a:t>只看历史</a:t>
            </a:r>
          </a:p>
        </p:txBody>
      </p:sp>
      <p:sp>
        <p:nvSpPr>
          <p:cNvPr id="37" name="矩形 36">
            <a:extLst xmlns:a="http://schemas.openxmlformats.org/drawingml/2006/main">
              <a:ext uri="{FF2B5EF4-FFF2-40B4-BE49-F238E27FC236}">
                <a16:creationId xmlns:a16="http://schemas.microsoft.com/office/drawing/2014/main" id="{8442465A-8975-40E0-8D11-AE3895DFA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181350"/>
            <a:ext cx="20383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BA6B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9BA6B4"/>
                </a:solidFill>
                <a:latin typeface="Noto Sans CJK SC"/>
                <a:ea typeface="Noto Sans CJK SC"/>
                <a:cs typeface="Noto Sans CJK SC"/>
              </a:rPr>
              <a:t>相似经验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9BA6B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9BA6B4"/>
                </a:solidFill>
                <a:latin typeface="Noto Sans CJK SC"/>
                <a:ea typeface="Noto Sans CJK SC"/>
                <a:cs typeface="Noto Sans CJK SC"/>
              </a:rPr>
              <a:t>不等于当前合同</a:t>
            </a:r>
          </a:p>
        </p:txBody>
      </p:sp>
      <p:sp>
        <p:nvSpPr>
          <p:cNvPr id="38" name="pain-4">
            <a:extLst xmlns:a="http://schemas.openxmlformats.org/drawingml/2006/main">
              <a:ext uri="{FF2B5EF4-FFF2-40B4-BE49-F238E27FC236}">
                <a16:creationId xmlns:a16="http://schemas.microsoft.com/office/drawing/2014/main" id="{7735C86B-1096-4801-9F5E-915E2B289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114550"/>
            <a:ext cx="2381250" cy="20574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161B22"/>
          </a:solidFill>
          <a:ln xmlns:a="http://schemas.openxmlformats.org/drawingml/2006/main" w="11430">
            <a:solidFill>
              <a:srgbClr val="3DD9A4"/>
            </a:solidFill>
            <a:prstDash val="solid"/>
          </a:ln>
        </p:spPr>
      </p:sp>
      <p:sp>
        <p:nvSpPr>
          <p:cNvPr id="39" name="矩形 38">
            <a:extLst xmlns:a="http://schemas.openxmlformats.org/drawingml/2006/main">
              <a:ext uri="{FF2B5EF4-FFF2-40B4-BE49-F238E27FC236}">
                <a16:creationId xmlns:a16="http://schemas.microsoft.com/office/drawing/2014/main" id="{5233D3F7-F238-4E84-8D0B-907A9D194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26695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D9A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3DD9A4"/>
                </a:solidFill>
                <a:latin typeface="Noto Sans CJK SC"/>
                <a:ea typeface="Noto Sans CJK SC"/>
                <a:cs typeface="Noto Sans CJK SC"/>
              </a:rPr>
              <a:t>04</a:t>
            </a:r>
          </a:p>
        </p:txBody>
      </p:sp>
      <p:sp>
        <p:nvSpPr>
          <p:cNvPr id="40" name="矩形 39">
            <a:extLst xmlns:a="http://schemas.openxmlformats.org/drawingml/2006/main">
              <a:ext uri="{FF2B5EF4-FFF2-40B4-BE49-F238E27FC236}">
                <a16:creationId xmlns:a16="http://schemas.microsoft.com/office/drawing/2014/main" id="{1996AADF-86A0-405F-A2FF-15D53F826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628900"/>
            <a:ext cx="20383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F2F4F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2F4F8"/>
                </a:solidFill>
                <a:latin typeface="Noto Sans CJK SC"/>
                <a:ea typeface="Noto Sans CJK SC"/>
                <a:cs typeface="Noto Sans CJK SC"/>
              </a:rPr>
              <a:t>真正标准</a:t>
            </a:r>
          </a:p>
        </p:txBody>
      </p:sp>
      <p:sp>
        <p:nvSpPr>
          <p:cNvPr id="41" name="矩形 40">
            <a:extLst xmlns:a="http://schemas.openxmlformats.org/drawingml/2006/main">
              <a:ext uri="{FF2B5EF4-FFF2-40B4-BE49-F238E27FC236}">
                <a16:creationId xmlns:a16="http://schemas.microsoft.com/office/drawing/2014/main" id="{09E79C9B-DC2D-40CD-A6D2-6F129B6E8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181350"/>
            <a:ext cx="20383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BA6B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9BA6B4"/>
                </a:solidFill>
                <a:latin typeface="Noto Sans CJK SC"/>
                <a:ea typeface="Noto Sans CJK SC"/>
                <a:cs typeface="Noto Sans CJK SC"/>
              </a:rPr>
              <a:t>结果、轨迹、责任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9BA6B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9BA6B4"/>
                </a:solidFill>
                <a:latin typeface="Noto Sans CJK SC"/>
                <a:ea typeface="Noto Sans CJK SC"/>
                <a:cs typeface="Noto Sans CJK SC"/>
              </a:rPr>
              <a:t>三者同时成立</a:t>
            </a:r>
          </a:p>
        </p:txBody>
      </p:sp>
      <p:sp>
        <p:nvSpPr>
          <p:cNvPr id="42" name="箭头: 下 41">
            <a:extLst xmlns:a="http://schemas.openxmlformats.org/drawingml/2006/main">
              <a:ext uri="{FF2B5EF4-FFF2-40B4-BE49-F238E27FC236}">
                <a16:creationId xmlns:a16="http://schemas.microsoft.com/office/drawing/2014/main" id="{25FE7694-AA56-4E8F-826E-0CD14D66E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276725"/>
            <a:ext cx="323850" cy="3238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F0655A"/>
          </a:solidFill>
          <a:ln xmlns:a="http://schemas.openxmlformats.org/drawingml/2006/main" w="0">
            <a:solidFill>
              <a:srgbClr val="F0655A"/>
            </a:solidFill>
            <a:prstDash val="solid"/>
          </a:ln>
        </p:spPr>
      </p:sp>
      <p:sp>
        <p:nvSpPr>
          <p:cNvPr id="43" name="pain-result">
            <a:extLst xmlns:a="http://schemas.openxmlformats.org/drawingml/2006/main">
              <a:ext uri="{FF2B5EF4-FFF2-40B4-BE49-F238E27FC236}">
                <a16:creationId xmlns:a16="http://schemas.microsoft.com/office/drawing/2014/main" id="{4361132F-8B6B-4CBE-BAF3-48C2F3B7F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686300"/>
            <a:ext cx="73914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1C2430"/>
          </a:solidFill>
          <a:ln xmlns:a="http://schemas.openxmlformats.org/drawingml/2006/main" w="11430">
            <a:solidFill>
              <a:srgbClr val="F0655A"/>
            </a:solidFill>
            <a:prstDash val="solid"/>
          </a:ln>
        </p:spPr>
      </p:sp>
      <p:sp>
        <p:nvSpPr>
          <p:cNvPr id="44" name="矩形 43">
            <a:extLst xmlns:a="http://schemas.openxmlformats.org/drawingml/2006/main">
              <a:ext uri="{FF2B5EF4-FFF2-40B4-BE49-F238E27FC236}">
                <a16:creationId xmlns:a16="http://schemas.microsoft.com/office/drawing/2014/main" id="{0DE5C3B8-17BA-45E1-BDA5-26E53DFF8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781550"/>
            <a:ext cx="704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28575" rIns="5715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0655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F0655A"/>
                </a:solidFill>
                <a:latin typeface="Noto Sans CJK SC"/>
                <a:ea typeface="Noto Sans CJK SC"/>
                <a:cs typeface="Noto Sans CJK SC"/>
              </a:rPr>
              <a:t>本页只解决一个冲突：顺手重构扩大 Diff，结果全绿也无法定位真实因果</a:t>
            </a:r>
          </a:p>
        </p:txBody>
      </p:sp>
    </p:spTree>
    <p:extLst>
      <p:ext uri="{BB962C8B-B14F-4D97-AF65-F5344CB8AC3E}">
        <p14:creationId xmlns:p14="http://schemas.microsoft.com/office/powerpoint/2010/main" val="117583732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E11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C0BAFEFC-288E-470B-8D42-682E6C1BA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520" y="45720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E5B567"/>
                </a:solidFill>
                <a:latin typeface="Noto Sans CJK SC"/>
                <a:ea typeface="Noto Sans CJK SC"/>
                <a:cs typeface="Noto Sans CJK SC"/>
              </a:rPr>
              <a:t>L04 · 先下注</a:t>
            </a:r>
            <a:endParaRPr sz="12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CF95AA5E-B887-4B71-8F23-10D5D8E33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55080"/>
            <a:ext cx="5486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6B7684"/>
                </a:solidFill>
                <a:latin typeface="DejaVu Sans Mono"/>
                <a:ea typeface="DejaVu Sans Mono"/>
                <a:cs typeface="DejaVu Sans Mono"/>
              </a:rPr>
              <a:t>03</a:t>
            </a:r>
            <a:endParaRPr sz="1100"/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6FB877EC-8DF2-4AAF-B44A-5C03646A1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7810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85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先签字，再看方法</a:t>
            </a:r>
          </a:p>
        </p:txBody>
      </p:sp>
      <p:sp>
        <p:nvSpPr>
          <p:cNvPr id="13" name="矩形: 圆角 12">
            <a:extLst xmlns:a="http://schemas.openxmlformats.org/drawingml/2006/main">
              <a:ext uri="{FF2B5EF4-FFF2-40B4-BE49-F238E27FC236}">
                <a16:creationId xmlns:a16="http://schemas.microsoft.com/office/drawing/2014/main" id="{F92C034C-3047-41F7-B4CC-67A042E9D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3381375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0A1119"/>
          </a:solidFill>
          <a:ln xmlns:a="http://schemas.openxmlformats.org/drawingml/2006/main" w="11430">
            <a:solidFill>
              <a:srgbClr val="00E5FF"/>
            </a:solidFill>
            <a:prstDash val="solid"/>
          </a:ln>
        </p:spPr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F40755DF-44D4-43F4-B156-492558B40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860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rPr>
              <a:t>01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1F336BB3-43E0-4268-BC29-3B04757B7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24150"/>
            <a:ext cx="30384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预计读写集与人审点是什么？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10BBA49C-1994-4151-AC29-0B918E4C1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333750"/>
            <a:ext cx="2905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写下当前判断与证据需求</a:t>
            </a:r>
          </a:p>
        </p:txBody>
      </p:sp>
      <p:sp>
        <p:nvSpPr>
          <p:cNvPr id="17" name="矩形: 圆角 16">
            <a:extLst xmlns:a="http://schemas.openxmlformats.org/drawingml/2006/main">
              <a:ext uri="{FF2B5EF4-FFF2-40B4-BE49-F238E27FC236}">
                <a16:creationId xmlns:a16="http://schemas.microsoft.com/office/drawing/2014/main" id="{6DF288C2-BC0D-4CE9-8CAE-FA8A195FC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143125"/>
            <a:ext cx="3381375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0A1119"/>
          </a:solidFill>
          <a:ln xmlns:a="http://schemas.openxmlformats.org/drawingml/2006/main" w="11430">
            <a:solidFill>
              <a:srgbClr val="FFB84D"/>
            </a:solidFill>
            <a:prstDash val="solid"/>
          </a:ln>
        </p:spPr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656C1981-B14E-4223-9BC5-36D756A7F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2860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B8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1">
                <a:solidFill>
                  <a:srgbClr val="FFB84D"/>
                </a:solidFill>
                <a:latin typeface="DejaVu Sans Mono"/>
                <a:ea typeface="DejaVu Sans Mono"/>
                <a:cs typeface="DejaVu Sans Mono"/>
              </a:rPr>
              <a:t>02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C4E3B4B4-8B14-4051-8BC2-880EE3DE9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724150"/>
            <a:ext cx="30384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文件少就等于最小闭环吗？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0FD3FCF4-352D-4B0B-807F-6D0621623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333750"/>
            <a:ext cx="2905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写下反证条件与不变状态</a:t>
            </a:r>
          </a:p>
        </p:txBody>
      </p:sp>
      <p:sp>
        <p:nvSpPr>
          <p:cNvPr id="21" name="矩形: 圆角 20">
            <a:extLst xmlns:a="http://schemas.openxmlformats.org/drawingml/2006/main">
              <a:ext uri="{FF2B5EF4-FFF2-40B4-BE49-F238E27FC236}">
                <a16:creationId xmlns:a16="http://schemas.microsoft.com/office/drawing/2014/main" id="{674E1E49-229D-42E7-B1E5-D34050202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143125"/>
            <a:ext cx="3381375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0A1119"/>
          </a:solidFill>
          <a:ln xmlns:a="http://schemas.openxmlformats.org/drawingml/2006/main" w="11430">
            <a:solidFill>
              <a:srgbClr val="FF2BD6"/>
            </a:solidFill>
            <a:prstDash val="solid"/>
          </a:ln>
        </p:spPr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81DCDA55-7AC6-4A68-B946-C389FC6BE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2860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2BD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1">
                <a:solidFill>
                  <a:srgbClr val="FF2BD6"/>
                </a:solidFill>
                <a:latin typeface="DejaVu Sans Mono"/>
                <a:ea typeface="DejaVu Sans Mono"/>
                <a:cs typeface="DejaVu Sans Mono"/>
              </a:rPr>
              <a:t>03</a:t>
            </a: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0ECB7241-6104-49F3-8C6F-2D36446E3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724150"/>
            <a:ext cx="30384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哪些证据必须独立取得？</a:t>
            </a:r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B0AFB9C8-1791-4744-8449-8744AAAC9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333750"/>
            <a:ext cx="2905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写下最大风险与责任边界</a:t>
            </a: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9173ED5A-404E-4AD3-87F6-1A56B7CE1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3624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5A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F5A6B"/>
                </a:solidFill>
                <a:latin typeface="Noto Sans CJK SC"/>
                <a:ea typeface="Noto Sans CJK SC"/>
                <a:cs typeface="Noto Sans CJK SC"/>
              </a:rPr>
              <a:t>第一次签字｜逐题提交：判断 + 依据 + 最大风险</a:t>
            </a:r>
          </a:p>
        </p:txBody>
      </p:sp>
      <p:sp>
        <p:nvSpPr>
          <p:cNvPr id="26" name="矩形: 圆角 25">
            <a:extLst xmlns:a="http://schemas.openxmlformats.org/drawingml/2006/main">
              <a:ext uri="{FF2B5EF4-FFF2-40B4-BE49-F238E27FC236}">
                <a16:creationId xmlns:a16="http://schemas.microsoft.com/office/drawing/2014/main" id="{17E870C8-D1FD-41C5-8FE1-63E25E2D7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762500"/>
            <a:ext cx="83820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07130F"/>
          </a:solidFill>
          <a:ln xmlns:a="http://schemas.openxmlformats.org/drawingml/2006/main" w="11430">
            <a:solidFill>
              <a:srgbClr val="39FFB6"/>
            </a:solidFill>
            <a:prstDash val="solid"/>
          </a:ln>
        </p:spPr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1061C48A-7105-42B2-B3AF-CDB167C73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4838700"/>
            <a:ext cx="790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39FFB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39FFB6"/>
                </a:solidFill>
                <a:latin typeface="Noto Sans CJK SC"/>
                <a:ea typeface="Noto Sans CJK SC"/>
                <a:cs typeface="Noto Sans CJK SC"/>
              </a:rPr>
              <a:t>课堂收件物：受控 Diff、任务轨迹与独立复验记录</a:t>
            </a:r>
          </a:p>
        </p:txBody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31F0BDAD-7258-4A50-9F8F-63C9E62EC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5219700"/>
            <a:ext cx="7905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先独立签字；提交后再进入 Markdown 查证</a:t>
            </a:r>
          </a:p>
        </p:txBody>
      </p:sp>
    </p:spTree>
    <p:extLst>
      <p:ext uri="{BB962C8B-B14F-4D97-AF65-F5344CB8AC3E}">
        <p14:creationId xmlns:p14="http://schemas.microsoft.com/office/powerpoint/2010/main" val="206922866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E11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EA852032-A021-4F55-913F-B886DA635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" y="45720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3DD9A4"/>
                </a:solidFill>
                <a:latin typeface="Noto Sans CJK SC"/>
                <a:ea typeface="Noto Sans CJK SC"/>
                <a:cs typeface="Noto Sans CJK SC"/>
              </a:rPr>
              <a:t>L04 · 外科手术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13AB5719-F6FC-4CC0-BCF6-F8B6123B6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749808"/>
            <a:ext cx="1106424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3400"/>
              </a:lnSpc>
              <a:buNone/>
            </a:pPr>
            <a:r>
              <a:rPr sz="3000" b="1">
                <a:solidFill>
                  <a:srgbClr val="F2F4F8"/>
                </a:solidFill>
                <a:latin typeface="Noto Sans CJK SC"/>
                <a:ea typeface="Noto Sans CJK SC"/>
                <a:cs typeface="Noto Sans CJK SC"/>
              </a:rPr>
              <a:t>最小变更从冻结合同开始，而不是从写代码开始</a:t>
            </a:r>
            <a:endParaRPr sz="30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C0DD1BE3-33C7-45F2-A89B-C91E9AFEC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69364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>
                <a:solidFill>
                  <a:srgbClr val="9BA6B4"/>
                </a:solidFill>
                <a:latin typeface="Noto Sans CJK SC"/>
                <a:ea typeface="Noto Sans CJK SC"/>
                <a:cs typeface="Noto Sans CJK SC"/>
              </a:rPr>
              <a:t>本讲只推进一条因果链：固定 Spec，只授权一个低库存切片，用写集、Diff 与独立复验控制因果…</a:t>
            </a:r>
            <a:endParaRPr sz="150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EF87FEEC-F203-4923-BBC8-6F1192325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55080"/>
            <a:ext cx="5486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6B7684"/>
                </a:solidFill>
                <a:latin typeface="DejaVu Sans Mono"/>
                <a:ea typeface="DejaVu Sans Mono"/>
                <a:cs typeface="DejaVu Sans Mono"/>
              </a:rPr>
              <a:t>04</a:t>
            </a:r>
            <a:endParaRPr sz="1100"/>
          </a:p>
        </p:txBody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56366A87-A0D9-4D94-8C89-91284D250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800350"/>
            <a:ext cx="8572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E5FF"/>
          </a:solidFill>
          <a:ln xmlns:a="http://schemas.openxmlformats.org/drawingml/2006/main" w="0">
            <a:solidFill>
              <a:srgbClr val="00E5FF"/>
            </a:solidFill>
            <a:prstDash val="solid"/>
          </a:ln>
        </p:spPr>
      </p:sp>
      <p:sp>
        <p:nvSpPr>
          <p:cNvPr id="33" name="椭圆 32">
            <a:extLst xmlns:a="http://schemas.openxmlformats.org/drawingml/2006/main">
              <a:ext uri="{FF2B5EF4-FFF2-40B4-BE49-F238E27FC236}">
                <a16:creationId xmlns:a16="http://schemas.microsoft.com/office/drawing/2014/main" id="{1287A0D3-03B4-4E49-A554-E00029386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419350"/>
            <a:ext cx="781050" cy="781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0D13"/>
          </a:solidFill>
          <a:ln xmlns:a="http://schemas.openxmlformats.org/drawingml/2006/main" w="19050">
            <a:solidFill>
              <a:srgbClr val="00E5FF"/>
            </a:solidFill>
            <a:prstDash val="solid"/>
          </a:ln>
        </p:spPr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8DAD42D5-5553-46DB-84B6-0F448013E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2447925"/>
            <a:ext cx="723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rPr>
              <a:t>01</a:t>
            </a:r>
          </a:p>
        </p:txBody>
      </p:sp>
      <p:sp>
        <p:nvSpPr>
          <p:cNvPr id="35" name="矩形 34">
            <a:extLst xmlns:a="http://schemas.openxmlformats.org/drawingml/2006/main">
              <a:ext uri="{FF2B5EF4-FFF2-40B4-BE49-F238E27FC236}">
                <a16:creationId xmlns:a16="http://schemas.microsoft.com/office/drawing/2014/main" id="{9FBAB5A4-D4D3-4408-8772-B75524453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409950"/>
            <a:ext cx="1162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冻结 Spec</a:t>
            </a:r>
          </a:p>
        </p:txBody>
      </p:sp>
      <p:sp>
        <p:nvSpPr>
          <p:cNvPr id="36" name="矩形 35">
            <a:extLst xmlns:a="http://schemas.openxmlformats.org/drawingml/2006/main">
              <a:ext uri="{FF2B5EF4-FFF2-40B4-BE49-F238E27FC236}">
                <a16:creationId xmlns:a16="http://schemas.microsoft.com/office/drawing/2014/main" id="{726F32B6-557D-4563-822A-6D8CB760F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29050"/>
            <a:ext cx="1695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workbench/executor.…</a:t>
            </a:r>
          </a:p>
        </p:txBody>
      </p:sp>
      <p:sp>
        <p:nvSpPr>
          <p:cNvPr id="37" name="椭圆 36">
            <a:extLst xmlns:a="http://schemas.openxmlformats.org/drawingml/2006/main">
              <a:ext uri="{FF2B5EF4-FFF2-40B4-BE49-F238E27FC236}">
                <a16:creationId xmlns:a16="http://schemas.microsoft.com/office/drawing/2014/main" id="{B514CE49-73E8-411D-818A-AEAB2704F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419350"/>
            <a:ext cx="781050" cy="781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0D13"/>
          </a:solidFill>
          <a:ln xmlns:a="http://schemas.openxmlformats.org/drawingml/2006/main" w="19050">
            <a:solidFill>
              <a:srgbClr val="00E5FF"/>
            </a:solidFill>
            <a:prstDash val="solid"/>
          </a:ln>
        </p:spPr>
      </p:sp>
      <p:sp>
        <p:nvSpPr>
          <p:cNvPr id="38" name="矩形 37">
            <a:extLst xmlns:a="http://schemas.openxmlformats.org/drawingml/2006/main">
              <a:ext uri="{FF2B5EF4-FFF2-40B4-BE49-F238E27FC236}">
                <a16:creationId xmlns:a16="http://schemas.microsoft.com/office/drawing/2014/main" id="{BA58A8AD-577D-4388-BC03-A3E676A34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447925"/>
            <a:ext cx="723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rPr>
              <a:t>02</a:t>
            </a:r>
          </a:p>
        </p:txBody>
      </p:sp>
      <p:sp>
        <p:nvSpPr>
          <p:cNvPr id="39" name="矩形 38">
            <a:extLst xmlns:a="http://schemas.openxmlformats.org/drawingml/2006/main">
              <a:ext uri="{FF2B5EF4-FFF2-40B4-BE49-F238E27FC236}">
                <a16:creationId xmlns:a16="http://schemas.microsoft.com/office/drawing/2014/main" id="{D844F8EF-E6C5-4D5A-BF93-14F0CB058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3409950"/>
            <a:ext cx="1162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8925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声明读写边界</a:t>
            </a:r>
          </a:p>
        </p:txBody>
      </p:sp>
      <p:sp>
        <p:nvSpPr>
          <p:cNvPr id="40" name="矩形 39">
            <a:extLst xmlns:a="http://schemas.openxmlformats.org/drawingml/2006/main">
              <a:ext uri="{FF2B5EF4-FFF2-40B4-BE49-F238E27FC236}">
                <a16:creationId xmlns:a16="http://schemas.microsoft.com/office/drawing/2014/main" id="{029338D4-4707-4C40-B7F1-937DCB0DC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829050"/>
            <a:ext cx="1695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9388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只授权一个业务切片；修改者不能用自述给自己判成功</a:t>
            </a:r>
          </a:p>
        </p:txBody>
      </p:sp>
      <p:sp>
        <p:nvSpPr>
          <p:cNvPr id="41" name="椭圆 40">
            <a:extLst xmlns:a="http://schemas.openxmlformats.org/drawingml/2006/main">
              <a:ext uri="{FF2B5EF4-FFF2-40B4-BE49-F238E27FC236}">
                <a16:creationId xmlns:a16="http://schemas.microsoft.com/office/drawing/2014/main" id="{55492032-5B43-4E83-BBBD-F3482C8E2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419350"/>
            <a:ext cx="781050" cy="781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0D13"/>
          </a:solidFill>
          <a:ln xmlns:a="http://schemas.openxmlformats.org/drawingml/2006/main" w="19050">
            <a:solidFill>
              <a:srgbClr val="00E5FF"/>
            </a:solidFill>
            <a:prstDash val="solid"/>
          </a:ln>
        </p:spPr>
      </p:sp>
      <p:sp>
        <p:nvSpPr>
          <p:cNvPr id="42" name="矩形 41">
            <a:extLst xmlns:a="http://schemas.openxmlformats.org/drawingml/2006/main">
              <a:ext uri="{FF2B5EF4-FFF2-40B4-BE49-F238E27FC236}">
                <a16:creationId xmlns:a16="http://schemas.microsoft.com/office/drawing/2014/main" id="{F075929A-1DBB-4DD5-AEBE-93347C12D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2447925"/>
            <a:ext cx="723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rPr>
              <a:t>03</a:t>
            </a:r>
          </a:p>
        </p:txBody>
      </p:sp>
      <p:sp>
        <p:nvSpPr>
          <p:cNvPr id="43" name="矩形 42">
            <a:extLst xmlns:a="http://schemas.openxmlformats.org/drawingml/2006/main">
              <a:ext uri="{FF2B5EF4-FFF2-40B4-BE49-F238E27FC236}">
                <a16:creationId xmlns:a16="http://schemas.microsoft.com/office/drawing/2014/main" id="{BFA700BF-38F8-42DC-9B38-CAAD72013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409950"/>
            <a:ext cx="1162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86131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选择 Tool 路径</a:t>
            </a:r>
          </a:p>
        </p:txBody>
      </p:sp>
      <p:sp>
        <p:nvSpPr>
          <p:cNvPr id="44" name="矩形 43">
            <a:extLst xmlns:a="http://schemas.openxmlformats.org/drawingml/2006/main">
              <a:ext uri="{FF2B5EF4-FFF2-40B4-BE49-F238E27FC236}">
                <a16:creationId xmlns:a16="http://schemas.microsoft.com/office/drawing/2014/main" id="{2541FFA9-49DD-48E6-9DA0-4EFEAC624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829050"/>
            <a:ext cx="1695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python -X utf8 -m workbench…</a:t>
            </a:r>
          </a:p>
        </p:txBody>
      </p:sp>
      <p:sp>
        <p:nvSpPr>
          <p:cNvPr id="45" name="椭圆 44">
            <a:extLst xmlns:a="http://schemas.openxmlformats.org/drawingml/2006/main">
              <a:ext uri="{FF2B5EF4-FFF2-40B4-BE49-F238E27FC236}">
                <a16:creationId xmlns:a16="http://schemas.microsoft.com/office/drawing/2014/main" id="{1D705C8A-C173-47D8-B003-02F69403A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419350"/>
            <a:ext cx="781050" cy="781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0D13"/>
          </a:solidFill>
          <a:ln xmlns:a="http://schemas.openxmlformats.org/drawingml/2006/main" w="19050">
            <a:solidFill>
              <a:srgbClr val="00E5FF"/>
            </a:solidFill>
            <a:prstDash val="solid"/>
          </a:ln>
        </p:spPr>
      </p:sp>
      <p:sp>
        <p:nvSpPr>
          <p:cNvPr id="46" name="矩形 45">
            <a:extLst xmlns:a="http://schemas.openxmlformats.org/drawingml/2006/main">
              <a:ext uri="{FF2B5EF4-FFF2-40B4-BE49-F238E27FC236}">
                <a16:creationId xmlns:a16="http://schemas.microsoft.com/office/drawing/2014/main" id="{883D81BD-FD29-462B-8051-263E78649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2447925"/>
            <a:ext cx="723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rPr>
              <a:t>04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E0224F56-0FA1-4BFB-BB96-770F5D9CC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409950"/>
            <a:ext cx="1162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93598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产生最小 Diff</a:t>
            </a:r>
          </a:p>
        </p:txBody>
      </p:sp>
      <p:sp>
        <p:nvSpPr>
          <p:cNvPr id="48" name="矩形 47">
            <a:extLst xmlns:a="http://schemas.openxmlformats.org/drawingml/2006/main">
              <a:ext uri="{FF2B5EF4-FFF2-40B4-BE49-F238E27FC236}">
                <a16:creationId xmlns:a16="http://schemas.microsoft.com/office/drawing/2014/main" id="{77366A96-74DC-4DFF-A9F0-2AF86D49B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829050"/>
            <a:ext cx="1695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写集、Diff、命令、退出码和报告身份可回指</a:t>
            </a:r>
          </a:p>
        </p:txBody>
      </p:sp>
      <p:sp>
        <p:nvSpPr>
          <p:cNvPr id="49" name="矩形: 圆角 48">
            <a:extLst xmlns:a="http://schemas.openxmlformats.org/drawingml/2006/main">
              <a:ext uri="{FF2B5EF4-FFF2-40B4-BE49-F238E27FC236}">
                <a16:creationId xmlns:a16="http://schemas.microsoft.com/office/drawing/2014/main" id="{DFB56C47-EEDD-4499-A22B-C4B93E69B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572000"/>
            <a:ext cx="74295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08121B"/>
          </a:solidFill>
          <a:ln xmlns:a="http://schemas.openxmlformats.org/drawingml/2006/main" w="11430">
            <a:solidFill>
              <a:srgbClr val="00E5FF"/>
            </a:solidFill>
            <a:prstDash val="solid"/>
          </a:ln>
        </p:spPr>
      </p:sp>
      <p:sp>
        <p:nvSpPr>
          <p:cNvPr id="50" name="矩形 49">
            <a:extLst xmlns:a="http://schemas.openxmlformats.org/drawingml/2006/main">
              <a:ext uri="{FF2B5EF4-FFF2-40B4-BE49-F238E27FC236}">
                <a16:creationId xmlns:a16="http://schemas.microsoft.com/office/drawing/2014/main" id="{77D89F6C-2F54-4746-9A52-B9319F27B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695825"/>
            <a:ext cx="704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96491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425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rPr>
              <a:t>EXIT → 受控 Diff、任务轨迹与独立复验记录 ｜ 下一断点：构造一个能杀死错误实现的 Eval</a:t>
            </a:r>
          </a:p>
        </p:txBody>
      </p:sp>
    </p:spTree>
    <p:extLst>
      <p:ext uri="{BB962C8B-B14F-4D97-AF65-F5344CB8AC3E}">
        <p14:creationId xmlns:p14="http://schemas.microsoft.com/office/powerpoint/2010/main" val="154229781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E11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C226F9A0-B29F-4E0A-9987-CB512DE8C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580" y="45720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FF8A3D"/>
                </a:solidFill>
                <a:latin typeface="Noto Sans CJK SC"/>
                <a:ea typeface="Noto Sans CJK SC"/>
                <a:cs typeface="Noto Sans CJK SC"/>
              </a:rPr>
              <a:t>L04 · 系统边界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99BA6901-7757-4A21-8884-ABA304E81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749808"/>
            <a:ext cx="1106424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3400"/>
              </a:lnSpc>
              <a:buNone/>
            </a:pPr>
            <a:r>
              <a:rPr sz="3000" b="1">
                <a:solidFill>
                  <a:srgbClr val="F2F4F8"/>
                </a:solidFill>
                <a:latin typeface="Noto Sans CJK SC"/>
                <a:ea typeface="Noto Sans CJK SC"/>
                <a:cs typeface="Noto Sans CJK SC"/>
              </a:rPr>
              <a:t>Prompt、Context、MCP、Tool、Agent 与 Router 不能混用</a:t>
            </a:r>
            <a:endParaRPr sz="30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DC754054-2851-4FF3-AE49-1F89FCA19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55080"/>
            <a:ext cx="5486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6B7684"/>
                </a:solidFill>
                <a:latin typeface="DejaVu Sans Mono"/>
                <a:ea typeface="DejaVu Sans Mono"/>
                <a:cs typeface="DejaVu Sans Mono"/>
              </a:rPr>
              <a:t>05</a:t>
            </a:r>
            <a:endParaRPr sz="1100"/>
          </a:p>
        </p:txBody>
      </p:sp>
      <p:sp>
        <p:nvSpPr>
          <p:cNvPr id="56" name="矩形: 圆角 55">
            <a:extLst xmlns:a="http://schemas.openxmlformats.org/drawingml/2006/main">
              <a:ext uri="{FF2B5EF4-FFF2-40B4-BE49-F238E27FC236}">
                <a16:creationId xmlns:a16="http://schemas.microsoft.com/office/drawing/2014/main" id="{2DEAC58F-0354-4825-B9C1-0E846242F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1854200"/>
            <a:ext cx="10287000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091019"/>
          </a:solidFill>
          <a:ln xmlns:a="http://schemas.openxmlformats.org/drawingml/2006/main" w="11430">
            <a:solidFill>
              <a:srgbClr val="00E5FF"/>
            </a:solidFill>
            <a:prstDash val="solid"/>
          </a:ln>
        </p:spPr>
      </p:sp>
      <p:sp>
        <p:nvSpPr>
          <p:cNvPr id="57" name="矩形 56">
            <a:extLst xmlns:a="http://schemas.openxmlformats.org/drawingml/2006/main">
              <a:ext uri="{FF2B5EF4-FFF2-40B4-BE49-F238E27FC236}">
                <a16:creationId xmlns:a16="http://schemas.microsoft.com/office/drawing/2014/main" id="{BD8AF188-9F4C-4A9A-B9E4-86D37EE8B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" y="2025650"/>
            <a:ext cx="523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25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rPr>
              <a:t>01</a:t>
            </a:r>
          </a:p>
        </p:txBody>
      </p:sp>
      <p:sp>
        <p:nvSpPr>
          <p:cNvPr id="58" name="矩形 57">
            <a:extLst xmlns:a="http://schemas.openxmlformats.org/drawingml/2006/main">
              <a:ext uri="{FF2B5EF4-FFF2-40B4-BE49-F238E27FC236}">
                <a16:creationId xmlns:a16="http://schemas.microsoft.com/office/drawing/2014/main" id="{23FE1FC5-803D-44ED-9219-00D4AFC9E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0680" y="2006600"/>
            <a:ext cx="2333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3F8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1">
                <a:solidFill>
                  <a:srgbClr val="F3F8FF"/>
                </a:solidFill>
                <a:latin typeface="DejaVu Sans Mono"/>
                <a:ea typeface="DejaVu Sans Mono"/>
                <a:cs typeface="DejaVu Sans Mono"/>
              </a:rPr>
              <a:t>CONTEXT / 读什么</a:t>
            </a:r>
          </a:p>
        </p:txBody>
      </p:sp>
      <p:sp>
        <p:nvSpPr>
          <p:cNvPr id="59" name="矩形 58">
            <a:extLst xmlns:a="http://schemas.openxmlformats.org/drawingml/2006/main">
              <a:ext uri="{FF2B5EF4-FFF2-40B4-BE49-F238E27FC236}">
                <a16:creationId xmlns:a16="http://schemas.microsoft.com/office/drawing/2014/main" id="{7BACE3E8-319F-4AA9-BFA5-1D3532BD9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1930" y="2006600"/>
            <a:ext cx="4095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当前事实、版本、来源与排除理由</a:t>
            </a:r>
          </a:p>
        </p:txBody>
      </p:sp>
      <p:sp>
        <p:nvSpPr>
          <p:cNvPr id="60" name="矩形 59">
            <a:extLst xmlns:a="http://schemas.openxmlformats.org/drawingml/2006/main">
              <a:ext uri="{FF2B5EF4-FFF2-40B4-BE49-F238E27FC236}">
                <a16:creationId xmlns:a16="http://schemas.microsoft.com/office/drawing/2014/main" id="{4A9068E2-6346-4315-A9A4-CDB10EF57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2930" y="2006600"/>
            <a:ext cx="2714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050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rPr>
              <a:t>workbench/executor.py</a:t>
            </a:r>
          </a:p>
        </p:txBody>
      </p:sp>
      <p:sp>
        <p:nvSpPr>
          <p:cNvPr id="61" name="矩形 60">
            <a:extLst xmlns:a="http://schemas.openxmlformats.org/drawingml/2006/main">
              <a:ext uri="{FF2B5EF4-FFF2-40B4-BE49-F238E27FC236}">
                <a16:creationId xmlns:a16="http://schemas.microsoft.com/office/drawing/2014/main" id="{0404E979-229A-427A-8D30-66B651278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" y="2578100"/>
            <a:ext cx="9944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243"/>
          </a:solidFill>
          <a:ln xmlns:a="http://schemas.openxmlformats.org/drawingml/2006/main" w="0">
            <a:solidFill>
              <a:srgbClr val="243243"/>
            </a:solidFill>
            <a:prstDash val="solid"/>
          </a:ln>
        </p:spPr>
      </p:sp>
      <p:sp>
        <p:nvSpPr>
          <p:cNvPr id="62" name="矩形 61">
            <a:extLst xmlns:a="http://schemas.openxmlformats.org/drawingml/2006/main">
              <a:ext uri="{FF2B5EF4-FFF2-40B4-BE49-F238E27FC236}">
                <a16:creationId xmlns:a16="http://schemas.microsoft.com/office/drawing/2014/main" id="{44A76E1A-21F1-413E-8E7D-8A4A6D81F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" y="2673350"/>
            <a:ext cx="523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39FFB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25" b="1">
                <a:solidFill>
                  <a:srgbClr val="39FFB6"/>
                </a:solidFill>
                <a:latin typeface="DejaVu Sans Mono"/>
                <a:ea typeface="DejaVu Sans Mono"/>
                <a:cs typeface="DejaVu Sans Mono"/>
              </a:rPr>
              <a:t>02</a:t>
            </a:r>
          </a:p>
        </p:txBody>
      </p:sp>
      <p:sp>
        <p:nvSpPr>
          <p:cNvPr id="63" name="矩形 62">
            <a:extLst xmlns:a="http://schemas.openxmlformats.org/drawingml/2006/main">
              <a:ext uri="{FF2B5EF4-FFF2-40B4-BE49-F238E27FC236}">
                <a16:creationId xmlns:a16="http://schemas.microsoft.com/office/drawing/2014/main" id="{208EAB27-1832-47B1-A140-F3FC1CE15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0680" y="2654300"/>
            <a:ext cx="2333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3F8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1">
                <a:solidFill>
                  <a:srgbClr val="F3F8FF"/>
                </a:solidFill>
                <a:latin typeface="DejaVu Sans Mono"/>
                <a:ea typeface="DejaVu Sans Mono"/>
                <a:cs typeface="DejaVu Sans Mono"/>
              </a:rPr>
              <a:t>EXECUTION / 做什么</a:t>
            </a:r>
          </a:p>
        </p:txBody>
      </p:sp>
      <p:sp>
        <p:nvSpPr>
          <p:cNvPr id="64" name="矩形 63">
            <a:extLst xmlns:a="http://schemas.openxmlformats.org/drawingml/2006/main">
              <a:ext uri="{FF2B5EF4-FFF2-40B4-BE49-F238E27FC236}">
                <a16:creationId xmlns:a16="http://schemas.microsoft.com/office/drawing/2014/main" id="{09F9CE4D-04EA-4E1B-868F-855FD93DE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1930" y="2654300"/>
            <a:ext cx="4095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Agent 只执行有 Schema、有授权的动作</a:t>
            </a:r>
          </a:p>
        </p:txBody>
      </p:sp>
      <p:sp>
        <p:nvSpPr>
          <p:cNvPr id="65" name="矩形 64">
            <a:extLst xmlns:a="http://schemas.openxmlformats.org/drawingml/2006/main">
              <a:ext uri="{FF2B5EF4-FFF2-40B4-BE49-F238E27FC236}">
                <a16:creationId xmlns:a16="http://schemas.microsoft.com/office/drawing/2014/main" id="{3724FA20-5883-4AE4-B559-AC49B02AA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2930" y="2654300"/>
            <a:ext cx="2714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39FFB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050" b="1">
                <a:solidFill>
                  <a:srgbClr val="39FFB6"/>
                </a:solidFill>
                <a:latin typeface="DejaVu Sans Mono"/>
                <a:ea typeface="DejaVu Sans Mono"/>
                <a:cs typeface="DejaVu Sans Mono"/>
              </a:rPr>
              <a:t>python -X utf8 -m workbench.cli task run TASK-ID</a:t>
            </a:r>
          </a:p>
        </p:txBody>
      </p:sp>
      <p:sp>
        <p:nvSpPr>
          <p:cNvPr id="66" name="矩形 65">
            <a:extLst xmlns:a="http://schemas.openxmlformats.org/drawingml/2006/main">
              <a:ext uri="{FF2B5EF4-FFF2-40B4-BE49-F238E27FC236}">
                <a16:creationId xmlns:a16="http://schemas.microsoft.com/office/drawing/2014/main" id="{D8B81F2A-0452-4660-BCDA-CCD1AAF50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" y="3225800"/>
            <a:ext cx="9944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243"/>
          </a:solidFill>
          <a:ln xmlns:a="http://schemas.openxmlformats.org/drawingml/2006/main" w="0">
            <a:solidFill>
              <a:srgbClr val="243243"/>
            </a:solidFill>
            <a:prstDash val="solid"/>
          </a:ln>
        </p:spPr>
      </p:sp>
      <p:sp>
        <p:nvSpPr>
          <p:cNvPr id="67" name="矩形 66">
            <a:extLst xmlns:a="http://schemas.openxmlformats.org/drawingml/2006/main">
              <a:ext uri="{FF2B5EF4-FFF2-40B4-BE49-F238E27FC236}">
                <a16:creationId xmlns:a16="http://schemas.microsoft.com/office/drawing/2014/main" id="{1566812C-BD40-4B82-856B-7E8A2AED9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" y="3321050"/>
            <a:ext cx="523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5A6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25" b="1">
                <a:solidFill>
                  <a:srgbClr val="FF5A6B"/>
                </a:solidFill>
                <a:latin typeface="DejaVu Sans Mono"/>
                <a:ea typeface="DejaVu Sans Mono"/>
                <a:cs typeface="DejaVu Sans Mono"/>
              </a:rPr>
              <a:t>03</a:t>
            </a:r>
          </a:p>
        </p:txBody>
      </p:sp>
      <p:sp>
        <p:nvSpPr>
          <p:cNvPr id="68" name="矩形 67">
            <a:extLst xmlns:a="http://schemas.openxmlformats.org/drawingml/2006/main">
              <a:ext uri="{FF2B5EF4-FFF2-40B4-BE49-F238E27FC236}">
                <a16:creationId xmlns:a16="http://schemas.microsoft.com/office/drawing/2014/main" id="{12EF9B48-1E26-4F2B-A4B7-0EEC2B568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0680" y="3302000"/>
            <a:ext cx="2333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3F8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1">
                <a:solidFill>
                  <a:srgbClr val="F3F8FF"/>
                </a:solidFill>
                <a:latin typeface="DejaVu Sans Mono"/>
                <a:ea typeface="DejaVu Sans Mono"/>
                <a:cs typeface="DejaVu Sans Mono"/>
              </a:rPr>
              <a:t>CONTROL / 何时停</a:t>
            </a:r>
          </a:p>
        </p:txBody>
      </p:sp>
      <p:sp>
        <p:nvSpPr>
          <p:cNvPr id="69" name="矩形 68">
            <a:extLst xmlns:a="http://schemas.openxmlformats.org/drawingml/2006/main">
              <a:ext uri="{FF2B5EF4-FFF2-40B4-BE49-F238E27FC236}">
                <a16:creationId xmlns:a16="http://schemas.microsoft.com/office/drawing/2014/main" id="{5EFB4FB9-DED8-453F-9918-5E8497C9F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1930" y="3302000"/>
            <a:ext cx="4095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只授权一个业务切片；修改者不能用自述给自己判成功</a:t>
            </a:r>
          </a:p>
        </p:txBody>
      </p:sp>
      <p:sp>
        <p:nvSpPr>
          <p:cNvPr id="70" name="矩形 69">
            <a:extLst xmlns:a="http://schemas.openxmlformats.org/drawingml/2006/main">
              <a:ext uri="{FF2B5EF4-FFF2-40B4-BE49-F238E27FC236}">
                <a16:creationId xmlns:a16="http://schemas.microsoft.com/office/drawing/2014/main" id="{CF3E4D23-C3B1-4B2D-82EB-2AE7C58CB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2930" y="3302000"/>
            <a:ext cx="2714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FF5A6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050" b="1">
                <a:solidFill>
                  <a:srgbClr val="FF5A6B"/>
                </a:solidFill>
                <a:latin typeface="DejaVu Sans Mono"/>
                <a:ea typeface="DejaVu Sans Mono"/>
                <a:cs typeface="DejaVu Sans Mono"/>
              </a:rPr>
              <a:t>Harness · Loop · Graph</a:t>
            </a:r>
          </a:p>
        </p:txBody>
      </p:sp>
      <p:sp>
        <p:nvSpPr>
          <p:cNvPr id="71" name="矩形 70">
            <a:extLst xmlns:a="http://schemas.openxmlformats.org/drawingml/2006/main">
              <a:ext uri="{FF2B5EF4-FFF2-40B4-BE49-F238E27FC236}">
                <a16:creationId xmlns:a16="http://schemas.microsoft.com/office/drawing/2014/main" id="{150EE3BD-7C9F-4187-BC12-B87757E82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" y="3873500"/>
            <a:ext cx="9944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243"/>
          </a:solidFill>
          <a:ln xmlns:a="http://schemas.openxmlformats.org/drawingml/2006/main" w="0">
            <a:solidFill>
              <a:srgbClr val="243243"/>
            </a:solidFill>
            <a:prstDash val="solid"/>
          </a:ln>
        </p:spPr>
      </p:sp>
      <p:sp>
        <p:nvSpPr>
          <p:cNvPr id="72" name="矩形 71">
            <a:extLst xmlns:a="http://schemas.openxmlformats.org/drawingml/2006/main">
              <a:ext uri="{FF2B5EF4-FFF2-40B4-BE49-F238E27FC236}">
                <a16:creationId xmlns:a16="http://schemas.microsoft.com/office/drawing/2014/main" id="{1049FDCD-5A54-4155-86A6-E5004DB91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" y="3968750"/>
            <a:ext cx="523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B8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25" b="1">
                <a:solidFill>
                  <a:srgbClr val="FFB84D"/>
                </a:solidFill>
                <a:latin typeface="DejaVu Sans Mono"/>
                <a:ea typeface="DejaVu Sans Mono"/>
                <a:cs typeface="DejaVu Sans Mono"/>
              </a:rPr>
              <a:t>04</a:t>
            </a:r>
          </a:p>
        </p:txBody>
      </p:sp>
      <p:sp>
        <p:nvSpPr>
          <p:cNvPr id="73" name="矩形 72">
            <a:extLst xmlns:a="http://schemas.openxmlformats.org/drawingml/2006/main">
              <a:ext uri="{FF2B5EF4-FFF2-40B4-BE49-F238E27FC236}">
                <a16:creationId xmlns:a16="http://schemas.microsoft.com/office/drawing/2014/main" id="{B10852D4-6CC0-4D12-AF49-B3C786D06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0680" y="3949700"/>
            <a:ext cx="2333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3F8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1">
                <a:solidFill>
                  <a:srgbClr val="F3F8FF"/>
                </a:solidFill>
                <a:latin typeface="DejaVu Sans Mono"/>
                <a:ea typeface="DejaVu Sans Mono"/>
                <a:cs typeface="DejaVu Sans Mono"/>
              </a:rPr>
              <a:t>CONNECTION / 接什么</a:t>
            </a:r>
          </a:p>
        </p:txBody>
      </p:sp>
      <p:sp>
        <p:nvSpPr>
          <p:cNvPr id="74" name="矩形 73">
            <a:extLst xmlns:a="http://schemas.openxmlformats.org/drawingml/2006/main">
              <a:ext uri="{FF2B5EF4-FFF2-40B4-BE49-F238E27FC236}">
                <a16:creationId xmlns:a16="http://schemas.microsoft.com/office/drawing/2014/main" id="{8A5D6F81-19D3-406F-87DD-52C321F7E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1930" y="3949700"/>
            <a:ext cx="4095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MCP 负责连接，Tool 负责一次动作</a:t>
            </a:r>
          </a:p>
        </p:txBody>
      </p:sp>
      <p:sp>
        <p:nvSpPr>
          <p:cNvPr id="75" name="矩形 74">
            <a:extLst xmlns:a="http://schemas.openxmlformats.org/drawingml/2006/main">
              <a:ext uri="{FF2B5EF4-FFF2-40B4-BE49-F238E27FC236}">
                <a16:creationId xmlns:a16="http://schemas.microsoft.com/office/drawing/2014/main" id="{E7B22C23-93C2-44CD-8CD2-A133C0C8E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2930" y="3949700"/>
            <a:ext cx="2714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FFB8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050" b="1">
                <a:solidFill>
                  <a:srgbClr val="FFB84D"/>
                </a:solidFill>
                <a:latin typeface="DejaVu Sans Mono"/>
                <a:ea typeface="DejaVu Sans Mono"/>
                <a:cs typeface="DejaVu Sans Mono"/>
              </a:rPr>
              <a:t>MCP · Tools · Router</a:t>
            </a:r>
          </a:p>
        </p:txBody>
      </p:sp>
      <p:sp>
        <p:nvSpPr>
          <p:cNvPr id="76" name="矩形 75">
            <a:extLst xmlns:a="http://schemas.openxmlformats.org/drawingml/2006/main">
              <a:ext uri="{FF2B5EF4-FFF2-40B4-BE49-F238E27FC236}">
                <a16:creationId xmlns:a16="http://schemas.microsoft.com/office/drawing/2014/main" id="{8898851A-737E-492B-BE80-F5FCF9BF6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" y="4521200"/>
            <a:ext cx="9944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243"/>
          </a:solidFill>
          <a:ln xmlns:a="http://schemas.openxmlformats.org/drawingml/2006/main" w="0">
            <a:solidFill>
              <a:srgbClr val="243243"/>
            </a:solidFill>
            <a:prstDash val="solid"/>
          </a:ln>
        </p:spPr>
      </p:sp>
      <p:sp>
        <p:nvSpPr>
          <p:cNvPr id="77" name="矩形 76">
            <a:extLst xmlns:a="http://schemas.openxmlformats.org/drawingml/2006/main">
              <a:ext uri="{FF2B5EF4-FFF2-40B4-BE49-F238E27FC236}">
                <a16:creationId xmlns:a16="http://schemas.microsoft.com/office/drawing/2014/main" id="{F2F0ED34-2E85-4587-A8A6-EF2453A87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" y="4616450"/>
            <a:ext cx="523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2BD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25" b="1">
                <a:solidFill>
                  <a:srgbClr val="FF2BD6"/>
                </a:solidFill>
                <a:latin typeface="DejaVu Sans Mono"/>
                <a:ea typeface="DejaVu Sans Mono"/>
                <a:cs typeface="DejaVu Sans Mono"/>
              </a:rPr>
              <a:t>05</a:t>
            </a:r>
          </a:p>
        </p:txBody>
      </p:sp>
      <p:sp>
        <p:nvSpPr>
          <p:cNvPr id="78" name="矩形 77">
            <a:extLst xmlns:a="http://schemas.openxmlformats.org/drawingml/2006/main">
              <a:ext uri="{FF2B5EF4-FFF2-40B4-BE49-F238E27FC236}">
                <a16:creationId xmlns:a16="http://schemas.microsoft.com/office/drawing/2014/main" id="{14D16ED1-6EB8-45C6-9AAF-D290B12F5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0680" y="4597400"/>
            <a:ext cx="2333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3F8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1">
                <a:solidFill>
                  <a:srgbClr val="F3F8FF"/>
                </a:solidFill>
                <a:latin typeface="DejaVu Sans Mono"/>
                <a:ea typeface="DejaVu Sans Mono"/>
                <a:cs typeface="DejaVu Sans Mono"/>
              </a:rPr>
              <a:t>MEMORY / 继承什么</a:t>
            </a:r>
          </a:p>
        </p:txBody>
      </p:sp>
      <p:sp>
        <p:nvSpPr>
          <p:cNvPr id="79" name="矩形 78">
            <a:extLst xmlns:a="http://schemas.openxmlformats.org/drawingml/2006/main">
              <a:ext uri="{FF2B5EF4-FFF2-40B4-BE49-F238E27FC236}">
                <a16:creationId xmlns:a16="http://schemas.microsoft.com/office/drawing/2014/main" id="{40326985-E61B-46D2-87B6-B241D074C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1930" y="4597400"/>
            <a:ext cx="4095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Tool 能做什么不等于 Agent 被授权做什么</a:t>
            </a:r>
          </a:p>
        </p:txBody>
      </p:sp>
      <p:sp>
        <p:nvSpPr>
          <p:cNvPr id="80" name="矩形 79">
            <a:extLst xmlns:a="http://schemas.openxmlformats.org/drawingml/2006/main">
              <a:ext uri="{FF2B5EF4-FFF2-40B4-BE49-F238E27FC236}">
                <a16:creationId xmlns:a16="http://schemas.microsoft.com/office/drawing/2014/main" id="{B35F83F9-F917-4A90-8870-9D4AC4024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2930" y="4597400"/>
            <a:ext cx="2714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FF2BD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050" b="1">
                <a:solidFill>
                  <a:srgbClr val="FF2BD6"/>
                </a:solidFill>
                <a:latin typeface="DejaVu Sans Mono"/>
                <a:ea typeface="DejaVu Sans Mono"/>
                <a:cs typeface="DejaVu Sans Mono"/>
              </a:rPr>
              <a:t>来源 · Scope · 版本 · ACL</a:t>
            </a:r>
          </a:p>
        </p:txBody>
      </p:sp>
      <p:sp>
        <p:nvSpPr>
          <p:cNvPr id="81" name="矩形: 圆角 80">
            <a:extLst xmlns:a="http://schemas.openxmlformats.org/drawingml/2006/main">
              <a:ext uri="{FF2B5EF4-FFF2-40B4-BE49-F238E27FC236}">
                <a16:creationId xmlns:a16="http://schemas.microsoft.com/office/drawing/2014/main" id="{001F6FF1-3517-4D3A-ABC6-DE0EA79F1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0680" y="5407025"/>
            <a:ext cx="8763000" cy="523875"/>
          </a:xfrm>
          <a:prstGeom xmlns:a="http://schemas.openxmlformats.org/drawingml/2006/main" prst="roundRect">
            <a:avLst>
              <a:gd name="adj" fmla="val 21818"/>
            </a:avLst>
          </a:prstGeom>
          <a:solidFill xmlns:a="http://schemas.openxmlformats.org/drawingml/2006/main">
            <a:srgbClr val="07130F"/>
          </a:solidFill>
          <a:ln xmlns:a="http://schemas.openxmlformats.org/drawingml/2006/main" w="11430">
            <a:solidFill>
              <a:srgbClr val="39FFB6"/>
            </a:solidFill>
            <a:prstDash val="solid"/>
          </a:ln>
        </p:spPr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66981A38-1429-4A2B-9F5A-404409A62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1180" y="5473700"/>
            <a:ext cx="838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39FFB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1">
                <a:solidFill>
                  <a:srgbClr val="39FFB6"/>
                </a:solidFill>
                <a:latin typeface="Noto Sans CJK SC"/>
                <a:ea typeface="Noto Sans CJK SC"/>
                <a:cs typeface="Noto Sans CJK SC"/>
              </a:rPr>
              <a:t>飞轮：受控 Diff、任务轨迹与独立复验记录 → 构造一个能杀死错误实现的 Eval</a:t>
            </a:r>
          </a:p>
        </p:txBody>
      </p:sp>
    </p:spTree>
    <p:extLst>
      <p:ext uri="{BB962C8B-B14F-4D97-AF65-F5344CB8AC3E}">
        <p14:creationId xmlns:p14="http://schemas.microsoft.com/office/powerpoint/2010/main" val="56121271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E11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F0D49DE0-15C9-4800-AF2B-52058D06B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580" y="45720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FF8A3D"/>
                </a:solidFill>
                <a:latin typeface="Noto Sans CJK SC"/>
                <a:ea typeface="Noto Sans CJK SC"/>
                <a:cs typeface="Noto Sans CJK SC"/>
              </a:rPr>
              <a:t>L04 · 可执行协议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691746CC-96E0-4943-BE9C-DE0093979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981075"/>
            <a:ext cx="1106424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3400"/>
              </a:lnSpc>
              <a:buNone/>
            </a:pPr>
            <a:r>
              <a:rPr sz="3000" b="1">
                <a:solidFill>
                  <a:srgbClr val="F2F4F8"/>
                </a:solidFill>
                <a:latin typeface="Noto Sans CJK SC"/>
                <a:ea typeface="Noto Sans CJK SC"/>
                <a:cs typeface="Noto Sans CJK SC"/>
              </a:rPr>
              <a:t>执行信封把写入白名单、超时和验证命令写死</a:t>
            </a:r>
            <a:endParaRPr sz="300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20C778D5-6DF1-4DF0-941C-239FFE19C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80644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3DD9A4"/>
                </a:solidFill>
                <a:latin typeface="Noto Sans CJK SC"/>
                <a:ea typeface="Noto Sans CJK SC"/>
                <a:cs typeface="Noto Sans CJK SC"/>
              </a:rPr>
              <a:t>只认命令、状态和证据，不认模型自述。</a:t>
            </a:r>
            <a:endParaRPr sz="14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5E1FBB94-A906-4AE2-A4F7-1E8A6FAB1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55080"/>
            <a:ext cx="5486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6B7684"/>
                </a:solidFill>
                <a:latin typeface="DejaVu Sans Mono"/>
                <a:ea typeface="DejaVu Sans Mono"/>
                <a:cs typeface="DejaVu Sans Mono"/>
              </a:rPr>
              <a:t>06</a:t>
            </a:r>
            <a:endParaRPr sz="1100"/>
          </a:p>
        </p:txBody>
      </p:sp>
      <p:sp>
        <p:nvSpPr>
          <p:cNvPr id="26" name="矩形: 圆角 25">
            <a:extLst xmlns:a="http://schemas.openxmlformats.org/drawingml/2006/main">
              <a:ext uri="{FF2B5EF4-FFF2-40B4-BE49-F238E27FC236}">
                <a16:creationId xmlns:a16="http://schemas.microsoft.com/office/drawing/2014/main" id="{BCEE04FB-4145-465C-B7FF-3B55827F7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81200"/>
            <a:ext cx="6858000" cy="3524250"/>
          </a:xfrm>
          <a:prstGeom xmlns:a="http://schemas.openxmlformats.org/drawingml/2006/main" prst="roundRect">
            <a:avLst>
              <a:gd name="adj" fmla="val 3243"/>
            </a:avLst>
          </a:prstGeom>
          <a:solidFill xmlns:a="http://schemas.openxmlformats.org/drawingml/2006/main">
            <a:srgbClr val="071018"/>
          </a:solidFill>
          <a:ln xmlns:a="http://schemas.openxmlformats.org/drawingml/2006/main" w="11430">
            <a:solidFill>
              <a:srgbClr val="00E5FF"/>
            </a:solidFill>
            <a:prstDash val="solid"/>
          </a:ln>
        </p:spPr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6440FDB9-80AC-454F-932B-F10EEFBFE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81200"/>
            <a:ext cx="6858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93A"/>
          </a:solidFill>
          <a:ln xmlns:a="http://schemas.openxmlformats.org/drawingml/2006/main" w="0">
            <a:solidFill>
              <a:srgbClr val="13293A"/>
            </a:solidFill>
            <a:prstDash val="solid"/>
          </a:ln>
        </p:spPr>
      </p:sp>
      <p:sp>
        <p:nvSpPr>
          <p:cNvPr id="28" name="椭圆 27">
            <a:extLst xmlns:a="http://schemas.openxmlformats.org/drawingml/2006/main">
              <a:ext uri="{FF2B5EF4-FFF2-40B4-BE49-F238E27FC236}">
                <a16:creationId xmlns:a16="http://schemas.microsoft.com/office/drawing/2014/main" id="{97999288-6600-4ABD-8B4D-E5E75FCB3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955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A6B"/>
          </a:solidFill>
          <a:ln xmlns:a="http://schemas.openxmlformats.org/drawingml/2006/main" w="0">
            <a:solidFill>
              <a:srgbClr val="FF5A6B"/>
            </a:solidFill>
            <a:prstDash val="solid"/>
          </a:ln>
        </p:spPr>
      </p:sp>
      <p:sp>
        <p:nvSpPr>
          <p:cNvPr id="29" name="椭圆 28">
            <a:extLst xmlns:a="http://schemas.openxmlformats.org/drawingml/2006/main">
              <a:ext uri="{FF2B5EF4-FFF2-40B4-BE49-F238E27FC236}">
                <a16:creationId xmlns:a16="http://schemas.microsoft.com/office/drawing/2014/main" id="{7603F459-86EC-47B2-B2FE-07DB5BB28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955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FFB84D"/>
            </a:solidFill>
            <a:prstDash val="solid"/>
          </a:ln>
        </p:spPr>
      </p:sp>
      <p:sp>
        <p:nvSpPr>
          <p:cNvPr id="30" name="椭圆 29">
            <a:extLst xmlns:a="http://schemas.openxmlformats.org/drawingml/2006/main">
              <a:ext uri="{FF2B5EF4-FFF2-40B4-BE49-F238E27FC236}">
                <a16:creationId xmlns:a16="http://schemas.microsoft.com/office/drawing/2014/main" id="{8E453BD9-2263-4E4F-9183-153BE604F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0955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FFB6"/>
          </a:solidFill>
          <a:ln xmlns:a="http://schemas.openxmlformats.org/drawingml/2006/main" w="0">
            <a:solidFill>
              <a:srgbClr val="39FFB6"/>
            </a:solidFill>
            <a:prstDash val="solid"/>
          </a:ln>
        </p:spPr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E177A0B9-F3F2-4650-8E49-2A0B3C8DD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038350"/>
            <a:ext cx="1571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9AA9B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975" b="0">
                <a:solidFill>
                  <a:srgbClr val="9AA9BC"/>
                </a:solidFill>
                <a:latin typeface="DejaVu Sans Mono"/>
                <a:ea typeface="DejaVu Sans Mono"/>
                <a:cs typeface="DejaVu Sans Mono"/>
              </a:rPr>
              <a:t>l04_delivery.ps1</a:t>
            </a:r>
          </a:p>
        </p:txBody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D15866D8-3BCC-4B24-BCE1-89EF8506E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33650"/>
            <a:ext cx="552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rPr>
              <a:t>$ 01</a:t>
            </a: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91F1A215-0B08-48A6-BF4C-774285482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533650"/>
            <a:ext cx="114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3F8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1">
                <a:solidFill>
                  <a:srgbClr val="F3F8FF"/>
                </a:solidFill>
                <a:latin typeface="DejaVu Sans Mono"/>
                <a:ea typeface="DejaVu Sans Mono"/>
                <a:cs typeface="DejaVu Sans Mono"/>
              </a:rPr>
              <a:t>CONTEXT</a:t>
            </a:r>
          </a:p>
        </p:txBody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30DE25F6-6B93-44D7-9CE3-57CFF6481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2533650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冻结 Spec</a:t>
            </a:r>
          </a:p>
        </p:txBody>
      </p:sp>
      <p:sp>
        <p:nvSpPr>
          <p:cNvPr id="35" name="矩形 34">
            <a:extLst xmlns:a="http://schemas.openxmlformats.org/drawingml/2006/main">
              <a:ext uri="{FF2B5EF4-FFF2-40B4-BE49-F238E27FC236}">
                <a16:creationId xmlns:a16="http://schemas.microsoft.com/office/drawing/2014/main" id="{0DA684CC-9F73-4AF9-81AB-36A3D6A6F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00400"/>
            <a:ext cx="552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2BD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1">
                <a:solidFill>
                  <a:srgbClr val="FF2BD6"/>
                </a:solidFill>
                <a:latin typeface="DejaVu Sans Mono"/>
                <a:ea typeface="DejaVu Sans Mono"/>
                <a:cs typeface="DejaVu Sans Mono"/>
              </a:rPr>
              <a:t>$ 02</a:t>
            </a:r>
          </a:p>
        </p:txBody>
      </p:sp>
      <p:sp>
        <p:nvSpPr>
          <p:cNvPr id="36" name="矩形 35">
            <a:extLst xmlns:a="http://schemas.openxmlformats.org/drawingml/2006/main">
              <a:ext uri="{FF2B5EF4-FFF2-40B4-BE49-F238E27FC236}">
                <a16:creationId xmlns:a16="http://schemas.microsoft.com/office/drawing/2014/main" id="{CEA1332B-5F10-408F-ADA7-79EA6B99A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200400"/>
            <a:ext cx="114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3F8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1">
                <a:solidFill>
                  <a:srgbClr val="F3F8FF"/>
                </a:solidFill>
                <a:latin typeface="DejaVu Sans Mono"/>
                <a:ea typeface="DejaVu Sans Mono"/>
                <a:cs typeface="DejaVu Sans Mono"/>
              </a:rPr>
              <a:t>EXECUTE</a:t>
            </a:r>
          </a:p>
        </p:txBody>
      </p:sp>
      <p:sp>
        <p:nvSpPr>
          <p:cNvPr id="37" name="矩形 36">
            <a:extLst xmlns:a="http://schemas.openxmlformats.org/drawingml/2006/main">
              <a:ext uri="{FF2B5EF4-FFF2-40B4-BE49-F238E27FC236}">
                <a16:creationId xmlns:a16="http://schemas.microsoft.com/office/drawing/2014/main" id="{8C6BB1D1-461B-4A7E-A5B5-D9E2CB03B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3200400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python -X utf8 -m workbench.cli task run TASK-ID</a:t>
            </a:r>
          </a:p>
        </p:txBody>
      </p:sp>
      <p:sp>
        <p:nvSpPr>
          <p:cNvPr id="38" name="矩形 37">
            <a:extLst xmlns:a="http://schemas.openxmlformats.org/drawingml/2006/main">
              <a:ext uri="{FF2B5EF4-FFF2-40B4-BE49-F238E27FC236}">
                <a16:creationId xmlns:a16="http://schemas.microsoft.com/office/drawing/2014/main" id="{B2AA1072-F3B5-4931-BBF4-214A74C91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67150"/>
            <a:ext cx="552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B8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1">
                <a:solidFill>
                  <a:srgbClr val="FFB84D"/>
                </a:solidFill>
                <a:latin typeface="DejaVu Sans Mono"/>
                <a:ea typeface="DejaVu Sans Mono"/>
                <a:cs typeface="DejaVu Sans Mono"/>
              </a:rPr>
              <a:t>$ 03</a:t>
            </a:r>
          </a:p>
        </p:txBody>
      </p:sp>
      <p:sp>
        <p:nvSpPr>
          <p:cNvPr id="39" name="矩形 38">
            <a:extLst xmlns:a="http://schemas.openxmlformats.org/drawingml/2006/main">
              <a:ext uri="{FF2B5EF4-FFF2-40B4-BE49-F238E27FC236}">
                <a16:creationId xmlns:a16="http://schemas.microsoft.com/office/drawing/2014/main" id="{2B32AF31-0897-4798-A1E5-94622897F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867150"/>
            <a:ext cx="114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3F8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1">
                <a:solidFill>
                  <a:srgbClr val="F3F8FF"/>
                </a:solidFill>
                <a:latin typeface="DejaVu Sans Mono"/>
                <a:ea typeface="DejaVu Sans Mono"/>
                <a:cs typeface="DejaVu Sans Mono"/>
              </a:rPr>
              <a:t>VERIFY</a:t>
            </a:r>
          </a:p>
        </p:txBody>
      </p:sp>
      <p:sp>
        <p:nvSpPr>
          <p:cNvPr id="40" name="矩形 39">
            <a:extLst xmlns:a="http://schemas.openxmlformats.org/drawingml/2006/main">
              <a:ext uri="{FF2B5EF4-FFF2-40B4-BE49-F238E27FC236}">
                <a16:creationId xmlns:a16="http://schemas.microsoft.com/office/drawing/2014/main" id="{2D489B47-1F1A-4EDA-AA1B-65A49E5A4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3867150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写集、Diff、命令、退出码和报告身份可回指</a:t>
            </a:r>
          </a:p>
        </p:txBody>
      </p:sp>
      <p:sp>
        <p:nvSpPr>
          <p:cNvPr id="41" name="矩形 40">
            <a:extLst xmlns:a="http://schemas.openxmlformats.org/drawingml/2006/main">
              <a:ext uri="{FF2B5EF4-FFF2-40B4-BE49-F238E27FC236}">
                <a16:creationId xmlns:a16="http://schemas.microsoft.com/office/drawing/2014/main" id="{66E076DD-187B-4E37-831B-E915D2B07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33900"/>
            <a:ext cx="552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39FFB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1">
                <a:solidFill>
                  <a:srgbClr val="39FFB6"/>
                </a:solidFill>
                <a:latin typeface="DejaVu Sans Mono"/>
                <a:ea typeface="DejaVu Sans Mono"/>
                <a:cs typeface="DejaVu Sans Mono"/>
              </a:rPr>
              <a:t>$ 04</a:t>
            </a:r>
          </a:p>
        </p:txBody>
      </p:sp>
      <p:sp>
        <p:nvSpPr>
          <p:cNvPr id="42" name="矩形 41">
            <a:extLst xmlns:a="http://schemas.openxmlformats.org/drawingml/2006/main">
              <a:ext uri="{FF2B5EF4-FFF2-40B4-BE49-F238E27FC236}">
                <a16:creationId xmlns:a16="http://schemas.microsoft.com/office/drawing/2014/main" id="{5F52BF3F-6B01-4ECA-AEF5-B42FA9C4D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533900"/>
            <a:ext cx="114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3F8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1">
                <a:solidFill>
                  <a:srgbClr val="F3F8FF"/>
                </a:solidFill>
                <a:latin typeface="DejaVu Sans Mono"/>
                <a:ea typeface="DejaVu Sans Mono"/>
                <a:cs typeface="DejaVu Sans Mono"/>
              </a:rPr>
              <a:t>HANDOFF</a:t>
            </a:r>
          </a:p>
        </p:txBody>
      </p:sp>
      <p:sp>
        <p:nvSpPr>
          <p:cNvPr id="43" name="矩形 42">
            <a:extLst xmlns:a="http://schemas.openxmlformats.org/drawingml/2006/main">
              <a:ext uri="{FF2B5EF4-FFF2-40B4-BE49-F238E27FC236}">
                <a16:creationId xmlns:a16="http://schemas.microsoft.com/office/drawing/2014/main" id="{B993E269-7B99-406E-A2B7-EDA121C56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4533900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构造一个能杀死错误实现的 Eval</a:t>
            </a:r>
          </a:p>
        </p:txBody>
      </p:sp>
      <p:sp>
        <p:nvSpPr>
          <p:cNvPr id="44" name="矩形 43">
            <a:extLst xmlns:a="http://schemas.openxmlformats.org/drawingml/2006/main">
              <a:ext uri="{FF2B5EF4-FFF2-40B4-BE49-F238E27FC236}">
                <a16:creationId xmlns:a16="http://schemas.microsoft.com/office/drawing/2014/main" id="{F9ABC7C1-A726-4053-BD01-A01CCA148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228850"/>
            <a:ext cx="2571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4050" b="1">
                <a:solidFill>
                  <a:srgbClr val="39FFB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4050" b="1">
                <a:solidFill>
                  <a:srgbClr val="39FFB6"/>
                </a:solidFill>
                <a:latin typeface="DejaVu Sans Mono"/>
                <a:ea typeface="DejaVu Sans Mono"/>
                <a:cs typeface="DejaVu Sans Mono"/>
              </a:rPr>
              <a:t>READY</a:t>
            </a:r>
          </a:p>
        </p:txBody>
      </p:sp>
      <p:sp>
        <p:nvSpPr>
          <p:cNvPr id="45" name="矩形 44">
            <a:extLst xmlns:a="http://schemas.openxmlformats.org/drawingml/2006/main">
              <a:ext uri="{FF2B5EF4-FFF2-40B4-BE49-F238E27FC236}">
                <a16:creationId xmlns:a16="http://schemas.microsoft.com/office/drawing/2014/main" id="{8E1B6931-113A-4E1C-80C6-71261DAC3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143250"/>
            <a:ext cx="295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一条链直接复现</a:t>
            </a:r>
          </a:p>
        </p:txBody>
      </p:sp>
      <p:sp>
        <p:nvSpPr>
          <p:cNvPr id="46" name="矩形: 圆角 45">
            <a:extLst xmlns:a="http://schemas.openxmlformats.org/drawingml/2006/main">
              <a:ext uri="{FF2B5EF4-FFF2-40B4-BE49-F238E27FC236}">
                <a16:creationId xmlns:a16="http://schemas.microsoft.com/office/drawing/2014/main" id="{E9DA1B5B-C67C-4999-9901-FEB0AEB1E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752850"/>
            <a:ext cx="3143250" cy="131445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A1018"/>
          </a:solidFill>
          <a:ln xmlns:a="http://schemas.openxmlformats.org/drawingml/2006/main" w="11430">
            <a:solidFill>
              <a:srgbClr val="FF2BD6"/>
            </a:solidFill>
            <a:prstDash val="solid"/>
          </a:ln>
        </p:spPr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E478CB23-86B0-414C-9BC7-F8C5EAF09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8862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00E5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1">
                <a:solidFill>
                  <a:srgbClr val="00E5FF"/>
                </a:solidFill>
                <a:latin typeface="Noto Sans CJK SC"/>
                <a:ea typeface="Noto Sans CJK SC"/>
                <a:cs typeface="Noto Sans CJK SC"/>
              </a:rPr>
              <a:t>可验证</a:t>
            </a:r>
          </a:p>
        </p:txBody>
      </p:sp>
      <p:sp>
        <p:nvSpPr>
          <p:cNvPr id="48" name="矩形 47">
            <a:extLst xmlns:a="http://schemas.openxmlformats.org/drawingml/2006/main">
              <a:ext uri="{FF2B5EF4-FFF2-40B4-BE49-F238E27FC236}">
                <a16:creationId xmlns:a16="http://schemas.microsoft.com/office/drawing/2014/main" id="{C851B205-91DF-4B69-AA6A-EE4ED9CD0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2481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2BD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1">
                <a:solidFill>
                  <a:srgbClr val="FF2BD6"/>
                </a:solidFill>
                <a:latin typeface="Noto Sans CJK SC"/>
                <a:ea typeface="Noto Sans CJK SC"/>
                <a:cs typeface="Noto Sans CJK SC"/>
              </a:rPr>
              <a:t>可追踪</a:t>
            </a:r>
          </a:p>
        </p:txBody>
      </p:sp>
      <p:sp>
        <p:nvSpPr>
          <p:cNvPr id="49" name="矩形 48">
            <a:extLst xmlns:a="http://schemas.openxmlformats.org/drawingml/2006/main">
              <a:ext uri="{FF2B5EF4-FFF2-40B4-BE49-F238E27FC236}">
                <a16:creationId xmlns:a16="http://schemas.microsoft.com/office/drawing/2014/main" id="{E741C37D-9DEC-49A7-A998-28CE6BFD2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6101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39FFB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1">
                <a:solidFill>
                  <a:srgbClr val="39FFB6"/>
                </a:solidFill>
                <a:latin typeface="Noto Sans CJK SC"/>
                <a:ea typeface="Noto Sans CJK SC"/>
                <a:cs typeface="Noto Sans CJK SC"/>
              </a:rPr>
              <a:t>可移交</a:t>
            </a:r>
          </a:p>
        </p:txBody>
      </p:sp>
    </p:spTree>
    <p:extLst>
      <p:ext uri="{BB962C8B-B14F-4D97-AF65-F5344CB8AC3E}">
        <p14:creationId xmlns:p14="http://schemas.microsoft.com/office/powerpoint/2010/main" val="61741592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E11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DE62DE75-2A31-4C5C-93B7-72FB4CFDB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520" y="45720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3DD9A4"/>
                </a:solidFill>
                <a:latin typeface="Noto Sans CJK SC"/>
                <a:ea typeface="Noto Sans CJK SC"/>
                <a:cs typeface="Noto Sans CJK SC"/>
              </a:rPr>
              <a:t>L04 · 真实项目截图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CA5B4DCC-72E8-4C58-B245-A098A93AE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749808"/>
            <a:ext cx="1106424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3400"/>
              </a:lnSpc>
              <a:buNone/>
            </a:pPr>
            <a:r>
              <a:rPr sz="3000" b="1">
                <a:solidFill>
                  <a:srgbClr val="F2F4F8"/>
                </a:solidFill>
                <a:latin typeface="Noto Sans CJK SC"/>
                <a:ea typeface="Noto Sans CJK SC"/>
                <a:cs typeface="Noto Sans CJK SC"/>
              </a:rPr>
              <a:t>任务先有身份，执行动作才有追溯入口</a:t>
            </a:r>
            <a:endParaRPr sz="30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0DC2491E-BF4F-4BF1-9391-4776A0C95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55080"/>
            <a:ext cx="5486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6B7684"/>
                </a:solidFill>
                <a:latin typeface="DejaVu Sans Mono"/>
                <a:ea typeface="DejaVu Sans Mono"/>
                <a:cs typeface="DejaVu Sans Mono"/>
              </a:rPr>
              <a:t>07</a:t>
            </a:r>
            <a:endParaRPr sz="1100"/>
          </a:p>
        </p:txBody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5DF754FD-DDEA-4BB3-BDF3-63EB4E559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572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rPr>
              <a:t>// LIVE STATE + PROOF</a:t>
            </a: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4A2628CD-A963-4895-89F8-824607944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466850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研发交付工作台正在执行真实代码任务</a:t>
            </a:r>
          </a:p>
        </p:txBody>
      </p:sp>
      <p:pic>
        <p:nvPicPr>
          <p:cNvPr id="41" name="ERP系统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0cc4c23f064cf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</p:spPr>
      </p:pic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461675e6fd4750"/>
          <a:stretch xmlns:a="http://schemas.openxmlformats.org/drawingml/2006/main"/>
        </p:blipFill>
        <p:spPr>
          <a:xfrm xmlns:a="http://schemas.openxmlformats.org/drawingml/2006/main">
            <a:off x="1891564" y="1897052"/>
            <a:ext cx="8529141" cy="477806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410493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E11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1F48D438-DE1E-4B87-85D2-87BA092F9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520" y="45720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3DD9A4"/>
                </a:solidFill>
                <a:latin typeface="Noto Sans CJK SC"/>
                <a:ea typeface="Noto Sans CJK SC"/>
                <a:cs typeface="Noto Sans CJK SC"/>
              </a:rPr>
              <a:t>L04 · 控制图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F69C65A1-F455-4246-8E09-72C2D1F57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749808"/>
            <a:ext cx="1106424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3400"/>
              </a:lnSpc>
              <a:buNone/>
              <a:defRPr sz="285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85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能力信封决定 Agent 能看到什么、能改什么、何时停止</a:t>
            </a:r>
            <a:endParaRPr sz="30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BE8E831B-809D-46FB-BE75-C76CB5E59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456" y="1529846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1350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控制先于自动化：Tool 能做什么不等于 Agent 被授权做什么</a:t>
            </a:r>
            <a:endParaRPr sz="150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A187EF46-FC27-477C-8B4E-4553BA056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55080"/>
            <a:ext cx="5486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6B7684"/>
                </a:solidFill>
                <a:latin typeface="DejaVu Sans Mono"/>
                <a:ea typeface="DejaVu Sans Mono"/>
                <a:cs typeface="DejaVu Sans Mono"/>
              </a:rPr>
              <a:t>08</a:t>
            </a:r>
            <a:endParaRPr sz="1100"/>
          </a:p>
        </p:txBody>
      </p:sp>
      <p:sp>
        <p:nvSpPr>
          <p:cNvPr id="31" name="矩形: 圆角 30">
            <a:extLst xmlns:a="http://schemas.openxmlformats.org/drawingml/2006/main">
              <a:ext uri="{FF2B5EF4-FFF2-40B4-BE49-F238E27FC236}">
                <a16:creationId xmlns:a16="http://schemas.microsoft.com/office/drawing/2014/main" id="{E732A3E7-9E6B-4D68-8DDE-1B032CADC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095500"/>
            <a:ext cx="885825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08131A"/>
          </a:solidFill>
          <a:ln xmlns:a="http://schemas.openxmlformats.org/drawingml/2006/main" w="11430">
            <a:solidFill>
              <a:srgbClr val="00E5FF"/>
            </a:solidFill>
            <a:prstDash val="solid"/>
          </a:ln>
        </p:spPr>
      </p:sp>
      <p:sp>
        <p:nvSpPr>
          <p:cNvPr id="32" name="矩形: 圆角 31">
            <a:extLst xmlns:a="http://schemas.openxmlformats.org/drawingml/2006/main">
              <a:ext uri="{FF2B5EF4-FFF2-40B4-BE49-F238E27FC236}">
                <a16:creationId xmlns:a16="http://schemas.microsoft.com/office/drawing/2014/main" id="{91327428-656B-418B-A65B-C6ABD5986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3162300"/>
            <a:ext cx="88582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131007"/>
          </a:solidFill>
          <a:ln xmlns:a="http://schemas.openxmlformats.org/drawingml/2006/main" w="11430">
            <a:solidFill>
              <a:srgbClr val="FFB84D"/>
            </a:solidFill>
            <a:prstDash val="solid"/>
          </a:ln>
        </p:spPr>
      </p:sp>
      <p:sp>
        <p:nvSpPr>
          <p:cNvPr id="33" name="矩形: 圆角 32">
            <a:extLst xmlns:a="http://schemas.openxmlformats.org/drawingml/2006/main">
              <a:ext uri="{FF2B5EF4-FFF2-40B4-BE49-F238E27FC236}">
                <a16:creationId xmlns:a16="http://schemas.microsoft.com/office/drawing/2014/main" id="{FF23373C-9EC9-4328-9EF6-4DEF40C82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4514850"/>
            <a:ext cx="885825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20914"/>
          </a:solidFill>
          <a:ln xmlns:a="http://schemas.openxmlformats.org/drawingml/2006/main" w="11430">
            <a:solidFill>
              <a:srgbClr val="FF2BD6"/>
            </a:solidFill>
            <a:prstDash val="solid"/>
          </a:ln>
        </p:spPr>
      </p:sp>
      <p:sp>
        <p:nvSpPr>
          <p:cNvPr id="34" name="箭头: 右 33">
            <a:extLst xmlns:a="http://schemas.openxmlformats.org/drawingml/2006/main">
              <a:ext uri="{FF2B5EF4-FFF2-40B4-BE49-F238E27FC236}">
                <a16:creationId xmlns:a16="http://schemas.microsoft.com/office/drawing/2014/main" id="{5FB90452-4AFB-4087-877A-C3B358D79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2524125"/>
            <a:ext cx="3619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E5FF"/>
          </a:solidFill>
          <a:ln xmlns:a="http://schemas.openxmlformats.org/drawingml/2006/main" w="0">
            <a:solidFill>
              <a:srgbClr val="00E5FF"/>
            </a:solidFill>
            <a:prstDash val="solid"/>
          </a:ln>
        </p:spPr>
      </p:sp>
      <p:sp>
        <p:nvSpPr>
          <p:cNvPr id="35" name="箭头: 右 34">
            <a:extLst xmlns:a="http://schemas.openxmlformats.org/drawingml/2006/main">
              <a:ext uri="{FF2B5EF4-FFF2-40B4-BE49-F238E27FC236}">
                <a16:creationId xmlns:a16="http://schemas.microsoft.com/office/drawing/2014/main" id="{EC70E40F-93F4-425C-B507-BEEA94B32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3667125"/>
            <a:ext cx="3619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FFB84D"/>
            </a:solidFill>
            <a:prstDash val="solid"/>
          </a:ln>
        </p:spPr>
      </p:sp>
      <p:sp>
        <p:nvSpPr>
          <p:cNvPr id="36" name="箭头: 右 35">
            <a:extLst xmlns:a="http://schemas.openxmlformats.org/drawingml/2006/main">
              <a:ext uri="{FF2B5EF4-FFF2-40B4-BE49-F238E27FC236}">
                <a16:creationId xmlns:a16="http://schemas.microsoft.com/office/drawing/2014/main" id="{C0367AD3-6DA6-4645-9BE5-57F2C6899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4810125"/>
            <a:ext cx="3619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2BD6"/>
          </a:solidFill>
          <a:ln xmlns:a="http://schemas.openxmlformats.org/drawingml/2006/main" w="0">
            <a:solidFill>
              <a:srgbClr val="FF2BD6"/>
            </a:solidFill>
            <a:prstDash val="solid"/>
          </a:ln>
        </p:spPr>
      </p:sp>
      <p:sp>
        <p:nvSpPr>
          <p:cNvPr id="38" name="箭头: 右 37">
            <a:extLst xmlns:a="http://schemas.openxmlformats.org/drawingml/2006/main">
              <a:ext uri="{FF2B5EF4-FFF2-40B4-BE49-F238E27FC236}">
                <a16:creationId xmlns:a16="http://schemas.microsoft.com/office/drawing/2014/main" id="{EBAFB51D-6B0C-43D3-AE78-9D788D1E9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533650"/>
            <a:ext cx="3238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E5FF"/>
          </a:solidFill>
          <a:ln xmlns:a="http://schemas.openxmlformats.org/drawingml/2006/main" w="0">
            <a:solidFill>
              <a:srgbClr val="00E5FF"/>
            </a:solidFill>
            <a:prstDash val="solid"/>
          </a:ln>
        </p:spPr>
      </p:sp>
      <p:sp>
        <p:nvSpPr>
          <p:cNvPr id="39" name="箭头: 右 38">
            <a:extLst xmlns:a="http://schemas.openxmlformats.org/drawingml/2006/main">
              <a:ext uri="{FF2B5EF4-FFF2-40B4-BE49-F238E27FC236}">
                <a16:creationId xmlns:a16="http://schemas.microsoft.com/office/drawing/2014/main" id="{55BA0BF9-DD7E-42F7-93DB-51FA2B8FB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533650"/>
            <a:ext cx="3238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E5FF"/>
          </a:solidFill>
          <a:ln xmlns:a="http://schemas.openxmlformats.org/drawingml/2006/main" w="0">
            <a:solidFill>
              <a:srgbClr val="00E5FF"/>
            </a:solidFill>
            <a:prstDash val="solid"/>
          </a:ln>
        </p:spPr>
      </p:sp>
      <p:sp>
        <p:nvSpPr>
          <p:cNvPr id="41" name="箭头: 右 40">
            <a:extLst xmlns:a="http://schemas.openxmlformats.org/drawingml/2006/main">
              <a:ext uri="{FF2B5EF4-FFF2-40B4-BE49-F238E27FC236}">
                <a16:creationId xmlns:a16="http://schemas.microsoft.com/office/drawing/2014/main" id="{D8D51759-5ACA-41E5-A178-F181DC818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733800"/>
            <a:ext cx="285750" cy="1428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FFB84D"/>
            </a:solidFill>
            <a:prstDash val="solid"/>
          </a:ln>
        </p:spPr>
      </p:sp>
      <p:sp>
        <p:nvSpPr>
          <p:cNvPr id="42" name="箭头: 右 41">
            <a:extLst xmlns:a="http://schemas.openxmlformats.org/drawingml/2006/main">
              <a:ext uri="{FF2B5EF4-FFF2-40B4-BE49-F238E27FC236}">
                <a16:creationId xmlns:a16="http://schemas.microsoft.com/office/drawing/2014/main" id="{5E7D2E9A-AF91-4458-BE02-652FAADD0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733800"/>
            <a:ext cx="285750" cy="1428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FFB84D"/>
            </a:solidFill>
            <a:prstDash val="solid"/>
          </a:ln>
        </p:spPr>
      </p:sp>
      <p:sp>
        <p:nvSpPr>
          <p:cNvPr id="43" name="箭头: 右 42">
            <a:extLst xmlns:a="http://schemas.openxmlformats.org/drawingml/2006/main">
              <a:ext uri="{FF2B5EF4-FFF2-40B4-BE49-F238E27FC236}">
                <a16:creationId xmlns:a16="http://schemas.microsoft.com/office/drawing/2014/main" id="{C0A298E1-5D28-4DE4-B94F-8B14C432C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3733800"/>
            <a:ext cx="285750" cy="1428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FFB84D"/>
            </a:solidFill>
            <a:prstDash val="solid"/>
          </a:ln>
        </p:spPr>
      </p:sp>
      <p:sp>
        <p:nvSpPr>
          <p:cNvPr id="45" name="箭头: 右 44">
            <a:extLst xmlns:a="http://schemas.openxmlformats.org/drawingml/2006/main">
              <a:ext uri="{FF2B5EF4-FFF2-40B4-BE49-F238E27FC236}">
                <a16:creationId xmlns:a16="http://schemas.microsoft.com/office/drawing/2014/main" id="{639F4557-A109-4A12-81E7-0FB5337D3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876800"/>
            <a:ext cx="3429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2BD6"/>
          </a:solidFill>
          <a:ln xmlns:a="http://schemas.openxmlformats.org/drawingml/2006/main" w="0">
            <a:solidFill>
              <a:srgbClr val="FF2BD6"/>
            </a:solidFill>
            <a:prstDash val="solid"/>
          </a:ln>
        </p:spPr>
      </p:sp>
      <p:sp>
        <p:nvSpPr>
          <p:cNvPr id="46" name="矩形: 圆角 45">
            <a:extLst xmlns:a="http://schemas.openxmlformats.org/drawingml/2006/main">
              <a:ext uri="{FF2B5EF4-FFF2-40B4-BE49-F238E27FC236}">
                <a16:creationId xmlns:a16="http://schemas.microsoft.com/office/drawing/2014/main" id="{7B7B4075-270E-4989-8494-D31991CAF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95500"/>
            <a:ext cx="1762125" cy="3333750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071018"/>
          </a:solidFill>
          <a:ln xmlns:a="http://schemas.openxmlformats.org/drawingml/2006/main" w="11430">
            <a:solidFill>
              <a:srgbClr val="00E5FF"/>
            </a:solidFill>
            <a:prstDash val="solid"/>
          </a:ln>
        </p:spPr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0B627DE0-7703-44A7-A425-121F336BB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479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rPr>
              <a:t>ROUTER</a:t>
            </a:r>
          </a:p>
        </p:txBody>
      </p:sp>
      <p:sp>
        <p:nvSpPr>
          <p:cNvPr id="48" name="矩形 47">
            <a:extLst xmlns:a="http://schemas.openxmlformats.org/drawingml/2006/main">
              <a:ext uri="{FF2B5EF4-FFF2-40B4-BE49-F238E27FC236}">
                <a16:creationId xmlns:a16="http://schemas.microsoft.com/office/drawing/2014/main" id="{D4AF015E-561F-4EE5-A4E9-39933B1C8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28900"/>
            <a:ext cx="1428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276"/>
          </a:solidFill>
          <a:ln xmlns:a="http://schemas.openxmlformats.org/drawingml/2006/main" w="0">
            <a:solidFill>
              <a:srgbClr val="526276"/>
            </a:solidFill>
            <a:prstDash val="solid"/>
          </a:ln>
        </p:spPr>
      </p:sp>
      <p:sp>
        <p:nvSpPr>
          <p:cNvPr id="49" name="矩形 48">
            <a:extLst xmlns:a="http://schemas.openxmlformats.org/drawingml/2006/main">
              <a:ext uri="{FF2B5EF4-FFF2-40B4-BE49-F238E27FC236}">
                <a16:creationId xmlns:a16="http://schemas.microsoft.com/office/drawing/2014/main" id="{CA73F08C-3059-4FC2-B2CE-F39ED189E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81300"/>
            <a:ext cx="342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050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rPr>
              <a:t>01</a:t>
            </a:r>
          </a:p>
        </p:txBody>
      </p:sp>
      <p:sp>
        <p:nvSpPr>
          <p:cNvPr id="50" name="矩形 49">
            <a:extLst xmlns:a="http://schemas.openxmlformats.org/drawingml/2006/main">
              <a:ext uri="{FF2B5EF4-FFF2-40B4-BE49-F238E27FC236}">
                <a16:creationId xmlns:a16="http://schemas.microsoft.com/office/drawing/2014/main" id="{B937224A-C0B1-4EC6-9C73-28D1B123B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733675"/>
            <a:ext cx="1095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写集冲突？</a:t>
            </a:r>
          </a:p>
        </p:txBody>
      </p:sp>
      <p:sp>
        <p:nvSpPr>
          <p:cNvPr id="51" name="矩形 50">
            <a:extLst xmlns:a="http://schemas.openxmlformats.org/drawingml/2006/main">
              <a:ext uri="{FF2B5EF4-FFF2-40B4-BE49-F238E27FC236}">
                <a16:creationId xmlns:a16="http://schemas.microsoft.com/office/drawing/2014/main" id="{10C8D03A-DC96-4D8A-9BE0-AEC2BC934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29000"/>
            <a:ext cx="342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FB8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050" b="1">
                <a:solidFill>
                  <a:srgbClr val="FFB84D"/>
                </a:solidFill>
                <a:latin typeface="DejaVu Sans Mono"/>
                <a:ea typeface="DejaVu Sans Mono"/>
                <a:cs typeface="DejaVu Sans Mono"/>
              </a:rPr>
              <a:t>02</a:t>
            </a:r>
          </a:p>
        </p:txBody>
      </p:sp>
      <p:sp>
        <p:nvSpPr>
          <p:cNvPr id="52" name="矩形 51">
            <a:extLst xmlns:a="http://schemas.openxmlformats.org/drawingml/2006/main">
              <a:ext uri="{FF2B5EF4-FFF2-40B4-BE49-F238E27FC236}">
                <a16:creationId xmlns:a16="http://schemas.microsoft.com/office/drawing/2014/main" id="{5C2336E3-9312-4A5E-BFB5-77E6F3F21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333750"/>
            <a:ext cx="1095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有失败证据？</a:t>
            </a:r>
          </a:p>
        </p:txBody>
      </p:sp>
      <p:sp>
        <p:nvSpPr>
          <p:cNvPr id="53" name="矩形 52">
            <a:extLst xmlns:a="http://schemas.openxmlformats.org/drawingml/2006/main">
              <a:ext uri="{FF2B5EF4-FFF2-40B4-BE49-F238E27FC236}">
                <a16:creationId xmlns:a16="http://schemas.microsoft.com/office/drawing/2014/main" id="{30BB27B1-A6A3-4F15-98EB-047AEC6C9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71950"/>
            <a:ext cx="342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F2BD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050" b="1">
                <a:solidFill>
                  <a:srgbClr val="FF2BD6"/>
                </a:solidFill>
                <a:latin typeface="DejaVu Sans Mono"/>
                <a:ea typeface="DejaVu Sans Mono"/>
                <a:cs typeface="DejaVu Sans Mono"/>
              </a:rPr>
              <a:t>03</a:t>
            </a:r>
          </a:p>
        </p:txBody>
      </p:sp>
      <p:sp>
        <p:nvSpPr>
          <p:cNvPr id="54" name="矩形 53">
            <a:extLst xmlns:a="http://schemas.openxmlformats.org/drawingml/2006/main">
              <a:ext uri="{FF2B5EF4-FFF2-40B4-BE49-F238E27FC236}">
                <a16:creationId xmlns:a16="http://schemas.microsoft.com/office/drawing/2014/main" id="{C7E81910-EEE3-4973-94E6-49B86165B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076700"/>
            <a:ext cx="1095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触发人审？</a:t>
            </a:r>
          </a:p>
        </p:txBody>
      </p:sp>
      <p:sp>
        <p:nvSpPr>
          <p:cNvPr id="55" name="矩形 54">
            <a:extLst xmlns:a="http://schemas.openxmlformats.org/drawingml/2006/main">
              <a:ext uri="{FF2B5EF4-FFF2-40B4-BE49-F238E27FC236}">
                <a16:creationId xmlns:a16="http://schemas.microsoft.com/office/drawing/2014/main" id="{35F2E60B-8D66-42DE-8861-58AC251E9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530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39FFB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39FFB6"/>
                </a:solidFill>
                <a:latin typeface="Noto Sans CJK SC"/>
                <a:ea typeface="Noto Sans CJK SC"/>
                <a:cs typeface="Noto Sans CJK SC"/>
              </a:rPr>
              <a:t>边界先于并行</a:t>
            </a:r>
          </a:p>
        </p:txBody>
      </p:sp>
      <p:sp>
        <p:nvSpPr>
          <p:cNvPr id="56" name="矩形 55">
            <a:extLst xmlns:a="http://schemas.openxmlformats.org/drawingml/2006/main">
              <a:ext uri="{FF2B5EF4-FFF2-40B4-BE49-F238E27FC236}">
                <a16:creationId xmlns:a16="http://schemas.microsoft.com/office/drawing/2014/main" id="{B607E6E9-B111-4ED3-91ED-92DA14A3A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190750"/>
            <a:ext cx="1666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rPr>
              <a:t>01  OBSERVE</a:t>
            </a:r>
          </a:p>
        </p:txBody>
      </p:sp>
      <p:sp>
        <p:nvSpPr>
          <p:cNvPr id="57" name="矩形 56">
            <a:extLst xmlns:a="http://schemas.openxmlformats.org/drawingml/2006/main">
              <a:ext uri="{FF2B5EF4-FFF2-40B4-BE49-F238E27FC236}">
                <a16:creationId xmlns:a16="http://schemas.microsoft.com/office/drawing/2014/main" id="{EB57B330-208B-4609-B98B-5B58DCDCD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495550"/>
            <a:ext cx="1666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先冻结事实</a:t>
            </a:r>
          </a:p>
        </p:txBody>
      </p:sp>
      <p:sp>
        <p:nvSpPr>
          <p:cNvPr id="58" name="矩形: 圆角 57">
            <a:extLst xmlns:a="http://schemas.openxmlformats.org/drawingml/2006/main">
              <a:ext uri="{FF2B5EF4-FFF2-40B4-BE49-F238E27FC236}">
                <a16:creationId xmlns:a16="http://schemas.microsoft.com/office/drawing/2014/main" id="{536714C0-8430-43FD-A80A-7A1A0EBF8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286000"/>
            <a:ext cx="14287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0A1119"/>
          </a:solidFill>
          <a:ln xmlns:a="http://schemas.openxmlformats.org/drawingml/2006/main" w="11430">
            <a:solidFill>
              <a:srgbClr val="00E5FF"/>
            </a:solidFill>
            <a:prstDash val="solid"/>
          </a:ln>
        </p:spPr>
      </p:sp>
      <p:sp>
        <p:nvSpPr>
          <p:cNvPr id="59" name="矩形 58">
            <a:extLst xmlns:a="http://schemas.openxmlformats.org/drawingml/2006/main">
              <a:ext uri="{FF2B5EF4-FFF2-40B4-BE49-F238E27FC236}">
                <a16:creationId xmlns:a16="http://schemas.microsoft.com/office/drawing/2014/main" id="{F8480A43-EF64-4E22-AA2A-DBD31779D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352675"/>
            <a:ext cx="1276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93750" lnSpcReduction="2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Agent A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读取状态</a:t>
            </a:r>
          </a:p>
        </p:txBody>
      </p:sp>
      <p:sp>
        <p:nvSpPr>
          <p:cNvPr id="60" name="矩形: 圆角 59">
            <a:extLst xmlns:a="http://schemas.openxmlformats.org/drawingml/2006/main">
              <a:ext uri="{FF2B5EF4-FFF2-40B4-BE49-F238E27FC236}">
                <a16:creationId xmlns:a16="http://schemas.microsoft.com/office/drawing/2014/main" id="{E98EC5B7-CCC5-4D17-A976-7A1062742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286000"/>
            <a:ext cx="1476375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0A1119"/>
          </a:solidFill>
          <a:ln xmlns:a="http://schemas.openxmlformats.org/drawingml/2006/main" w="11430">
            <a:solidFill>
              <a:srgbClr val="00E5FF"/>
            </a:solidFill>
            <a:prstDash val="solid"/>
          </a:ln>
        </p:spPr>
      </p:sp>
      <p:sp>
        <p:nvSpPr>
          <p:cNvPr id="61" name="矩形 60">
            <a:extLst xmlns:a="http://schemas.openxmlformats.org/drawingml/2006/main">
              <a:ext uri="{FF2B5EF4-FFF2-40B4-BE49-F238E27FC236}">
                <a16:creationId xmlns:a16="http://schemas.microsoft.com/office/drawing/2014/main" id="{C5FB5EE5-168F-4AB8-AFA0-9D46C5D6F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2352675"/>
            <a:ext cx="13239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Agent B</a:t>
            </a:r>
          </a:p>
          <a:p xmlns:a="http://schemas.openxmlformats.org/drawingml/2006/main">
            <a:pPr algn="ctr">
              <a:buNone/>
              <a:def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核对证据</a:t>
            </a:r>
          </a:p>
        </p:txBody>
      </p:sp>
      <p:sp>
        <p:nvSpPr>
          <p:cNvPr id="62" name="矩形: 圆角 61">
            <a:extLst xmlns:a="http://schemas.openxmlformats.org/drawingml/2006/main">
              <a:ext uri="{FF2B5EF4-FFF2-40B4-BE49-F238E27FC236}">
                <a16:creationId xmlns:a16="http://schemas.microsoft.com/office/drawing/2014/main" id="{4C0E12E2-D425-4661-983C-BF11CD20E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286000"/>
            <a:ext cx="14287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07130F"/>
          </a:solidFill>
          <a:ln xmlns:a="http://schemas.openxmlformats.org/drawingml/2006/main" w="11430">
            <a:solidFill>
              <a:srgbClr val="39FFB6"/>
            </a:solidFill>
            <a:prstDash val="solid"/>
          </a:ln>
        </p:spPr>
      </p:sp>
      <p:sp>
        <p:nvSpPr>
          <p:cNvPr id="63" name="矩形 62">
            <a:extLst xmlns:a="http://schemas.openxmlformats.org/drawingml/2006/main">
              <a:ext uri="{FF2B5EF4-FFF2-40B4-BE49-F238E27FC236}">
                <a16:creationId xmlns:a16="http://schemas.microsoft.com/office/drawing/2014/main" id="{02872A81-FA41-4E0E-ADDB-7F6C29F96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2352675"/>
            <a:ext cx="1276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39FFB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39FFB6"/>
                </a:solidFill>
                <a:latin typeface="Noto Sans CJK SC"/>
                <a:ea typeface="Noto Sans CJK SC"/>
                <a:cs typeface="Noto Sans CJK SC"/>
              </a:rPr>
              <a:t>主 Agent 汇总</a:t>
            </a:r>
          </a:p>
        </p:txBody>
      </p:sp>
      <p:sp>
        <p:nvSpPr>
          <p:cNvPr id="64" name="矩形 63">
            <a:extLst xmlns:a="http://schemas.openxmlformats.org/drawingml/2006/main">
              <a:ext uri="{FF2B5EF4-FFF2-40B4-BE49-F238E27FC236}">
                <a16:creationId xmlns:a16="http://schemas.microsoft.com/office/drawing/2014/main" id="{F8E291F9-ADA4-4BDE-994D-BAB44BF27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2352675"/>
            <a:ext cx="1190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5A6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FF5A6B"/>
                </a:solidFill>
                <a:latin typeface="Noto Sans CJK SC"/>
                <a:ea typeface="Noto Sans CJK SC"/>
                <a:cs typeface="Noto Sans CJK SC"/>
              </a:rPr>
              <a:t>冲突写入 → 串行</a:t>
            </a:r>
          </a:p>
        </p:txBody>
      </p:sp>
      <p:sp>
        <p:nvSpPr>
          <p:cNvPr id="65" name="矩形 64">
            <a:extLst xmlns:a="http://schemas.openxmlformats.org/drawingml/2006/main">
              <a:ext uri="{FF2B5EF4-FFF2-40B4-BE49-F238E27FC236}">
                <a16:creationId xmlns:a16="http://schemas.microsoft.com/office/drawing/2014/main" id="{F9D94B5B-3B88-40C7-BA9E-860B2B710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267075"/>
            <a:ext cx="1666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82141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B8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1">
                <a:solidFill>
                  <a:srgbClr val="FFB84D"/>
                </a:solidFill>
                <a:latin typeface="DejaVu Sans Mono"/>
                <a:ea typeface="DejaVu Sans Mono"/>
                <a:cs typeface="DejaVu Sans Mono"/>
              </a:rPr>
              <a:t>02  CONTROLLED ACTION</a:t>
            </a:r>
          </a:p>
        </p:txBody>
      </p:sp>
      <p:sp>
        <p:nvSpPr>
          <p:cNvPr id="66" name="矩形 65">
            <a:extLst xmlns:a="http://schemas.openxmlformats.org/drawingml/2006/main">
              <a:ext uri="{FF2B5EF4-FFF2-40B4-BE49-F238E27FC236}">
                <a16:creationId xmlns:a16="http://schemas.microsoft.com/office/drawing/2014/main" id="{59679F70-8756-4EEF-B7D8-1892224DB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600450"/>
            <a:ext cx="1666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只做授权动作</a:t>
            </a:r>
          </a:p>
        </p:txBody>
      </p:sp>
      <p:sp>
        <p:nvSpPr>
          <p:cNvPr id="67" name="矩形: 圆角 66">
            <a:extLst xmlns:a="http://schemas.openxmlformats.org/drawingml/2006/main">
              <a:ext uri="{FF2B5EF4-FFF2-40B4-BE49-F238E27FC236}">
                <a16:creationId xmlns:a16="http://schemas.microsoft.com/office/drawing/2014/main" id="{CAF5BD87-692B-44F3-8135-3C11CAB4C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3448050"/>
            <a:ext cx="13335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130A0E"/>
          </a:solidFill>
          <a:ln xmlns:a="http://schemas.openxmlformats.org/drawingml/2006/main" w="11430">
            <a:solidFill>
              <a:srgbClr val="FF5A6B"/>
            </a:solidFill>
            <a:prstDash val="solid"/>
          </a:ln>
        </p:spPr>
      </p:sp>
      <p:sp>
        <p:nvSpPr>
          <p:cNvPr id="68" name="矩形 67">
            <a:extLst xmlns:a="http://schemas.openxmlformats.org/drawingml/2006/main">
              <a:ext uri="{FF2B5EF4-FFF2-40B4-BE49-F238E27FC236}">
                <a16:creationId xmlns:a16="http://schemas.microsoft.com/office/drawing/2014/main" id="{6B3B58B7-B17D-40E2-B0D6-AAFB1AF81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543300"/>
            <a:ext cx="1162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5A6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1">
                <a:solidFill>
                  <a:srgbClr val="FF5A6B"/>
                </a:solidFill>
                <a:latin typeface="DejaVu Sans Mono"/>
                <a:ea typeface="DejaVu Sans Mono"/>
                <a:cs typeface="DejaVu Sans Mono"/>
              </a:rPr>
              <a:t>FAIL 证据</a:t>
            </a:r>
          </a:p>
        </p:txBody>
      </p:sp>
      <p:sp>
        <p:nvSpPr>
          <p:cNvPr id="69" name="矩形: 圆角 68">
            <a:extLst xmlns:a="http://schemas.openxmlformats.org/drawingml/2006/main">
              <a:ext uri="{FF2B5EF4-FFF2-40B4-BE49-F238E27FC236}">
                <a16:creationId xmlns:a16="http://schemas.microsoft.com/office/drawing/2014/main" id="{DCF770BC-ABC1-487F-8866-3198DB087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3448050"/>
            <a:ext cx="1190625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0A1119"/>
          </a:solidFill>
          <a:ln xmlns:a="http://schemas.openxmlformats.org/drawingml/2006/main" w="11430">
            <a:solidFill>
              <a:srgbClr val="FFB84D"/>
            </a:solidFill>
            <a:prstDash val="solid"/>
          </a:ln>
        </p:spPr>
      </p:sp>
      <p:sp>
        <p:nvSpPr>
          <p:cNvPr id="70" name="矩形 69">
            <a:extLst xmlns:a="http://schemas.openxmlformats.org/drawingml/2006/main">
              <a:ext uri="{FF2B5EF4-FFF2-40B4-BE49-F238E27FC236}">
                <a16:creationId xmlns:a16="http://schemas.microsoft.com/office/drawing/2014/main" id="{66457BB7-41BC-48A1-A30D-1DFFE6673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533775"/>
            <a:ext cx="10191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98116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选择 Tool 路径</a:t>
            </a:r>
          </a:p>
        </p:txBody>
      </p:sp>
      <p:sp>
        <p:nvSpPr>
          <p:cNvPr id="71" name="矩形 70">
            <a:extLst xmlns:a="http://schemas.openxmlformats.org/drawingml/2006/main">
              <a:ext uri="{FF2B5EF4-FFF2-40B4-BE49-F238E27FC236}">
                <a16:creationId xmlns:a16="http://schemas.microsoft.com/office/drawing/2014/main" id="{DE84F397-208B-4934-AFBB-00752FCEC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762375"/>
            <a:ext cx="10191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69268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0">
                <a:solidFill>
                  <a:srgbClr val="FFB8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825" b="0">
                <a:solidFill>
                  <a:srgbClr val="FFB84D"/>
                </a:solidFill>
                <a:latin typeface="DejaVu Sans Mono"/>
                <a:ea typeface="DejaVu Sans Mono"/>
                <a:cs typeface="DejaVu Sans Mono"/>
              </a:rPr>
              <a:t>workbench/executor.py</a:t>
            </a:r>
          </a:p>
        </p:txBody>
      </p:sp>
      <p:sp>
        <p:nvSpPr>
          <p:cNvPr id="72" name="矩形: 圆角 71">
            <a:extLst xmlns:a="http://schemas.openxmlformats.org/drawingml/2006/main">
              <a:ext uri="{FF2B5EF4-FFF2-40B4-BE49-F238E27FC236}">
                <a16:creationId xmlns:a16="http://schemas.microsoft.com/office/drawing/2014/main" id="{49D67FA1-B48E-4B00-A1BB-3023BF7B7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448050"/>
            <a:ext cx="1190625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0A1119"/>
          </a:solidFill>
          <a:ln xmlns:a="http://schemas.openxmlformats.org/drawingml/2006/main" w="11430">
            <a:solidFill>
              <a:srgbClr val="00E5FF"/>
            </a:solidFill>
            <a:prstDash val="solid"/>
          </a:ln>
        </p:spPr>
      </p:sp>
      <p:sp>
        <p:nvSpPr>
          <p:cNvPr id="73" name="矩形 72">
            <a:extLst xmlns:a="http://schemas.openxmlformats.org/drawingml/2006/main">
              <a:ext uri="{FF2B5EF4-FFF2-40B4-BE49-F238E27FC236}">
                <a16:creationId xmlns:a16="http://schemas.microsoft.com/office/drawing/2014/main" id="{C5C6942D-37D7-4D30-91A4-07BFD9082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543300"/>
            <a:ext cx="1019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受控执行</a:t>
            </a:r>
          </a:p>
        </p:txBody>
      </p:sp>
      <p:sp>
        <p:nvSpPr>
          <p:cNvPr id="74" name="矩形: 圆角 73">
            <a:extLst xmlns:a="http://schemas.openxmlformats.org/drawingml/2006/main">
              <a:ext uri="{FF2B5EF4-FFF2-40B4-BE49-F238E27FC236}">
                <a16:creationId xmlns:a16="http://schemas.microsoft.com/office/drawing/2014/main" id="{5DCE67CD-EB1C-425D-95B9-C9EE8A80B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3448050"/>
            <a:ext cx="1000125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0A1119"/>
          </a:solidFill>
          <a:ln xmlns:a="http://schemas.openxmlformats.org/drawingml/2006/main" w="11430">
            <a:solidFill>
              <a:srgbClr val="FF2BD6"/>
            </a:solidFill>
            <a:prstDash val="solid"/>
          </a:ln>
        </p:spPr>
      </p:sp>
      <p:sp>
        <p:nvSpPr>
          <p:cNvPr id="75" name="矩形 74">
            <a:extLst xmlns:a="http://schemas.openxmlformats.org/drawingml/2006/main">
              <a:ext uri="{FF2B5EF4-FFF2-40B4-BE49-F238E27FC236}">
                <a16:creationId xmlns:a16="http://schemas.microsoft.com/office/drawing/2014/main" id="{0707DF80-D60D-4764-B55A-3F552894F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3543300"/>
            <a:ext cx="8477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2BD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F2BD6"/>
                </a:solidFill>
                <a:latin typeface="Noto Sans CJK SC"/>
                <a:ea typeface="Noto Sans CJK SC"/>
                <a:cs typeface="Noto Sans CJK SC"/>
              </a:rPr>
              <a:t>Eval 复验</a:t>
            </a:r>
          </a:p>
        </p:txBody>
      </p:sp>
      <p:sp>
        <p:nvSpPr>
          <p:cNvPr id="76" name="矩形 75">
            <a:extLst xmlns:a="http://schemas.openxmlformats.org/drawingml/2006/main">
              <a:ext uri="{FF2B5EF4-FFF2-40B4-BE49-F238E27FC236}">
                <a16:creationId xmlns:a16="http://schemas.microsoft.com/office/drawing/2014/main" id="{0E189CCC-1219-46BB-AA3D-EA34BA6A9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3409950"/>
            <a:ext cx="914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B84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FFB84D"/>
                </a:solidFill>
                <a:latin typeface="Noto Sans CJK SC"/>
                <a:ea typeface="Noto Sans CJK SC"/>
                <a:cs typeface="Noto Sans CJK SC"/>
              </a:rPr>
              <a:t>FAIL → 返工</a:t>
            </a:r>
          </a:p>
        </p:txBody>
      </p:sp>
      <p:sp>
        <p:nvSpPr>
          <p:cNvPr id="77" name="矩形 76">
            <a:extLst xmlns:a="http://schemas.openxmlformats.org/drawingml/2006/main">
              <a:ext uri="{FF2B5EF4-FFF2-40B4-BE49-F238E27FC236}">
                <a16:creationId xmlns:a16="http://schemas.microsoft.com/office/drawing/2014/main" id="{00E0B4E6-D766-4203-9342-5EC108445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3762375"/>
            <a:ext cx="914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9690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39FFB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39FFB6"/>
                </a:solidFill>
                <a:latin typeface="Noto Sans CJK SC"/>
                <a:ea typeface="Noto Sans CJK SC"/>
                <a:cs typeface="Noto Sans CJK SC"/>
              </a:rPr>
              <a:t>PASS → 下一态</a:t>
            </a:r>
          </a:p>
        </p:txBody>
      </p:sp>
      <p:sp>
        <p:nvSpPr>
          <p:cNvPr id="78" name="矩形 77">
            <a:extLst xmlns:a="http://schemas.openxmlformats.org/drawingml/2006/main">
              <a:ext uri="{FF2B5EF4-FFF2-40B4-BE49-F238E27FC236}">
                <a16:creationId xmlns:a16="http://schemas.microsoft.com/office/drawing/2014/main" id="{CF51A8B0-04C9-4392-AB29-EDB067E77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4086225"/>
            <a:ext cx="5572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无进展 / 超预算 / 高风险 → 安全停止，不宣称成功</a:t>
            </a:r>
          </a:p>
        </p:txBody>
      </p:sp>
      <p:sp>
        <p:nvSpPr>
          <p:cNvPr id="79" name="矩形 78">
            <a:extLst xmlns:a="http://schemas.openxmlformats.org/drawingml/2006/main">
              <a:ext uri="{FF2B5EF4-FFF2-40B4-BE49-F238E27FC236}">
                <a16:creationId xmlns:a16="http://schemas.microsoft.com/office/drawing/2014/main" id="{CE4EEE7D-FBEE-4689-9EFF-06B3A7A24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4619625"/>
            <a:ext cx="1762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2BD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1">
                <a:solidFill>
                  <a:srgbClr val="FF2BD6"/>
                </a:solidFill>
                <a:latin typeface="DejaVu Sans Mono"/>
                <a:ea typeface="DejaVu Sans Mono"/>
                <a:cs typeface="DejaVu Sans Mono"/>
              </a:rPr>
              <a:t>03  HUMAN GATE</a:t>
            </a:r>
          </a:p>
        </p:txBody>
      </p:sp>
      <p:sp>
        <p:nvSpPr>
          <p:cNvPr id="80" name="矩形 79">
            <a:extLst xmlns:a="http://schemas.openxmlformats.org/drawingml/2006/main">
              <a:ext uri="{FF2B5EF4-FFF2-40B4-BE49-F238E27FC236}">
                <a16:creationId xmlns:a16="http://schemas.microsoft.com/office/drawing/2014/main" id="{D58ED9A9-AB1B-4CE8-B81D-6357AA3D4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4933950"/>
            <a:ext cx="1666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必须人工确认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30BEC1DC-1D1B-446B-A25D-9FF9AFA21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686300"/>
            <a:ext cx="1381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Tool 能做什么不等于 Agent 被授权做什么</a:t>
            </a:r>
          </a:p>
        </p:txBody>
      </p:sp>
      <p:sp>
        <p:nvSpPr>
          <p:cNvPr id="82" name="矩形: 圆角 81">
            <a:extLst xmlns:a="http://schemas.openxmlformats.org/drawingml/2006/main">
              <a:ext uri="{FF2B5EF4-FFF2-40B4-BE49-F238E27FC236}">
                <a16:creationId xmlns:a16="http://schemas.microsoft.com/office/drawing/2014/main" id="{DB70CB01-29C9-4969-96BF-FDE2E12B6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667250"/>
            <a:ext cx="2238375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0A1119"/>
          </a:solidFill>
          <a:ln xmlns:a="http://schemas.openxmlformats.org/drawingml/2006/main" w="11430">
            <a:solidFill>
              <a:srgbClr val="FF2BD6"/>
            </a:solidFill>
            <a:prstDash val="solid"/>
          </a:ln>
        </p:spPr>
      </p:sp>
      <p:sp>
        <p:nvSpPr>
          <p:cNvPr id="83" name="矩形 82">
            <a:extLst xmlns:a="http://schemas.openxmlformats.org/drawingml/2006/main">
              <a:ext uri="{FF2B5EF4-FFF2-40B4-BE49-F238E27FC236}">
                <a16:creationId xmlns:a16="http://schemas.microsoft.com/office/drawing/2014/main" id="{14FA5BF5-14F2-4AA4-BDE3-D6FF474EF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724400"/>
            <a:ext cx="20288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批准 / 打回 / 缩小范围</a:t>
            </a:r>
          </a:p>
        </p:txBody>
      </p:sp>
      <p:sp>
        <p:nvSpPr>
          <p:cNvPr id="84" name="矩形: 圆角 83">
            <a:extLst xmlns:a="http://schemas.openxmlformats.org/drawingml/2006/main">
              <a:ext uri="{FF2B5EF4-FFF2-40B4-BE49-F238E27FC236}">
                <a16:creationId xmlns:a16="http://schemas.microsoft.com/office/drawing/2014/main" id="{AB1D2041-125D-451E-904C-659406FD3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4667250"/>
            <a:ext cx="22860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07130F"/>
          </a:solidFill>
          <a:ln xmlns:a="http://schemas.openxmlformats.org/drawingml/2006/main" w="11430">
            <a:solidFill>
              <a:srgbClr val="39FFB6"/>
            </a:solidFill>
            <a:prstDash val="solid"/>
          </a:ln>
        </p:spPr>
      </p:sp>
      <p:sp>
        <p:nvSpPr>
          <p:cNvPr id="85" name="矩形 84">
            <a:extLst xmlns:a="http://schemas.openxmlformats.org/drawingml/2006/main">
              <a:ext uri="{FF2B5EF4-FFF2-40B4-BE49-F238E27FC236}">
                <a16:creationId xmlns:a16="http://schemas.microsoft.com/office/drawing/2014/main" id="{D04A0CD4-4A31-4DBA-BC96-20D640AF8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743450"/>
            <a:ext cx="2076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9375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39FFB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1">
                <a:solidFill>
                  <a:srgbClr val="39FFB6"/>
                </a:solidFill>
                <a:latin typeface="DejaVu Sans Mono"/>
                <a:ea typeface="DejaVu Sans Mono"/>
                <a:cs typeface="DejaVu Sans Mono"/>
              </a:rPr>
              <a:t>决定写入 workbench/api.py</a:t>
            </a:r>
          </a:p>
        </p:txBody>
      </p:sp>
      <p:sp>
        <p:nvSpPr>
          <p:cNvPr id="86" name="矩形: 圆角 85">
            <a:extLst xmlns:a="http://schemas.openxmlformats.org/drawingml/2006/main">
              <a:ext uri="{FF2B5EF4-FFF2-40B4-BE49-F238E27FC236}">
                <a16:creationId xmlns:a16="http://schemas.microsoft.com/office/drawing/2014/main" id="{84AFA090-4A12-4E74-A005-15A03E12F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5676900"/>
            <a:ext cx="7524750" cy="523875"/>
          </a:xfrm>
          <a:prstGeom xmlns:a="http://schemas.openxmlformats.org/drawingml/2006/main" prst="roundRect">
            <a:avLst>
              <a:gd name="adj" fmla="val 21818"/>
            </a:avLst>
          </a:prstGeom>
          <a:solidFill xmlns:a="http://schemas.openxmlformats.org/drawingml/2006/main">
            <a:srgbClr val="07130F"/>
          </a:solidFill>
          <a:ln xmlns:a="http://schemas.openxmlformats.org/drawingml/2006/main" w="11430">
            <a:solidFill>
              <a:srgbClr val="39FFB6"/>
            </a:solidFill>
            <a:prstDash val="solid"/>
          </a:ln>
        </p:spPr>
      </p:sp>
      <p:sp>
        <p:nvSpPr>
          <p:cNvPr id="87" name="矩形 86">
            <a:extLst xmlns:a="http://schemas.openxmlformats.org/drawingml/2006/main">
              <a:ext uri="{FF2B5EF4-FFF2-40B4-BE49-F238E27FC236}">
                <a16:creationId xmlns:a16="http://schemas.microsoft.com/office/drawing/2014/main" id="{E140A6EF-C532-448F-84E5-B16E9A5FC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743575"/>
            <a:ext cx="723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39FFB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39FFB6"/>
                </a:solidFill>
                <a:latin typeface="Noto Sans CJK SC"/>
                <a:ea typeface="Noto Sans CJK SC"/>
                <a:cs typeface="Noto Sans CJK SC"/>
              </a:rPr>
              <a:t>只授权一个业务切片；修改者不能用自述给自己判成功</a:t>
            </a:r>
          </a:p>
        </p:txBody>
      </p:sp>
      <p:sp>
        <p:nvSpPr>
          <p:cNvPr id="88" name="矩形 87">
            <a:extLst xmlns:a="http://schemas.openxmlformats.org/drawingml/2006/main">
              <a:ext uri="{FF2B5EF4-FFF2-40B4-BE49-F238E27FC236}">
                <a16:creationId xmlns:a16="http://schemas.microsoft.com/office/drawing/2014/main" id="{919364A4-0EC0-458F-96EB-C051293B6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68642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050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rPr>
              <a:t>EXIT</a:t>
            </a:r>
          </a:p>
        </p:txBody>
      </p:sp>
      <p:sp>
        <p:nvSpPr>
          <p:cNvPr id="89" name="矩形 88">
            <a:extLst xmlns:a="http://schemas.openxmlformats.org/drawingml/2006/main">
              <a:ext uri="{FF2B5EF4-FFF2-40B4-BE49-F238E27FC236}">
                <a16:creationId xmlns:a16="http://schemas.microsoft.com/office/drawing/2014/main" id="{2BA58EBF-5DFB-4E16-90CC-3C5B358F1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924550"/>
            <a:ext cx="152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76768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构造一个能杀死错误实现的 Eval</a:t>
            </a:r>
          </a:p>
        </p:txBody>
      </p:sp>
    </p:spTree>
    <p:extLst>
      <p:ext uri="{BB962C8B-B14F-4D97-AF65-F5344CB8AC3E}">
        <p14:creationId xmlns:p14="http://schemas.microsoft.com/office/powerpoint/2010/main" val="42565293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E11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DE62DE75-2A31-4C5C-93B7-72FB4CFDB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520" y="45720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3DD9A4"/>
                </a:solidFill>
                <a:latin typeface="Noto Sans CJK SC"/>
                <a:ea typeface="Noto Sans CJK SC"/>
                <a:cs typeface="Noto Sans CJK SC"/>
              </a:rPr>
              <a:t>L04 · 真实项目截图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CA5B4DCC-72E8-4C58-B245-A098A93AE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749808"/>
            <a:ext cx="1106424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3400"/>
              </a:lnSpc>
              <a:buNone/>
            </a:pPr>
            <a:r>
              <a:rPr sz="3000" b="1">
                <a:solidFill>
                  <a:srgbClr val="F2F4F8"/>
                </a:solidFill>
                <a:latin typeface="Noto Sans CJK SC"/>
                <a:ea typeface="Noto Sans CJK SC"/>
                <a:cs typeface="Noto Sans CJK SC"/>
              </a:rPr>
              <a:t>真实代码执行器必须显式展示授权范围</a:t>
            </a:r>
            <a:endParaRPr sz="30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0DC2491E-BF4F-4BF1-9391-4776A0C95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55080"/>
            <a:ext cx="5486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6B7684"/>
                </a:solidFill>
                <a:latin typeface="DejaVu Sans Mono"/>
                <a:ea typeface="DejaVu Sans Mono"/>
                <a:cs typeface="DejaVu Sans Mono"/>
              </a:rPr>
              <a:t>09</a:t>
            </a:r>
            <a:endParaRPr sz="1100"/>
          </a:p>
        </p:txBody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5DF754FD-DDEA-4BB3-BDF3-63EB4E559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572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rPr>
              <a:t>// LIVE STATE + PROOF</a:t>
            </a: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4A2628CD-A963-4895-89F8-824607944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466850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研发交付工作台正在执行真实代码任务</a:t>
            </a:r>
          </a:p>
        </p:txBody>
      </p:sp>
      <p:pic>
        <p:nvPicPr>
          <p:cNvPr id="41" name="ERP系统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293ecaf2324e9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</p:spPr>
      </p:pic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8812cd49d54e33"/>
          <a:stretch xmlns:a="http://schemas.openxmlformats.org/drawingml/2006/main"/>
        </p:blipFill>
        <p:spPr>
          <a:xfrm xmlns:a="http://schemas.openxmlformats.org/drawingml/2006/main">
            <a:off x="1891564" y="1897052"/>
            <a:ext cx="8529141" cy="477806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410493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E11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9F41BC08-5D61-40A1-98D1-F2600CF4E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5720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3DD9A4"/>
                </a:solidFill>
                <a:latin typeface="Noto Sans CJK SC"/>
                <a:ea typeface="Noto Sans CJK SC"/>
                <a:cs typeface="Noto Sans CJK SC"/>
              </a:rPr>
              <a:t>L04 · 阻断级验收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975A0A4F-C656-49BB-94A8-2509CE83D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670" y="749808"/>
            <a:ext cx="1106424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3400"/>
              </a:lnSpc>
              <a:buNone/>
            </a:pPr>
            <a:r>
              <a:rPr sz="3000" b="1">
                <a:solidFill>
                  <a:srgbClr val="F2F4F8"/>
                </a:solidFill>
                <a:latin typeface="Noto Sans CJK SC"/>
                <a:ea typeface="Noto Sans CJK SC"/>
                <a:cs typeface="Noto Sans CJK SC"/>
              </a:rPr>
              <a:t>漂亮 Diff 也可能与测试共享同一个错误公式</a:t>
            </a:r>
            <a:endParaRPr sz="30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5A4CDEAD-63AB-4B62-90D8-B86CB0421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91" y="1488948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>
                <a:solidFill>
                  <a:srgbClr val="9BA6B4"/>
                </a:solidFill>
                <a:latin typeface="Noto Sans CJK SC"/>
                <a:ea typeface="Noto Sans CJK SC"/>
                <a:cs typeface="Noto Sans CJK SC"/>
              </a:rPr>
              <a:t>同一条规则必须用红灯和绿灯同时证明：只授权一个业务切片；修改者不能用自述给自己判成功</a:t>
            </a:r>
            <a:endParaRPr sz="150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41B4CF20-E93B-4121-B8EA-EA8C5B4D2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55080"/>
            <a:ext cx="5486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6B7684"/>
                </a:solidFill>
                <a:latin typeface="DejaVu Sans Mono"/>
                <a:ea typeface="DejaVu Sans Mono"/>
                <a:cs typeface="DejaVu Sans Mono"/>
              </a:rPr>
              <a:t>10</a:t>
            </a:r>
            <a:endParaRPr sz="1100"/>
          </a:p>
        </p:txBody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312C8D89-EC20-4183-8D75-1C2B64378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" y="207645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FF5A6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1">
                <a:solidFill>
                  <a:srgbClr val="FF5A6B"/>
                </a:solidFill>
                <a:latin typeface="DejaVu Sans Mono"/>
                <a:ea typeface="DejaVu Sans Mono"/>
                <a:cs typeface="DejaVu Sans Mono"/>
              </a:rPr>
              <a:t>QUALITY GATE</a:t>
            </a:r>
          </a:p>
        </p:txBody>
      </p:sp>
      <p:sp>
        <p:nvSpPr>
          <p:cNvPr id="32" name="矩形: 圆角 31">
            <a:extLst xmlns:a="http://schemas.openxmlformats.org/drawingml/2006/main">
              <a:ext uri="{FF2B5EF4-FFF2-40B4-BE49-F238E27FC236}">
                <a16:creationId xmlns:a16="http://schemas.microsoft.com/office/drawing/2014/main" id="{4498A07D-346D-4481-8EE1-DAE381D9A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" y="2400300"/>
            <a:ext cx="4572000" cy="295275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120A0E"/>
          </a:solidFill>
          <a:ln xmlns:a="http://schemas.openxmlformats.org/drawingml/2006/main" w="11430">
            <a:solidFill>
              <a:srgbClr val="FF5A6B"/>
            </a:solidFill>
            <a:prstDash val="solid"/>
          </a:ln>
        </p:spPr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6A25E112-6698-4315-A4DC-00E73E7A4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" y="2571750"/>
            <a:ext cx="142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FF5A6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3600" b="1">
                <a:solidFill>
                  <a:srgbClr val="FF5A6B"/>
                </a:solidFill>
                <a:latin typeface="DejaVu Sans Mono"/>
                <a:ea typeface="DejaVu Sans Mono"/>
                <a:cs typeface="DejaVu Sans Mono"/>
              </a:rPr>
              <a:t>FAIL</a:t>
            </a:r>
          </a:p>
        </p:txBody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CF22F415-E353-4516-AC3A-7232DD594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" y="3333750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已知错误实现</a:t>
            </a:r>
          </a:p>
        </p:txBody>
      </p:sp>
      <p:sp>
        <p:nvSpPr>
          <p:cNvPr id="35" name="矩形 34">
            <a:extLst xmlns:a="http://schemas.openxmlformats.org/drawingml/2006/main">
              <a:ext uri="{FF2B5EF4-FFF2-40B4-BE49-F238E27FC236}">
                <a16:creationId xmlns:a16="http://schemas.microsoft.com/office/drawing/2014/main" id="{976F03DD-48AB-4517-A3BD-E10A6899B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" y="3714750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68627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顺手重构扩大 Diff，结果全绿也无
法定位真实因果</a:t>
            </a:r>
          </a:p>
        </p:txBody>
      </p:sp>
      <p:sp>
        <p:nvSpPr>
          <p:cNvPr id="36" name="矩形 35">
            <a:extLst xmlns:a="http://schemas.openxmlformats.org/drawingml/2006/main">
              <a:ext uri="{FF2B5EF4-FFF2-40B4-BE49-F238E27FC236}">
                <a16:creationId xmlns:a16="http://schemas.microsoft.com/office/drawing/2014/main" id="{DE7EA0EA-F663-44DB-AD3E-A36D70458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" y="4229100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F3F8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 b="1">
                <a:solidFill>
                  <a:srgbClr val="F3F8FF"/>
                </a:solidFill>
                <a:latin typeface="DejaVu Sans Mono"/>
                <a:ea typeface="DejaVu Sans Mono"/>
                <a:cs typeface="DejaVu Sans Mono"/>
              </a:rPr>
              <a:t>失败后不变</a:t>
            </a:r>
          </a:p>
        </p:txBody>
      </p:sp>
      <p:sp>
        <p:nvSpPr>
          <p:cNvPr id="37" name="矩形 36">
            <a:extLst xmlns:a="http://schemas.openxmlformats.org/drawingml/2006/main">
              <a:ext uri="{FF2B5EF4-FFF2-40B4-BE49-F238E27FC236}">
                <a16:creationId xmlns:a16="http://schemas.microsoft.com/office/drawing/2014/main" id="{5026545D-3980-427A-B773-1996CB051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" y="4610100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Tool 能做什么不等于 Agent 被授权做什么</a:t>
            </a:r>
          </a:p>
        </p:txBody>
      </p:sp>
      <p:sp>
        <p:nvSpPr>
          <p:cNvPr id="38" name="箭头: 右 37">
            <a:extLst xmlns:a="http://schemas.openxmlformats.org/drawingml/2006/main">
              <a:ext uri="{FF2B5EF4-FFF2-40B4-BE49-F238E27FC236}">
                <a16:creationId xmlns:a16="http://schemas.microsoft.com/office/drawing/2014/main" id="{F88547CD-01F1-4CB4-AA67-85DA3A3ED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7820" y="3543300"/>
            <a:ext cx="1000125" cy="552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5A6B"/>
          </a:solidFill>
          <a:ln xmlns:a="http://schemas.openxmlformats.org/drawingml/2006/main" w="0">
            <a:solidFill>
              <a:srgbClr val="FF5A6B"/>
            </a:solidFill>
            <a:prstDash val="solid"/>
          </a:ln>
        </p:spPr>
      </p:sp>
      <p:sp>
        <p:nvSpPr>
          <p:cNvPr id="39" name="矩形: 圆角 38">
            <a:extLst xmlns:a="http://schemas.openxmlformats.org/drawingml/2006/main">
              <a:ext uri="{FF2B5EF4-FFF2-40B4-BE49-F238E27FC236}">
                <a16:creationId xmlns:a16="http://schemas.microsoft.com/office/drawing/2014/main" id="{888E2C37-60B0-4ABF-A70C-F7A9F9B4B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6070" y="2400300"/>
            <a:ext cx="4572000" cy="295275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07130F"/>
          </a:solidFill>
          <a:ln xmlns:a="http://schemas.openxmlformats.org/drawingml/2006/main" w="11430">
            <a:solidFill>
              <a:srgbClr val="39FFB6"/>
            </a:solidFill>
            <a:prstDash val="solid"/>
          </a:ln>
        </p:spPr>
      </p:sp>
      <p:sp>
        <p:nvSpPr>
          <p:cNvPr id="40" name="矩形 39">
            <a:extLst xmlns:a="http://schemas.openxmlformats.org/drawingml/2006/main">
              <a:ext uri="{FF2B5EF4-FFF2-40B4-BE49-F238E27FC236}">
                <a16:creationId xmlns:a16="http://schemas.microsoft.com/office/drawing/2014/main" id="{A229947A-54AF-421C-BC69-5FDB6786C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0870" y="2571750"/>
            <a:ext cx="171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39FFB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3600" b="1">
                <a:solidFill>
                  <a:srgbClr val="39FFB6"/>
                </a:solidFill>
                <a:latin typeface="DejaVu Sans Mono"/>
                <a:ea typeface="DejaVu Sans Mono"/>
                <a:cs typeface="DejaVu Sans Mono"/>
              </a:rPr>
              <a:t>PASS</a:t>
            </a:r>
          </a:p>
        </p:txBody>
      </p:sp>
      <p:sp>
        <p:nvSpPr>
          <p:cNvPr id="41" name="矩形 40">
            <a:extLst xmlns:a="http://schemas.openxmlformats.org/drawingml/2006/main">
              <a:ext uri="{FF2B5EF4-FFF2-40B4-BE49-F238E27FC236}">
                <a16:creationId xmlns:a16="http://schemas.microsoft.com/office/drawing/2014/main" id="{59D1BD19-CD60-4C20-9816-171A88A86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0870" y="3333750"/>
            <a:ext cx="228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独立 Harness 报告</a:t>
            </a:r>
          </a:p>
        </p:txBody>
      </p:sp>
      <p:sp>
        <p:nvSpPr>
          <p:cNvPr id="42" name="矩形 41">
            <a:extLst xmlns:a="http://schemas.openxmlformats.org/drawingml/2006/main">
              <a:ext uri="{FF2B5EF4-FFF2-40B4-BE49-F238E27FC236}">
                <a16:creationId xmlns:a16="http://schemas.microsoft.com/office/drawing/2014/main" id="{5000D149-0EFA-41F6-872D-5EE1C3EAE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0870" y="3714750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96544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写集、Diff、命令、退出码和报告身份可回指</a:t>
            </a:r>
          </a:p>
        </p:txBody>
      </p:sp>
      <p:sp>
        <p:nvSpPr>
          <p:cNvPr id="43" name="矩形 42">
            <a:extLst xmlns:a="http://schemas.openxmlformats.org/drawingml/2006/main">
              <a:ext uri="{FF2B5EF4-FFF2-40B4-BE49-F238E27FC236}">
                <a16:creationId xmlns:a16="http://schemas.microsoft.com/office/drawing/2014/main" id="{0CA92560-14DC-4599-928C-439B37980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0870" y="4229100"/>
            <a:ext cx="228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F3F8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 b="1">
                <a:solidFill>
                  <a:srgbClr val="F3F8FF"/>
                </a:solidFill>
                <a:latin typeface="DejaVu Sans Mono"/>
                <a:ea typeface="DejaVu Sans Mono"/>
                <a:cs typeface="DejaVu Sans Mono"/>
              </a:rPr>
              <a:t>具名验收</a:t>
            </a:r>
          </a:p>
        </p:txBody>
      </p:sp>
      <p:sp>
        <p:nvSpPr>
          <p:cNvPr id="44" name="矩形 43">
            <a:extLst xmlns:a="http://schemas.openxmlformats.org/drawingml/2006/main">
              <a:ext uri="{FF2B5EF4-FFF2-40B4-BE49-F238E27FC236}">
                <a16:creationId xmlns:a16="http://schemas.microsoft.com/office/drawing/2014/main" id="{66305971-15D4-4EF4-A044-B87047EFC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0870" y="461010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受控 Diff、任务轨迹与独立复验记录</a:t>
            </a:r>
          </a:p>
        </p:txBody>
      </p:sp>
      <p:sp>
        <p:nvSpPr>
          <p:cNvPr id="45" name="矩形 44">
            <a:extLst xmlns:a="http://schemas.openxmlformats.org/drawingml/2006/main">
              <a:ext uri="{FF2B5EF4-FFF2-40B4-BE49-F238E27FC236}">
                <a16:creationId xmlns:a16="http://schemas.microsoft.com/office/drawing/2014/main" id="{EF12E0E4-F414-47A0-9044-6B739EE16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6570" y="5429250"/>
            <a:ext cx="428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 b="1">
                <a:solidFill>
                  <a:srgbClr val="39FFB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39FFB6"/>
                </a:solidFill>
                <a:latin typeface="Noto Sans CJK SC"/>
                <a:ea typeface="Noto Sans CJK SC"/>
                <a:cs typeface="Noto Sans CJK SC"/>
              </a:rPr>
              <a:t>只有 PASS + 证据 + 责任人才能进入下一状态</a:t>
            </a:r>
          </a:p>
        </p:txBody>
      </p:sp>
    </p:spTree>
    <p:extLst>
      <p:ext uri="{BB962C8B-B14F-4D97-AF65-F5344CB8AC3E}">
        <p14:creationId xmlns:p14="http://schemas.microsoft.com/office/powerpoint/2010/main" val="65225797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E11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0B99AA67-CE21-4B00-8222-B562A4EF0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5720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FF8A3D"/>
                </a:solidFill>
                <a:latin typeface="Noto Sans CJK SC"/>
                <a:ea typeface="Noto Sans CJK SC"/>
                <a:cs typeface="Noto Sans CJK SC"/>
              </a:rPr>
              <a:t>L04 · 责任交接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EC22D159-3DEA-4060-B4F8-3C0645169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749808"/>
            <a:ext cx="1106424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3400"/>
              </a:lnSpc>
              <a:buNone/>
              <a:defRPr sz="285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85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修改者不能用自述给自己判定成功</a:t>
            </a:r>
            <a:endParaRPr sz="30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20232DC4-36FC-491D-9833-0065D026A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55080"/>
            <a:ext cx="5486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6B7684"/>
                </a:solidFill>
                <a:latin typeface="DejaVu Sans Mono"/>
                <a:ea typeface="DejaVu Sans Mono"/>
                <a:cs typeface="DejaVu Sans Mono"/>
              </a:rPr>
              <a:t>11</a:t>
            </a:r>
            <a:endParaRPr sz="1100"/>
          </a:p>
        </p:txBody>
      </p:sp>
      <p:sp>
        <p:nvSpPr>
          <p:cNvPr id="39" name="圆角矩形 38">
            <a:extLst xmlns:a="http://schemas.openxmlformats.org/drawingml/2006/main">
              <a:ext uri="{FF2B5EF4-FFF2-40B4-BE49-F238E27FC236}">
                <a16:creationId xmlns:a16="http://schemas.microsoft.com/office/drawing/2014/main" id="{139C70E3-9411-4086-A208-EDA12B99A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85950"/>
            <a:ext cx="110490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0A1119"/>
          </a:solidFill>
          <a:ln xmlns:a="http://schemas.openxmlformats.org/drawingml/2006/main" w="10478">
            <a:solidFill>
              <a:srgbClr val="00E5FF"/>
            </a:solidFill>
            <a:prstDash val="solid"/>
          </a:ln>
        </p:spPr>
      </p:sp>
      <p:sp>
        <p:nvSpPr>
          <p:cNvPr id="40" name="矩形 39">
            <a:extLst xmlns:a="http://schemas.openxmlformats.org/drawingml/2006/main">
              <a:ext uri="{FF2B5EF4-FFF2-40B4-BE49-F238E27FC236}">
                <a16:creationId xmlns:a16="http://schemas.microsoft.com/office/drawing/2014/main" id="{A553A0C0-2141-4066-8E22-BDB837E8F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85950"/>
            <a:ext cx="6667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E5FF"/>
          </a:solidFill>
          <a:ln xmlns:a="http://schemas.openxmlformats.org/drawingml/2006/main" w="0">
            <a:solidFill>
              <a:srgbClr val="00E5FF"/>
            </a:solidFill>
            <a:prstDash val="solid"/>
          </a:ln>
        </p:spPr>
      </p:sp>
      <p:sp>
        <p:nvSpPr>
          <p:cNvPr id="41" name="矩形 40">
            <a:extLst xmlns:a="http://schemas.openxmlformats.org/drawingml/2006/main">
              <a:ext uri="{FF2B5EF4-FFF2-40B4-BE49-F238E27FC236}">
                <a16:creationId xmlns:a16="http://schemas.microsoft.com/office/drawing/2014/main" id="{007F32F1-495D-4A4D-9C48-C0A8166EB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57400"/>
            <a:ext cx="2000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00E5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00E5FF"/>
                </a:solidFill>
                <a:latin typeface="Noto Sans CJK SC"/>
                <a:ea typeface="Noto Sans CJK SC"/>
                <a:cs typeface="Noto Sans CJK SC"/>
              </a:rPr>
              <a:t>Agent / Codex</a:t>
            </a:r>
          </a:p>
        </p:txBody>
      </p:sp>
      <p:sp>
        <p:nvSpPr>
          <p:cNvPr id="42" name="矩形 41">
            <a:extLst xmlns:a="http://schemas.openxmlformats.org/drawingml/2006/main">
              <a:ext uri="{FF2B5EF4-FFF2-40B4-BE49-F238E27FC236}">
                <a16:creationId xmlns:a16="http://schemas.microsoft.com/office/drawing/2014/main" id="{BF357699-105D-4099-8AAA-AF24453E6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057400"/>
            <a:ext cx="190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276"/>
          </a:solidFill>
          <a:ln xmlns:a="http://schemas.openxmlformats.org/drawingml/2006/main" w="0">
            <a:solidFill>
              <a:srgbClr val="526276"/>
            </a:solidFill>
            <a:prstDash val="solid"/>
          </a:ln>
        </p:spPr>
      </p:sp>
      <p:sp>
        <p:nvSpPr>
          <p:cNvPr id="43" name="矩形 42">
            <a:extLst xmlns:a="http://schemas.openxmlformats.org/drawingml/2006/main">
              <a:ext uri="{FF2B5EF4-FFF2-40B4-BE49-F238E27FC236}">
                <a16:creationId xmlns:a16="http://schemas.microsoft.com/office/drawing/2014/main" id="{764A5FCE-FA05-4D0C-84F4-77EBF4612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9812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52627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975" b="1">
                <a:solidFill>
                  <a:srgbClr val="526276"/>
                </a:solidFill>
                <a:latin typeface="DejaVu Sans Mono"/>
                <a:ea typeface="DejaVu Sans Mono"/>
                <a:cs typeface="DejaVu Sans Mono"/>
              </a:rPr>
              <a:t>负责</a:t>
            </a:r>
          </a:p>
        </p:txBody>
      </p:sp>
      <p:sp>
        <p:nvSpPr>
          <p:cNvPr id="44" name="矩形 43">
            <a:extLst xmlns:a="http://schemas.openxmlformats.org/drawingml/2006/main">
              <a:ext uri="{FF2B5EF4-FFF2-40B4-BE49-F238E27FC236}">
                <a16:creationId xmlns:a16="http://schemas.microsoft.com/office/drawing/2014/main" id="{4427D402-8C23-4E1A-80B6-6B12B5C38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190750"/>
            <a:ext cx="266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理解上下文并执行 python -X utf8 -m workbench…</a:t>
            </a:r>
          </a:p>
        </p:txBody>
      </p:sp>
      <p:sp>
        <p:nvSpPr>
          <p:cNvPr id="45" name="矩形 44">
            <a:extLst xmlns:a="http://schemas.openxmlformats.org/drawingml/2006/main">
              <a:ext uri="{FF2B5EF4-FFF2-40B4-BE49-F238E27FC236}">
                <a16:creationId xmlns:a16="http://schemas.microsoft.com/office/drawing/2014/main" id="{ABCA02B5-8D84-43BC-A44B-EE0DDC932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8120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52627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975" b="1">
                <a:solidFill>
                  <a:srgbClr val="526276"/>
                </a:solidFill>
                <a:latin typeface="DejaVu Sans Mono"/>
                <a:ea typeface="DejaVu Sans Mono"/>
                <a:cs typeface="DejaVu Sans Mono"/>
              </a:rPr>
              <a:t>不得</a:t>
            </a:r>
          </a:p>
        </p:txBody>
      </p:sp>
      <p:sp>
        <p:nvSpPr>
          <p:cNvPr id="46" name="矩形 45">
            <a:extLst xmlns:a="http://schemas.openxmlformats.org/drawingml/2006/main">
              <a:ext uri="{FF2B5EF4-FFF2-40B4-BE49-F238E27FC236}">
                <a16:creationId xmlns:a16="http://schemas.microsoft.com/office/drawing/2014/main" id="{8BA01E53-3EAE-4F23-AEA3-3D100B653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90750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越过：只授权一个业务切片；修改者不能用自述给自己判成功</a:t>
            </a:r>
          </a:p>
        </p:txBody>
      </p:sp>
      <p:sp>
        <p:nvSpPr>
          <p:cNvPr id="47" name="圆角矩形 46">
            <a:extLst xmlns:a="http://schemas.openxmlformats.org/drawingml/2006/main">
              <a:ext uri="{FF2B5EF4-FFF2-40B4-BE49-F238E27FC236}">
                <a16:creationId xmlns:a16="http://schemas.microsoft.com/office/drawing/2014/main" id="{21D7BB11-E453-4B76-8C1C-C470FA4C0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057400"/>
            <a:ext cx="1952625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071018"/>
          </a:solidFill>
          <a:ln xmlns:a="http://schemas.openxmlformats.org/drawingml/2006/main" w="10478">
            <a:solidFill>
              <a:srgbClr val="00E5FF"/>
            </a:solidFill>
            <a:prstDash val="solid"/>
          </a:ln>
        </p:spPr>
      </p:sp>
      <p:sp>
        <p:nvSpPr>
          <p:cNvPr id="48" name="矩形 47">
            <a:extLst xmlns:a="http://schemas.openxmlformats.org/drawingml/2006/main">
              <a:ext uri="{FF2B5EF4-FFF2-40B4-BE49-F238E27FC236}">
                <a16:creationId xmlns:a16="http://schemas.microsoft.com/office/drawing/2014/main" id="{6236B350-1335-4920-BA80-9F216DDD3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2114550"/>
            <a:ext cx="1762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E5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00E5FF"/>
                </a:solidFill>
                <a:latin typeface="Noto Sans CJK SC"/>
                <a:ea typeface="Noto Sans CJK SC"/>
                <a:cs typeface="Noto Sans CJK SC"/>
              </a:rPr>
              <a:t>交付</a:t>
            </a:r>
          </a:p>
          <a:p xmlns:a="http://schemas.openxmlformats.org/drawingml/2006/main">
            <a:pPr algn="ctr">
              <a:buNone/>
              <a:defRPr sz="1200" b="1">
                <a:solidFill>
                  <a:srgbClr val="00E5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00E5FF"/>
                </a:solidFill>
                <a:latin typeface="Noto Sans CJK SC"/>
                <a:ea typeface="Noto Sans CJK SC"/>
                <a:cs typeface="Noto Sans CJK SC"/>
              </a:rPr>
              <a:t>workbench/executor.py</a:t>
            </a:r>
          </a:p>
        </p:txBody>
      </p:sp>
      <p:sp>
        <p:nvSpPr>
          <p:cNvPr id="49" name="圆角矩形 48">
            <a:extLst xmlns:a="http://schemas.openxmlformats.org/drawingml/2006/main">
              <a:ext uri="{FF2B5EF4-FFF2-40B4-BE49-F238E27FC236}">
                <a16:creationId xmlns:a16="http://schemas.microsoft.com/office/drawing/2014/main" id="{4AE4A8EC-2BE8-4370-B283-AECE5E191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48000"/>
            <a:ext cx="110490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0A1119"/>
          </a:solidFill>
          <a:ln xmlns:a="http://schemas.openxmlformats.org/drawingml/2006/main" w="10478">
            <a:solidFill>
              <a:srgbClr val="39FFB6"/>
            </a:solidFill>
            <a:prstDash val="solid"/>
          </a:ln>
        </p:spPr>
      </p:sp>
      <p:sp>
        <p:nvSpPr>
          <p:cNvPr id="50" name="矩形 49">
            <a:extLst xmlns:a="http://schemas.openxmlformats.org/drawingml/2006/main">
              <a:ext uri="{FF2B5EF4-FFF2-40B4-BE49-F238E27FC236}">
                <a16:creationId xmlns:a16="http://schemas.microsoft.com/office/drawing/2014/main" id="{8CB6EB17-EA51-4F76-9806-E4BE2197D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48000"/>
            <a:ext cx="6667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FFB6"/>
          </a:solidFill>
          <a:ln xmlns:a="http://schemas.openxmlformats.org/drawingml/2006/main" w="0">
            <a:solidFill>
              <a:srgbClr val="39FFB6"/>
            </a:solidFill>
            <a:prstDash val="solid"/>
          </a:ln>
        </p:spPr>
      </p:sp>
      <p:sp>
        <p:nvSpPr>
          <p:cNvPr id="51" name="矩形 50">
            <a:extLst xmlns:a="http://schemas.openxmlformats.org/drawingml/2006/main">
              <a:ext uri="{FF2B5EF4-FFF2-40B4-BE49-F238E27FC236}">
                <a16:creationId xmlns:a16="http://schemas.microsoft.com/office/drawing/2014/main" id="{C37F5E77-32DD-4B37-B7DE-88E1F38C4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19450"/>
            <a:ext cx="2000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39FFB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39FFB6"/>
                </a:solidFill>
                <a:latin typeface="Noto Sans CJK SC"/>
                <a:ea typeface="Noto Sans CJK SC"/>
                <a:cs typeface="Noto Sans CJK SC"/>
              </a:rPr>
              <a:t>Eval / Harness</a:t>
            </a:r>
          </a:p>
        </p:txBody>
      </p:sp>
      <p:sp>
        <p:nvSpPr>
          <p:cNvPr id="52" name="矩形 51">
            <a:extLst xmlns:a="http://schemas.openxmlformats.org/drawingml/2006/main">
              <a:ext uri="{FF2B5EF4-FFF2-40B4-BE49-F238E27FC236}">
                <a16:creationId xmlns:a16="http://schemas.microsoft.com/office/drawing/2014/main" id="{F45B5A22-A6FF-4A01-A994-4CD48145F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219450"/>
            <a:ext cx="190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276"/>
          </a:solidFill>
          <a:ln xmlns:a="http://schemas.openxmlformats.org/drawingml/2006/main" w="0">
            <a:solidFill>
              <a:srgbClr val="526276"/>
            </a:solidFill>
            <a:prstDash val="solid"/>
          </a:ln>
        </p:spPr>
      </p:sp>
      <p:sp>
        <p:nvSpPr>
          <p:cNvPr id="53" name="矩形 52">
            <a:extLst xmlns:a="http://schemas.openxmlformats.org/drawingml/2006/main">
              <a:ext uri="{FF2B5EF4-FFF2-40B4-BE49-F238E27FC236}">
                <a16:creationId xmlns:a16="http://schemas.microsoft.com/office/drawing/2014/main" id="{B988FFA7-33E0-48A5-B41F-F8E8C2417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1432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52627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975" b="1">
                <a:solidFill>
                  <a:srgbClr val="526276"/>
                </a:solidFill>
                <a:latin typeface="DejaVu Sans Mono"/>
                <a:ea typeface="DejaVu Sans Mono"/>
                <a:cs typeface="DejaVu Sans Mono"/>
              </a:rPr>
              <a:t>负责</a:t>
            </a:r>
          </a:p>
        </p:txBody>
      </p:sp>
      <p:sp>
        <p:nvSpPr>
          <p:cNvPr id="54" name="矩形 53">
            <a:extLst xmlns:a="http://schemas.openxmlformats.org/drawingml/2006/main">
              <a:ext uri="{FF2B5EF4-FFF2-40B4-BE49-F238E27FC236}">
                <a16:creationId xmlns:a16="http://schemas.microsoft.com/office/drawing/2014/main" id="{18E55BB2-0842-46B6-A3D7-8948FF446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352800"/>
            <a:ext cx="266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验证：写集、Diff、命令、退出码和报告身份可回指</a:t>
            </a:r>
          </a:p>
        </p:txBody>
      </p:sp>
      <p:sp>
        <p:nvSpPr>
          <p:cNvPr id="55" name="矩形 54">
            <a:extLst xmlns:a="http://schemas.openxmlformats.org/drawingml/2006/main">
              <a:ext uri="{FF2B5EF4-FFF2-40B4-BE49-F238E27FC236}">
                <a16:creationId xmlns:a16="http://schemas.microsoft.com/office/drawing/2014/main" id="{5D2BF47C-2E34-432C-9C22-347F5C58C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14325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52627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975" b="1">
                <a:solidFill>
                  <a:srgbClr val="526276"/>
                </a:solidFill>
                <a:latin typeface="DejaVu Sans Mono"/>
                <a:ea typeface="DejaVu Sans Mono"/>
                <a:cs typeface="DejaVu Sans Mono"/>
              </a:rPr>
              <a:t>不得</a:t>
            </a:r>
          </a:p>
        </p:txBody>
      </p:sp>
      <p:sp>
        <p:nvSpPr>
          <p:cNvPr id="56" name="矩形 55">
            <a:extLst xmlns:a="http://schemas.openxmlformats.org/drawingml/2006/main">
              <a:ext uri="{FF2B5EF4-FFF2-40B4-BE49-F238E27FC236}">
                <a16:creationId xmlns:a16="http://schemas.microsoft.com/office/drawing/2014/main" id="{79FB1BFE-17C1-4676-A9D6-5453F36C4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352800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为通过而降低断言</a:t>
            </a:r>
          </a:p>
        </p:txBody>
      </p:sp>
      <p:sp>
        <p:nvSpPr>
          <p:cNvPr id="57" name="圆角矩形 56">
            <a:extLst xmlns:a="http://schemas.openxmlformats.org/drawingml/2006/main">
              <a:ext uri="{FF2B5EF4-FFF2-40B4-BE49-F238E27FC236}">
                <a16:creationId xmlns:a16="http://schemas.microsoft.com/office/drawing/2014/main" id="{66326AB6-1ED3-4BA6-BA89-BF9E0D7A5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219450"/>
            <a:ext cx="1952625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07130F"/>
          </a:solidFill>
          <a:ln xmlns:a="http://schemas.openxmlformats.org/drawingml/2006/main" w="10478">
            <a:solidFill>
              <a:srgbClr val="39FFB6"/>
            </a:solidFill>
            <a:prstDash val="solid"/>
          </a:ln>
        </p:spPr>
      </p:sp>
      <p:sp>
        <p:nvSpPr>
          <p:cNvPr id="58" name="矩形 57">
            <a:extLst xmlns:a="http://schemas.openxmlformats.org/drawingml/2006/main">
              <a:ext uri="{FF2B5EF4-FFF2-40B4-BE49-F238E27FC236}">
                <a16:creationId xmlns:a16="http://schemas.microsoft.com/office/drawing/2014/main" id="{F3D1675A-3787-4DC8-824F-68E046028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3276600"/>
            <a:ext cx="1762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39FFB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39FFB6"/>
                </a:solidFill>
                <a:latin typeface="Noto Sans CJK SC"/>
                <a:ea typeface="Noto Sans CJK SC"/>
                <a:cs typeface="Noto Sans CJK SC"/>
              </a:rPr>
              <a:t>交付</a:t>
            </a:r>
          </a:p>
          <a:p xmlns:a="http://schemas.openxmlformats.org/drawingml/2006/main">
            <a:pPr algn="ctr">
              <a:buNone/>
              <a:defRPr sz="1200" b="1">
                <a:solidFill>
                  <a:srgbClr val="39FFB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39FFB6"/>
                </a:solidFill>
                <a:latin typeface="Noto Sans CJK SC"/>
                <a:ea typeface="Noto Sans CJK SC"/>
                <a:cs typeface="Noto Sans CJK SC"/>
              </a:rPr>
              <a:t>FDE_SPEC.md</a:t>
            </a:r>
          </a:p>
        </p:txBody>
      </p:sp>
      <p:sp>
        <p:nvSpPr>
          <p:cNvPr id="59" name="圆角矩形 58">
            <a:extLst xmlns:a="http://schemas.openxmlformats.org/drawingml/2006/main">
              <a:ext uri="{FF2B5EF4-FFF2-40B4-BE49-F238E27FC236}">
                <a16:creationId xmlns:a16="http://schemas.microsoft.com/office/drawing/2014/main" id="{D5BF2E91-52CE-4830-9FA5-FBAC77F08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10050"/>
            <a:ext cx="110490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0A1119"/>
          </a:solidFill>
          <a:ln xmlns:a="http://schemas.openxmlformats.org/drawingml/2006/main" w="10478">
            <a:solidFill>
              <a:srgbClr val="FFB84D"/>
            </a:solidFill>
            <a:prstDash val="solid"/>
          </a:ln>
        </p:spPr>
      </p:sp>
      <p:sp>
        <p:nvSpPr>
          <p:cNvPr id="60" name="矩形 59">
            <a:extLst xmlns:a="http://schemas.openxmlformats.org/drawingml/2006/main">
              <a:ext uri="{FF2B5EF4-FFF2-40B4-BE49-F238E27FC236}">
                <a16:creationId xmlns:a16="http://schemas.microsoft.com/office/drawing/2014/main" id="{24C4EA3F-B149-40CE-A9F5-71D02D29D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10050"/>
            <a:ext cx="6667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FFB84D"/>
            </a:solidFill>
            <a:prstDash val="solid"/>
          </a:ln>
        </p:spPr>
      </p:sp>
      <p:sp>
        <p:nvSpPr>
          <p:cNvPr id="61" name="矩形 60">
            <a:extLst xmlns:a="http://schemas.openxmlformats.org/drawingml/2006/main">
              <a:ext uri="{FF2B5EF4-FFF2-40B4-BE49-F238E27FC236}">
                <a16:creationId xmlns:a16="http://schemas.microsoft.com/office/drawing/2014/main" id="{134CAA4E-A0F2-43FB-9B83-A5100A33E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81500"/>
            <a:ext cx="2000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B84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1">
                <a:solidFill>
                  <a:srgbClr val="FFB84D"/>
                </a:solidFill>
                <a:latin typeface="Noto Sans CJK SC"/>
                <a:ea typeface="Noto Sans CJK SC"/>
                <a:cs typeface="Noto Sans CJK SC"/>
              </a:rPr>
              <a:t>具名审核人</a:t>
            </a:r>
          </a:p>
        </p:txBody>
      </p:sp>
      <p:sp>
        <p:nvSpPr>
          <p:cNvPr id="62" name="矩形 61">
            <a:extLst xmlns:a="http://schemas.openxmlformats.org/drawingml/2006/main">
              <a:ext uri="{FF2B5EF4-FFF2-40B4-BE49-F238E27FC236}">
                <a16:creationId xmlns:a16="http://schemas.microsoft.com/office/drawing/2014/main" id="{789F21E8-147F-485E-97C1-94437D461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381500"/>
            <a:ext cx="190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276"/>
          </a:solidFill>
          <a:ln xmlns:a="http://schemas.openxmlformats.org/drawingml/2006/main" w="0">
            <a:solidFill>
              <a:srgbClr val="526276"/>
            </a:solidFill>
            <a:prstDash val="solid"/>
          </a:ln>
        </p:spPr>
      </p:sp>
      <p:sp>
        <p:nvSpPr>
          <p:cNvPr id="63" name="矩形 62">
            <a:extLst xmlns:a="http://schemas.openxmlformats.org/drawingml/2006/main">
              <a:ext uri="{FF2B5EF4-FFF2-40B4-BE49-F238E27FC236}">
                <a16:creationId xmlns:a16="http://schemas.microsoft.com/office/drawing/2014/main" id="{E3F95441-916B-47D0-BFBF-E97970E05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3053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52627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975" b="1">
                <a:solidFill>
                  <a:srgbClr val="526276"/>
                </a:solidFill>
                <a:latin typeface="DejaVu Sans Mono"/>
                <a:ea typeface="DejaVu Sans Mono"/>
                <a:cs typeface="DejaVu Sans Mono"/>
              </a:rPr>
              <a:t>负责</a:t>
            </a:r>
          </a:p>
        </p:txBody>
      </p:sp>
      <p:sp>
        <p:nvSpPr>
          <p:cNvPr id="64" name="矩形 63">
            <a:extLst xmlns:a="http://schemas.openxmlformats.org/drawingml/2006/main">
              <a:ext uri="{FF2B5EF4-FFF2-40B4-BE49-F238E27FC236}">
                <a16:creationId xmlns:a16="http://schemas.microsoft.com/office/drawing/2014/main" id="{728C24C0-78E6-4249-94EE-AF93721F0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514850"/>
            <a:ext cx="266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确认业务结果、权限与剩余风险</a:t>
            </a:r>
          </a:p>
        </p:txBody>
      </p:sp>
      <p:sp>
        <p:nvSpPr>
          <p:cNvPr id="65" name="矩形 64">
            <a:extLst xmlns:a="http://schemas.openxmlformats.org/drawingml/2006/main">
              <a:ext uri="{FF2B5EF4-FFF2-40B4-BE49-F238E27FC236}">
                <a16:creationId xmlns:a16="http://schemas.microsoft.com/office/drawing/2014/main" id="{2FDD170A-7708-4F63-A8FF-10F8D6FAE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30530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52627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975" b="1">
                <a:solidFill>
                  <a:srgbClr val="526276"/>
                </a:solidFill>
                <a:latin typeface="DejaVu Sans Mono"/>
                <a:ea typeface="DejaVu Sans Mono"/>
                <a:cs typeface="DejaVu Sans Mono"/>
              </a:rPr>
              <a:t>不得</a:t>
            </a:r>
          </a:p>
        </p:txBody>
      </p:sp>
      <p:sp>
        <p:nvSpPr>
          <p:cNvPr id="66" name="矩形 65">
            <a:extLst xmlns:a="http://schemas.openxmlformats.org/drawingml/2006/main">
              <a:ext uri="{FF2B5EF4-FFF2-40B4-BE49-F238E27FC236}">
                <a16:creationId xmlns:a16="http://schemas.microsoft.com/office/drawing/2014/main" id="{7DCD4CB6-F5C8-4A26-810D-CD3EE8367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514850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把最终责任交给模型</a:t>
            </a:r>
          </a:p>
        </p:txBody>
      </p:sp>
      <p:sp>
        <p:nvSpPr>
          <p:cNvPr id="67" name="圆角矩形 66">
            <a:extLst xmlns:a="http://schemas.openxmlformats.org/drawingml/2006/main">
              <a:ext uri="{FF2B5EF4-FFF2-40B4-BE49-F238E27FC236}">
                <a16:creationId xmlns:a16="http://schemas.microsoft.com/office/drawing/2014/main" id="{59EBEE09-19BE-40BC-817B-D7DEFD9A0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4381500"/>
            <a:ext cx="1952625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131007"/>
          </a:solidFill>
          <a:ln xmlns:a="http://schemas.openxmlformats.org/drawingml/2006/main" w="10478">
            <a:solidFill>
              <a:srgbClr val="FFB84D"/>
            </a:solidFill>
            <a:prstDash val="solid"/>
          </a:ln>
        </p:spPr>
      </p:sp>
      <p:sp>
        <p:nvSpPr>
          <p:cNvPr id="68" name="矩形 67">
            <a:extLst xmlns:a="http://schemas.openxmlformats.org/drawingml/2006/main">
              <a:ext uri="{FF2B5EF4-FFF2-40B4-BE49-F238E27FC236}">
                <a16:creationId xmlns:a16="http://schemas.microsoft.com/office/drawing/2014/main" id="{CC489E74-D14C-4562-ADEC-93AC9A442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4438650"/>
            <a:ext cx="1762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B84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FB84D"/>
                </a:solidFill>
                <a:latin typeface="Noto Sans CJK SC"/>
                <a:ea typeface="Noto Sans CJK SC"/>
                <a:cs typeface="Noto Sans CJK SC"/>
              </a:rPr>
              <a:t>交付</a:t>
            </a:r>
          </a:p>
          <a:p xmlns:a="http://schemas.openxmlformats.org/drawingml/2006/main">
            <a:pPr algn="ctr">
              <a:buNone/>
              <a:defRPr sz="1200" b="1">
                <a:solidFill>
                  <a:srgbClr val="FFB84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FB84D"/>
                </a:solidFill>
                <a:latin typeface="Noto Sans CJK SC"/>
                <a:ea typeface="Noto Sans CJK SC"/>
                <a:cs typeface="Noto Sans CJK SC"/>
              </a:rPr>
              <a:t>批准 / 打回</a:t>
            </a:r>
          </a:p>
        </p:txBody>
      </p:sp>
      <p:sp>
        <p:nvSpPr>
          <p:cNvPr id="69" name="圆角矩形 68">
            <a:extLst xmlns:a="http://schemas.openxmlformats.org/drawingml/2006/main">
              <a:ext uri="{FF2B5EF4-FFF2-40B4-BE49-F238E27FC236}">
                <a16:creationId xmlns:a16="http://schemas.microsoft.com/office/drawing/2014/main" id="{1F0DEDF2-4E95-4CAE-B701-ED2235ACD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410200"/>
            <a:ext cx="89535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07130F"/>
          </a:solidFill>
          <a:ln xmlns:a="http://schemas.openxmlformats.org/drawingml/2006/main" w="10478">
            <a:solidFill>
              <a:srgbClr val="39FFB6"/>
            </a:solidFill>
            <a:prstDash val="solid"/>
          </a:ln>
        </p:spPr>
      </p:sp>
      <p:sp>
        <p:nvSpPr>
          <p:cNvPr id="70" name="矩形 69">
            <a:extLst xmlns:a="http://schemas.openxmlformats.org/drawingml/2006/main">
              <a:ext uri="{FF2B5EF4-FFF2-40B4-BE49-F238E27FC236}">
                <a16:creationId xmlns:a16="http://schemas.microsoft.com/office/drawing/2014/main" id="{B3E57FB9-2D67-40A8-AF8B-A3F4799D0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467350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39FFB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39FFB6"/>
                </a:solidFill>
                <a:latin typeface="Noto Sans CJK SC"/>
                <a:ea typeface="Noto Sans CJK SC"/>
                <a:cs typeface="Noto Sans CJK SC"/>
              </a:rPr>
              <a:t>共同前提：Tool 能做什么不等于 Agent 被授权做什么</a:t>
            </a:r>
          </a:p>
        </p:txBody>
      </p:sp>
    </p:spTree>
    <p:extLst>
      <p:ext uri="{BB962C8B-B14F-4D97-AF65-F5344CB8AC3E}">
        <p14:creationId xmlns:p14="http://schemas.microsoft.com/office/powerpoint/2010/main" val="10362159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E11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8A5DBCCE-80DA-46C1-BC6E-FB196EAB8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720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E5B567"/>
                </a:solidFill>
                <a:latin typeface="Noto Sans CJK SC"/>
                <a:ea typeface="Noto Sans CJK SC"/>
                <a:cs typeface="Noto Sans CJK SC"/>
              </a:rPr>
              <a:t>L04 · 验收矩阵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E1F2A29F-A48A-43AF-8F95-B425675DC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749808"/>
            <a:ext cx="1106424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3400"/>
              </a:lnSpc>
              <a:buNone/>
            </a:pPr>
            <a:r>
              <a:rPr sz="3000" b="1">
                <a:solidFill>
                  <a:srgbClr val="F2F4F8"/>
                </a:solidFill>
                <a:latin typeface="Noto Sans CJK SC"/>
                <a:ea typeface="Noto Sans CJK SC"/>
                <a:cs typeface="Noto Sans CJK SC"/>
              </a:rPr>
              <a:t>人工审查 Diff 只问五个能改变结论的问题</a:t>
            </a:r>
            <a:endParaRPr sz="30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06FB70D5-B428-4381-956B-039A8ECA5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53733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1350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每一行都改变一个可观察状态，并留下下一步所需证据。</a:t>
            </a:r>
            <a:endParaRPr sz="15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42870BE4-6AA6-41DB-A68D-9E5ED93E6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55080"/>
            <a:ext cx="5486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6B7684"/>
                </a:solidFill>
                <a:latin typeface="DejaVu Sans Mono"/>
                <a:ea typeface="DejaVu Sans Mono"/>
                <a:cs typeface="DejaVu Sans Mono"/>
              </a:rPr>
              <a:t>12</a:t>
            </a:r>
            <a:endParaRPr sz="1100"/>
          </a:p>
        </p:txBody>
      </p:sp>
      <p:sp>
        <p:nvSpPr>
          <p:cNvPr id="43" name="矩形 42">
            <a:extLst xmlns:a="http://schemas.openxmlformats.org/drawingml/2006/main">
              <a:ext uri="{FF2B5EF4-FFF2-40B4-BE49-F238E27FC236}">
                <a16:creationId xmlns:a16="http://schemas.microsoft.com/office/drawing/2014/main" id="{0225F962-67E7-44F3-8EF5-2B688DA51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81225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2627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050" b="1">
                <a:solidFill>
                  <a:srgbClr val="526276"/>
                </a:solidFill>
                <a:latin typeface="DejaVu Sans Mono"/>
                <a:ea typeface="DejaVu Sans Mono"/>
                <a:cs typeface="DejaVu Sans Mono"/>
              </a:rPr>
              <a:t>对象 / 风险</a:t>
            </a:r>
          </a:p>
        </p:txBody>
      </p:sp>
      <p:sp>
        <p:nvSpPr>
          <p:cNvPr id="44" name="矩形 43">
            <a:extLst xmlns:a="http://schemas.openxmlformats.org/drawingml/2006/main">
              <a:ext uri="{FF2B5EF4-FFF2-40B4-BE49-F238E27FC236}">
                <a16:creationId xmlns:a16="http://schemas.microsoft.com/office/drawing/2014/main" id="{640CA56F-3F41-4324-B9B4-9C72CB134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181225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2627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526276"/>
                </a:solidFill>
                <a:latin typeface="Noto Sans CJK SC"/>
                <a:ea typeface="Noto Sans CJK SC"/>
                <a:cs typeface="Noto Sans CJK SC"/>
              </a:rPr>
              <a:t>现场动作</a:t>
            </a:r>
          </a:p>
        </p:txBody>
      </p:sp>
      <p:sp>
        <p:nvSpPr>
          <p:cNvPr id="45" name="矩形 44">
            <a:extLst xmlns:a="http://schemas.openxmlformats.org/drawingml/2006/main">
              <a:ext uri="{FF2B5EF4-FFF2-40B4-BE49-F238E27FC236}">
                <a16:creationId xmlns:a16="http://schemas.microsoft.com/office/drawing/2014/main" id="{FA15EF28-2439-4AE7-9A73-01B3F2D78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181225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2627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526276"/>
                </a:solidFill>
                <a:latin typeface="Noto Sans CJK SC"/>
                <a:ea typeface="Noto Sans CJK SC"/>
                <a:cs typeface="Noto Sans CJK SC"/>
              </a:rPr>
              <a:t>留下资产</a:t>
            </a:r>
          </a:p>
        </p:txBody>
      </p:sp>
      <p:sp>
        <p:nvSpPr>
          <p:cNvPr id="46" name="矩形 45">
            <a:extLst xmlns:a="http://schemas.openxmlformats.org/drawingml/2006/main">
              <a:ext uri="{FF2B5EF4-FFF2-40B4-BE49-F238E27FC236}">
                <a16:creationId xmlns:a16="http://schemas.microsoft.com/office/drawing/2014/main" id="{219FE910-7CA5-4524-A642-CE85224DD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181225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2627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1">
                <a:solidFill>
                  <a:srgbClr val="526276"/>
                </a:solidFill>
                <a:latin typeface="Noto Sans CJK SC"/>
                <a:ea typeface="Noto Sans CJK SC"/>
                <a:cs typeface="Noto Sans CJK SC"/>
              </a:rPr>
              <a:t>过关证据</a:t>
            </a:r>
          </a:p>
        </p:txBody>
      </p:sp>
      <p:sp>
        <p:nvSpPr>
          <p:cNvPr id="47" name="圆角矩形 46">
            <a:extLst xmlns:a="http://schemas.openxmlformats.org/drawingml/2006/main">
              <a:ext uri="{FF2B5EF4-FFF2-40B4-BE49-F238E27FC236}">
                <a16:creationId xmlns:a16="http://schemas.microsoft.com/office/drawing/2014/main" id="{A75824AA-E251-4CA8-9A58-68EEBEBA8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33650"/>
            <a:ext cx="110680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71018"/>
          </a:solidFill>
          <a:ln xmlns:a="http://schemas.openxmlformats.org/drawingml/2006/main" w="10478">
            <a:solidFill>
              <a:srgbClr val="00E5FF"/>
            </a:solidFill>
            <a:prstDash val="solid"/>
          </a:ln>
        </p:spPr>
      </p:sp>
      <p:sp>
        <p:nvSpPr>
          <p:cNvPr id="48" name="矩形 47">
            <a:extLst xmlns:a="http://schemas.openxmlformats.org/drawingml/2006/main">
              <a:ext uri="{FF2B5EF4-FFF2-40B4-BE49-F238E27FC236}">
                <a16:creationId xmlns:a16="http://schemas.microsoft.com/office/drawing/2014/main" id="{7E396E9E-6E27-436A-B3F1-464697EFB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33650"/>
            <a:ext cx="666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E5FF"/>
          </a:solidFill>
          <a:ln xmlns:a="http://schemas.openxmlformats.org/drawingml/2006/main" w="0">
            <a:solidFill>
              <a:srgbClr val="00E5FF"/>
            </a:solidFill>
            <a:prstDash val="solid"/>
          </a:ln>
        </p:spPr>
      </p:sp>
      <p:sp>
        <p:nvSpPr>
          <p:cNvPr id="49" name="矩形 48">
            <a:extLst xmlns:a="http://schemas.openxmlformats.org/drawingml/2006/main">
              <a:ext uri="{FF2B5EF4-FFF2-40B4-BE49-F238E27FC236}">
                <a16:creationId xmlns:a16="http://schemas.microsoft.com/office/drawing/2014/main" id="{ABE94B10-E91B-48BA-938F-7FA9D9170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09850"/>
            <a:ext cx="180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rPr>
              <a:t>01</a:t>
            </a:r>
          </a:p>
        </p:txBody>
      </p:sp>
      <p:sp>
        <p:nvSpPr>
          <p:cNvPr id="50" name="矩形 49">
            <a:extLst xmlns:a="http://schemas.openxmlformats.org/drawingml/2006/main">
              <a:ext uri="{FF2B5EF4-FFF2-40B4-BE49-F238E27FC236}">
                <a16:creationId xmlns:a16="http://schemas.microsoft.com/office/drawing/2014/main" id="{97FF18EB-D71E-4440-8471-97B6CE703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57500"/>
            <a:ext cx="1857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宽委托</a:t>
            </a:r>
          </a:p>
        </p:txBody>
      </p:sp>
      <p:sp>
        <p:nvSpPr>
          <p:cNvPr id="51" name="矩形 50">
            <a:extLst xmlns:a="http://schemas.openxmlformats.org/drawingml/2006/main">
              <a:ext uri="{FF2B5EF4-FFF2-40B4-BE49-F238E27FC236}">
                <a16:creationId xmlns:a16="http://schemas.microsoft.com/office/drawing/2014/main" id="{1C3C8C77-218D-4E6C-BAE6-1F7E5275A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609850"/>
            <a:ext cx="257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限定一个库存切片</a:t>
            </a:r>
          </a:p>
        </p:txBody>
      </p:sp>
      <p:sp>
        <p:nvSpPr>
          <p:cNvPr id="52" name="矩形 51">
            <a:extLst xmlns:a="http://schemas.openxmlformats.org/drawingml/2006/main">
              <a:ext uri="{FF2B5EF4-FFF2-40B4-BE49-F238E27FC236}">
                <a16:creationId xmlns:a16="http://schemas.microsoft.com/office/drawing/2014/main" id="{177DAC8C-F998-494B-83EC-2B288B97A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609850"/>
            <a:ext cx="266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9AA9B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25" b="0">
                <a:solidFill>
                  <a:srgbClr val="9AA9BC"/>
                </a:solidFill>
                <a:latin typeface="DejaVu Sans Mono"/>
                <a:ea typeface="DejaVu Sans Mono"/>
                <a:cs typeface="DejaVu Sans Mono"/>
              </a:rPr>
              <a:t>workbench/executor.py</a:t>
            </a:r>
          </a:p>
        </p:txBody>
      </p:sp>
      <p:sp>
        <p:nvSpPr>
          <p:cNvPr id="53" name="矩形 52">
            <a:extLst xmlns:a="http://schemas.openxmlformats.org/drawingml/2006/main">
              <a:ext uri="{FF2B5EF4-FFF2-40B4-BE49-F238E27FC236}">
                <a16:creationId xmlns:a16="http://schemas.microsoft.com/office/drawing/2014/main" id="{9693250A-6249-417F-A246-FD919AD87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609850"/>
            <a:ext cx="276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write_set</a:t>
            </a:r>
          </a:p>
        </p:txBody>
      </p:sp>
      <p:sp>
        <p:nvSpPr>
          <p:cNvPr id="54" name="圆角矩形 53">
            <a:extLst xmlns:a="http://schemas.openxmlformats.org/drawingml/2006/main">
              <a:ext uri="{FF2B5EF4-FFF2-40B4-BE49-F238E27FC236}">
                <a16:creationId xmlns:a16="http://schemas.microsoft.com/office/drawing/2014/main" id="{686C1731-C85B-4FA3-A5ED-3E44F93E5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0"/>
            <a:ext cx="110680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30A0E"/>
          </a:solidFill>
          <a:ln xmlns:a="http://schemas.openxmlformats.org/drawingml/2006/main" w="10478">
            <a:solidFill>
              <a:srgbClr val="FF5A6B"/>
            </a:solidFill>
            <a:prstDash val="solid"/>
          </a:ln>
        </p:spPr>
      </p:sp>
      <p:sp>
        <p:nvSpPr>
          <p:cNvPr id="55" name="矩形 54">
            <a:extLst xmlns:a="http://schemas.openxmlformats.org/drawingml/2006/main">
              <a:ext uri="{FF2B5EF4-FFF2-40B4-BE49-F238E27FC236}">
                <a16:creationId xmlns:a16="http://schemas.microsoft.com/office/drawing/2014/main" id="{CE2D41B9-5852-4C6A-8636-D37D52C65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0"/>
            <a:ext cx="666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A6B"/>
          </a:solidFill>
          <a:ln xmlns:a="http://schemas.openxmlformats.org/drawingml/2006/main" w="0">
            <a:solidFill>
              <a:srgbClr val="FF5A6B"/>
            </a:solidFill>
            <a:prstDash val="solid"/>
          </a:ln>
        </p:spPr>
      </p:sp>
      <p:sp>
        <p:nvSpPr>
          <p:cNvPr id="56" name="矩形 55">
            <a:extLst xmlns:a="http://schemas.openxmlformats.org/drawingml/2006/main">
              <a:ext uri="{FF2B5EF4-FFF2-40B4-BE49-F238E27FC236}">
                <a16:creationId xmlns:a16="http://schemas.microsoft.com/office/drawing/2014/main" id="{EAE8AE4D-BEC5-4F8B-8943-227F5DCF1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09950"/>
            <a:ext cx="180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5A6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1">
                <a:solidFill>
                  <a:srgbClr val="FF5A6B"/>
                </a:solidFill>
                <a:latin typeface="DejaVu Sans Mono"/>
                <a:ea typeface="DejaVu Sans Mono"/>
                <a:cs typeface="DejaVu Sans Mono"/>
              </a:rPr>
              <a:t>02</a:t>
            </a:r>
          </a:p>
        </p:txBody>
      </p:sp>
      <p:sp>
        <p:nvSpPr>
          <p:cNvPr id="57" name="矩形 56">
            <a:extLst xmlns:a="http://schemas.openxmlformats.org/drawingml/2006/main">
              <a:ext uri="{FF2B5EF4-FFF2-40B4-BE49-F238E27FC236}">
                <a16:creationId xmlns:a16="http://schemas.microsoft.com/office/drawing/2014/main" id="{9ADCD58B-4F3C-4285-A031-318DDC1F4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57600"/>
            <a:ext cx="1857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自由工具</a:t>
            </a:r>
          </a:p>
        </p:txBody>
      </p:sp>
      <p:sp>
        <p:nvSpPr>
          <p:cNvPr id="58" name="矩形 57">
            <a:extLst xmlns:a="http://schemas.openxmlformats.org/drawingml/2006/main">
              <a:ext uri="{FF2B5EF4-FFF2-40B4-BE49-F238E27FC236}">
                <a16:creationId xmlns:a16="http://schemas.microsoft.com/office/drawing/2014/main" id="{0A348BDF-2F08-4C8D-B246-374F63AFD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409950"/>
            <a:ext cx="257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Schema + 权限 + 超时</a:t>
            </a:r>
          </a:p>
        </p:txBody>
      </p:sp>
      <p:sp>
        <p:nvSpPr>
          <p:cNvPr id="59" name="矩形 58">
            <a:extLst xmlns:a="http://schemas.openxmlformats.org/drawingml/2006/main">
              <a:ext uri="{FF2B5EF4-FFF2-40B4-BE49-F238E27FC236}">
                <a16:creationId xmlns:a16="http://schemas.microsoft.com/office/drawing/2014/main" id="{C8B3ACB5-21F3-4799-9EEB-06827D2C2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409950"/>
            <a:ext cx="266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9AA9B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25" b="0">
                <a:solidFill>
                  <a:srgbClr val="9AA9BC"/>
                </a:solidFill>
                <a:latin typeface="DejaVu Sans Mono"/>
                <a:ea typeface="DejaVu Sans Mono"/>
                <a:cs typeface="DejaVu Sans Mono"/>
              </a:rPr>
              <a:t>workbench/api.py</a:t>
            </a:r>
          </a:p>
        </p:txBody>
      </p:sp>
      <p:sp>
        <p:nvSpPr>
          <p:cNvPr id="60" name="矩形 59">
            <a:extLst xmlns:a="http://schemas.openxmlformats.org/drawingml/2006/main">
              <a:ext uri="{FF2B5EF4-FFF2-40B4-BE49-F238E27FC236}">
                <a16:creationId xmlns:a16="http://schemas.microsoft.com/office/drawing/2014/main" id="{DEF9A81C-DE26-453E-A2A1-4B348FD7B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409950"/>
            <a:ext cx="276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Tool contract</a:t>
            </a:r>
          </a:p>
        </p:txBody>
      </p:sp>
      <p:sp>
        <p:nvSpPr>
          <p:cNvPr id="61" name="圆角矩形 60">
            <a:extLst xmlns:a="http://schemas.openxmlformats.org/drawingml/2006/main">
              <a:ext uri="{FF2B5EF4-FFF2-40B4-BE49-F238E27FC236}">
                <a16:creationId xmlns:a16="http://schemas.microsoft.com/office/drawing/2014/main" id="{8773DB77-737D-428C-A271-34CBCA07E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33850"/>
            <a:ext cx="110680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31007"/>
          </a:solidFill>
          <a:ln xmlns:a="http://schemas.openxmlformats.org/drawingml/2006/main" w="10478">
            <a:solidFill>
              <a:srgbClr val="FFB84D"/>
            </a:solidFill>
            <a:prstDash val="solid"/>
          </a:ln>
        </p:spPr>
      </p:sp>
      <p:sp>
        <p:nvSpPr>
          <p:cNvPr id="62" name="矩形 61">
            <a:extLst xmlns:a="http://schemas.openxmlformats.org/drawingml/2006/main">
              <a:ext uri="{FF2B5EF4-FFF2-40B4-BE49-F238E27FC236}">
                <a16:creationId xmlns:a16="http://schemas.microsoft.com/office/drawing/2014/main" id="{BD943CAB-3C46-4CA6-91A5-9202ED912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33850"/>
            <a:ext cx="666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FFB84D"/>
            </a:solidFill>
            <a:prstDash val="solid"/>
          </a:ln>
        </p:spPr>
      </p:sp>
      <p:sp>
        <p:nvSpPr>
          <p:cNvPr id="63" name="矩形 62">
            <a:extLst xmlns:a="http://schemas.openxmlformats.org/drawingml/2006/main">
              <a:ext uri="{FF2B5EF4-FFF2-40B4-BE49-F238E27FC236}">
                <a16:creationId xmlns:a16="http://schemas.microsoft.com/office/drawing/2014/main" id="{BC5D2C84-029D-4FAF-ACAD-B8D803A34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0050"/>
            <a:ext cx="180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B8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1">
                <a:solidFill>
                  <a:srgbClr val="FFB84D"/>
                </a:solidFill>
                <a:latin typeface="DejaVu Sans Mono"/>
                <a:ea typeface="DejaVu Sans Mono"/>
                <a:cs typeface="DejaVu Sans Mono"/>
              </a:rPr>
              <a:t>03</a:t>
            </a:r>
          </a:p>
        </p:txBody>
      </p:sp>
      <p:sp>
        <p:nvSpPr>
          <p:cNvPr id="64" name="矩形 63">
            <a:extLst xmlns:a="http://schemas.openxmlformats.org/drawingml/2006/main">
              <a:ext uri="{FF2B5EF4-FFF2-40B4-BE49-F238E27FC236}">
                <a16:creationId xmlns:a16="http://schemas.microsoft.com/office/drawing/2014/main" id="{34F61C28-DC60-4B17-BF29-EB6972E6E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57700"/>
            <a:ext cx="1857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自测</a:t>
            </a:r>
          </a:p>
        </p:txBody>
      </p:sp>
      <p:sp>
        <p:nvSpPr>
          <p:cNvPr id="65" name="矩形 64">
            <a:extLst xmlns:a="http://schemas.openxmlformats.org/drawingml/2006/main">
              <a:ext uri="{FF2B5EF4-FFF2-40B4-BE49-F238E27FC236}">
                <a16:creationId xmlns:a16="http://schemas.microsoft.com/office/drawing/2014/main" id="{C452BA5D-1FEE-4B66-A7E2-373EDD298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210050"/>
            <a:ext cx="257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独立 Harness 复验</a:t>
            </a:r>
          </a:p>
        </p:txBody>
      </p:sp>
      <p:sp>
        <p:nvSpPr>
          <p:cNvPr id="66" name="矩形 65">
            <a:extLst xmlns:a="http://schemas.openxmlformats.org/drawingml/2006/main">
              <a:ext uri="{FF2B5EF4-FFF2-40B4-BE49-F238E27FC236}">
                <a16:creationId xmlns:a16="http://schemas.microsoft.com/office/drawing/2014/main" id="{250BAA25-1832-4FA4-84B8-97430C337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210050"/>
            <a:ext cx="266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9AA9B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25" b="0">
                <a:solidFill>
                  <a:srgbClr val="9AA9BC"/>
                </a:solidFill>
                <a:latin typeface="DejaVu Sans Mono"/>
                <a:ea typeface="DejaVu Sans Mono"/>
                <a:cs typeface="DejaVu Sans Mono"/>
              </a:rPr>
              <a:t>FDE_SPEC.md</a:t>
            </a:r>
          </a:p>
        </p:txBody>
      </p:sp>
      <p:sp>
        <p:nvSpPr>
          <p:cNvPr id="67" name="矩形 66">
            <a:extLst xmlns:a="http://schemas.openxmlformats.org/drawingml/2006/main">
              <a:ext uri="{FF2B5EF4-FFF2-40B4-BE49-F238E27FC236}">
                <a16:creationId xmlns:a16="http://schemas.microsoft.com/office/drawing/2014/main" id="{9F474969-151A-4BD1-965C-227BF45B3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210050"/>
            <a:ext cx="276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report.json</a:t>
            </a:r>
          </a:p>
        </p:txBody>
      </p:sp>
      <p:sp>
        <p:nvSpPr>
          <p:cNvPr id="68" name="圆角矩形 67">
            <a:extLst xmlns:a="http://schemas.openxmlformats.org/drawingml/2006/main">
              <a:ext uri="{FF2B5EF4-FFF2-40B4-BE49-F238E27FC236}">
                <a16:creationId xmlns:a16="http://schemas.microsoft.com/office/drawing/2014/main" id="{608C28A8-EF01-4DB1-89F0-64C96025E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33950"/>
            <a:ext cx="110680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7130F"/>
          </a:solidFill>
          <a:ln xmlns:a="http://schemas.openxmlformats.org/drawingml/2006/main" w="10478">
            <a:solidFill>
              <a:srgbClr val="39FFB6"/>
            </a:solidFill>
            <a:prstDash val="solid"/>
          </a:ln>
        </p:spPr>
      </p:sp>
      <p:sp>
        <p:nvSpPr>
          <p:cNvPr id="69" name="矩形 68">
            <a:extLst xmlns:a="http://schemas.openxmlformats.org/drawingml/2006/main">
              <a:ext uri="{FF2B5EF4-FFF2-40B4-BE49-F238E27FC236}">
                <a16:creationId xmlns:a16="http://schemas.microsoft.com/office/drawing/2014/main" id="{9421ABF1-8DF2-4B14-8D6B-7E7FACBFA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33950"/>
            <a:ext cx="666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FFB6"/>
          </a:solidFill>
          <a:ln xmlns:a="http://schemas.openxmlformats.org/drawingml/2006/main" w="0">
            <a:solidFill>
              <a:srgbClr val="39FFB6"/>
            </a:solidFill>
            <a:prstDash val="solid"/>
          </a:ln>
        </p:spPr>
      </p:sp>
      <p:sp>
        <p:nvSpPr>
          <p:cNvPr id="70" name="矩形 69">
            <a:extLst xmlns:a="http://schemas.openxmlformats.org/drawingml/2006/main">
              <a:ext uri="{FF2B5EF4-FFF2-40B4-BE49-F238E27FC236}">
                <a16:creationId xmlns:a16="http://schemas.microsoft.com/office/drawing/2014/main" id="{79810087-E95B-4976-8189-B04D4464F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10150"/>
            <a:ext cx="180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39FFB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1">
                <a:solidFill>
                  <a:srgbClr val="39FFB6"/>
                </a:solidFill>
                <a:latin typeface="DejaVu Sans Mono"/>
                <a:ea typeface="DejaVu Sans Mono"/>
                <a:cs typeface="DejaVu Sans Mono"/>
              </a:rPr>
              <a:t>04</a:t>
            </a:r>
          </a:p>
        </p:txBody>
      </p:sp>
      <p:sp>
        <p:nvSpPr>
          <p:cNvPr id="71" name="矩形 70">
            <a:extLst xmlns:a="http://schemas.openxmlformats.org/drawingml/2006/main">
              <a:ext uri="{FF2B5EF4-FFF2-40B4-BE49-F238E27FC236}">
                <a16:creationId xmlns:a16="http://schemas.microsoft.com/office/drawing/2014/main" id="{ACC72102-D087-4C94-80CF-B6D1C1F0D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57800"/>
            <a:ext cx="1857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完成</a:t>
            </a:r>
          </a:p>
        </p:txBody>
      </p:sp>
      <p:sp>
        <p:nvSpPr>
          <p:cNvPr id="72" name="矩形 71">
            <a:extLst xmlns:a="http://schemas.openxmlformats.org/drawingml/2006/main">
              <a:ext uri="{FF2B5EF4-FFF2-40B4-BE49-F238E27FC236}">
                <a16:creationId xmlns:a16="http://schemas.microsoft.com/office/drawing/2014/main" id="{45CD2D98-8D81-4EAE-9222-90547A8AC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010150"/>
            <a:ext cx="257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Diff + Trace + 风险</a:t>
            </a:r>
          </a:p>
        </p:txBody>
      </p:sp>
      <p:sp>
        <p:nvSpPr>
          <p:cNvPr id="73" name="矩形 72">
            <a:extLst xmlns:a="http://schemas.openxmlformats.org/drawingml/2006/main">
              <a:ext uri="{FF2B5EF4-FFF2-40B4-BE49-F238E27FC236}">
                <a16:creationId xmlns:a16="http://schemas.microsoft.com/office/drawing/2014/main" id="{1CF562E4-5360-4E58-9719-BF62AAAD6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010150"/>
            <a:ext cx="266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9AA9B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25" b="0">
                <a:solidFill>
                  <a:srgbClr val="9AA9BC"/>
                </a:solidFill>
                <a:latin typeface="DejaVu Sans Mono"/>
                <a:ea typeface="DejaVu Sans Mono"/>
                <a:cs typeface="DejaVu Sans Mono"/>
              </a:rPr>
              <a:t>tests/</a:t>
            </a:r>
          </a:p>
        </p:txBody>
      </p:sp>
      <p:sp>
        <p:nvSpPr>
          <p:cNvPr id="74" name="矩形 73">
            <a:extLst xmlns:a="http://schemas.openxmlformats.org/drawingml/2006/main">
              <a:ext uri="{FF2B5EF4-FFF2-40B4-BE49-F238E27FC236}">
                <a16:creationId xmlns:a16="http://schemas.microsoft.com/office/drawing/2014/main" id="{5A6670A3-1F9C-4030-8928-08E47141B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5010150"/>
            <a:ext cx="276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F3F8FF"/>
                </a:solidFill>
                <a:latin typeface="Noto Sans CJK SC"/>
                <a:ea typeface="Noto Sans CJK SC"/>
                <a:cs typeface="Noto Sans CJK SC"/>
              </a:rPr>
              <a:t>写集、Diff、命令、退出码和报告身份可回指</a:t>
            </a:r>
          </a:p>
        </p:txBody>
      </p:sp>
    </p:spTree>
    <p:extLst>
      <p:ext uri="{BB962C8B-B14F-4D97-AF65-F5344CB8AC3E}">
        <p14:creationId xmlns:p14="http://schemas.microsoft.com/office/powerpoint/2010/main" val="75980628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E11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DE62DE75-2A31-4C5C-93B7-72FB4CFDB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520" y="45720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3DD9A4"/>
                </a:solidFill>
                <a:latin typeface="Noto Sans CJK SC"/>
                <a:ea typeface="Noto Sans CJK SC"/>
                <a:cs typeface="Noto Sans CJK SC"/>
              </a:rPr>
              <a:t>L04 · 真实项目截图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CA5B4DCC-72E8-4C58-B245-A098A93AE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749808"/>
            <a:ext cx="1106424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 algn="l">
              <a:lnSpc>
                <a:spcPts val="3400"/>
              </a:lnSpc>
              <a:buNone/>
            </a:pPr>
            <a:r>
              <a:rPr sz="3000" b="1">
                <a:solidFill>
                  <a:srgbClr val="F2F4F8"/>
                </a:solidFill>
                <a:latin typeface="Noto Sans CJK SC"/>
                <a:ea typeface="Noto Sans CJK SC"/>
                <a:cs typeface="Noto Sans CJK SC"/>
              </a:rPr>
              <a:t>技术全绿之后仍停在具名审核</a:t>
            </a:r>
            <a:endParaRPr sz="30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0DC2491E-BF4F-4BF1-9391-4776A0C95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55080"/>
            <a:ext cx="5486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6B7684"/>
                </a:solidFill>
                <a:latin typeface="DejaVu Sans Mono"/>
                <a:ea typeface="DejaVu Sans Mono"/>
                <a:cs typeface="DejaVu Sans Mono"/>
              </a:rPr>
              <a:t>13</a:t>
            </a:r>
            <a:endParaRPr sz="1100"/>
          </a:p>
        </p:txBody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5DF754FD-DDEA-4BB3-BDF3-63EB4E559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572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1">
                <a:solidFill>
                  <a:srgbClr val="00E5FF"/>
                </a:solidFill>
                <a:latin typeface="DejaVu Sans Mono"/>
                <a:ea typeface="DejaVu Sans Mono"/>
                <a:cs typeface="DejaVu Sans Mono"/>
              </a:rPr>
              <a:t>// LIVE STATE + PROOF</a:t>
            </a: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4A2628CD-A963-4895-89F8-824607944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466850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9AA9BC"/>
                </a:solidFill>
                <a:latin typeface="Noto Sans CJK SC"/>
                <a:ea typeface="Noto Sans CJK SC"/>
                <a:cs typeface="Noto Sans CJK SC"/>
              </a:rPr>
              <a:t>研发交付工作台正在执行真实代码任务</a:t>
            </a:r>
          </a:p>
        </p:txBody>
      </p:sp>
      <p:pic>
        <p:nvPicPr>
          <p:cNvPr id="41" name="ERP系统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e1a1bc26df43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9050000" y="-19050000"/>
            <a:ext cx="9525" cy="9525"/>
          </a:xfrm>
          <a:prstGeom xmlns:a="http://schemas.openxmlformats.org/drawingml/2006/main" prst="rect">
            <a:avLst/>
          </a:prstGeom>
        </p:spPr>
      </p:pic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e8bd06c725464d"/>
          <a:stretch xmlns:a="http://schemas.openxmlformats.org/drawingml/2006/main"/>
        </p:blipFill>
        <p:spPr>
          <a:xfrm xmlns:a="http://schemas.openxmlformats.org/drawingml/2006/main">
            <a:off x="1891564" y="1897052"/>
            <a:ext cx="8529141" cy="477806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410493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E11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8D29E6BA-B309-4E97-84D0-59EF3128F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355080"/>
            <a:ext cx="5486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6B7684"/>
                </a:solidFill>
                <a:latin typeface="DejaVu Sans Mono"/>
                <a:ea typeface="DejaVu Sans Mono"/>
                <a:cs typeface="DejaVu Sans Mono"/>
              </a:rPr>
              <a:t>14</a:t>
            </a:r>
            <a:endParaRPr sz="1100"/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A86A529E-4523-4E21-B8B0-990A0FE82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4105" y="1885950"/>
            <a:ext cx="7800975" cy="28435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47625" bIns="19050" anchor="ctr">
            <a:normAutofit fontScale="9867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6150" b="1">
                <a:solidFill>
                  <a:srgbClr val="FFB8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6150" b="1">
                <a:solidFill>
                  <a:srgbClr val="FFB84D"/>
                </a:solidFill>
                <a:latin typeface="DejaVu Sans Mono"/>
                <a:ea typeface="DejaVu Sans Mono"/>
                <a:cs typeface="DejaVu Sans Mono"/>
              </a:rPr>
              <a:t>第二次签字：是否改判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6150" b="1">
                <a:solidFill>
                  <a:srgbClr val="FFB84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6150" b="1">
                <a:solidFill>
                  <a:srgbClr val="FFB84D"/>
                </a:solidFill>
                <a:latin typeface="DejaVu Sans Mono"/>
                <a:ea typeface="DejaVu Sans Mono"/>
                <a:cs typeface="DejaVu Sans Mono"/>
              </a:rPr>
              <a:t>→ 打开 VS Code</a:t>
            </a:r>
          </a:p>
        </p:txBody>
      </p:sp>
    </p:spTree>
    <p:extLst>
      <p:ext uri="{BB962C8B-B14F-4D97-AF65-F5344CB8AC3E}">
        <p14:creationId xmlns:p14="http://schemas.microsoft.com/office/powerpoint/2010/main" val="1475907872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2026-09-01T07:16:05.8920000Z</dcterms:created>
  <dcterms:modified xsi:type="dcterms:W3CDTF">2026-09-01T07:16:05.8920000Z</dcterms:modified>
</coreProperties>
</file>