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27459aeb847b8" /><Relationship Type="http://schemas.openxmlformats.org/officeDocument/2006/relationships/extended-properties" Target="/docProps/app.xml" Id="R299ceb27d3ca4f6b" /><Relationship Type="http://schemas.openxmlformats.org/officeDocument/2006/relationships/officeDocument" Target="/ppt/presentation.xml" Id="R8f556eb7cc27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28ad1829934af9"/>
  </p:sldMasterIdLst>
  <p:notesMasterIdLst>
    <p:notesMasterId xmlns:r="http://schemas.openxmlformats.org/officeDocument/2006/relationships" r:id="R9c737c33c13c4275"/>
  </p:notesMasterIdLst>
  <p:sldIdLst>
    <p:sldId xmlns:r="http://schemas.openxmlformats.org/officeDocument/2006/relationships" id="256" r:id="Rb4cdd3a7cced4756"/>
    <p:sldId xmlns:r="http://schemas.openxmlformats.org/officeDocument/2006/relationships" id="257" r:id="R3b07fcdbe2cc43f0"/>
    <p:sldId xmlns:r="http://schemas.openxmlformats.org/officeDocument/2006/relationships" id="258" r:id="R8e835f5ab03f4855"/>
    <p:sldId xmlns:r="http://schemas.openxmlformats.org/officeDocument/2006/relationships" id="259" r:id="R14e2f0c493a4440b"/>
    <p:sldId xmlns:r="http://schemas.openxmlformats.org/officeDocument/2006/relationships" id="260" r:id="Rf0b8a8b4eff04083"/>
    <p:sldId xmlns:r="http://schemas.openxmlformats.org/officeDocument/2006/relationships" id="261" r:id="Rbc876843689d44a2"/>
    <p:sldId xmlns:r="http://schemas.openxmlformats.org/officeDocument/2006/relationships" id="262" r:id="R4fb1fad9dd1b42cf"/>
    <p:sldId xmlns:r="http://schemas.openxmlformats.org/officeDocument/2006/relationships" id="263" r:id="R08d01e224ff34aac"/>
    <p:sldId xmlns:r="http://schemas.openxmlformats.org/officeDocument/2006/relationships" id="264" r:id="Rc5dd4d77b44a4d0e"/>
    <p:sldId xmlns:r="http://schemas.openxmlformats.org/officeDocument/2006/relationships" id="265" r:id="Rbbf5c427d7f74545"/>
    <p:sldId xmlns:r="http://schemas.openxmlformats.org/officeDocument/2006/relationships" id="266" r:id="R1ff83aeb111a4d77"/>
    <p:sldId xmlns:r="http://schemas.openxmlformats.org/officeDocument/2006/relationships" id="267" r:id="R84a2a9ce4e9d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07a0dfd5184f8d" /><Relationship Type="http://schemas.openxmlformats.org/officeDocument/2006/relationships/slideMaster" Target="/ppt/slideMasters/slideMaster1.xml" Id="R0a28ad1829934af9" /><Relationship Type="http://schemas.openxmlformats.org/officeDocument/2006/relationships/notesMaster" Target="/ppt/notesMasters/notesMaster1.xml" Id="R9c737c33c13c4275" /><Relationship Type="http://schemas.openxmlformats.org/officeDocument/2006/relationships/presProps" Target="/ppt/presProps.xml" Id="R2ef154d03d674fa7" /><Relationship Type="http://schemas.openxmlformats.org/officeDocument/2006/relationships/viewProps" Target="/ppt/viewProps.xml" Id="R7169cc06e1054ff2" /><Relationship Type="http://schemas.openxmlformats.org/officeDocument/2006/relationships/tableStyles" Target="/ppt/tableStyles.xml" Id="R7d052d61d3414e07" /><Relationship Type="http://schemas.openxmlformats.org/officeDocument/2006/relationships/slide" Target="/ppt/slides/slide1.xml" Id="Rb4cdd3a7cced4756" /><Relationship Type="http://schemas.openxmlformats.org/officeDocument/2006/relationships/slide" Target="/ppt/slides/slide2.xml" Id="R3b07fcdbe2cc43f0" /><Relationship Type="http://schemas.openxmlformats.org/officeDocument/2006/relationships/slide" Target="/ppt/slides/slide3.xml" Id="R8e835f5ab03f4855" /><Relationship Type="http://schemas.openxmlformats.org/officeDocument/2006/relationships/slide" Target="/ppt/slides/slide4.xml" Id="R14e2f0c493a4440b" /><Relationship Type="http://schemas.openxmlformats.org/officeDocument/2006/relationships/slide" Target="/ppt/slides/slide5.xml" Id="Rf0b8a8b4eff04083" /><Relationship Type="http://schemas.openxmlformats.org/officeDocument/2006/relationships/slide" Target="/ppt/slides/slide6.xml" Id="Rbc876843689d44a2" /><Relationship Type="http://schemas.openxmlformats.org/officeDocument/2006/relationships/slide" Target="/ppt/slides/slide7.xml" Id="R4fb1fad9dd1b42cf" /><Relationship Type="http://schemas.openxmlformats.org/officeDocument/2006/relationships/slide" Target="/ppt/slides/slide8.xml" Id="R08d01e224ff34aac" /><Relationship Type="http://schemas.openxmlformats.org/officeDocument/2006/relationships/slide" Target="/ppt/slides/slide9.xml" Id="Rc5dd4d77b44a4d0e" /><Relationship Type="http://schemas.openxmlformats.org/officeDocument/2006/relationships/slide" Target="/ppt/slides/slide10.xml" Id="Rbbf5c427d7f74545" /><Relationship Type="http://schemas.openxmlformats.org/officeDocument/2006/relationships/slide" Target="/ppt/slides/slide11.xml" Id="R1ff83aeb111a4d77" /><Relationship Type="http://schemas.openxmlformats.org/officeDocument/2006/relationships/slide" Target="/ppt/slides/slide12.xml" Id="R84a2a9ce4e9d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4c8030918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d0c0341d848b6" /><Relationship Type="http://schemas.openxmlformats.org/officeDocument/2006/relationships/notesMaster" Target="/ppt/notesMasters/notesMaster1.xml" Id="R6cc7528ab77e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a5a5f8e9543fa" /><Relationship Type="http://schemas.openxmlformats.org/officeDocument/2006/relationships/notesMaster" Target="/ppt/notesMasters/notesMaster1.xml" Id="Rfef236ea587a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6260286ce44b8" /><Relationship Type="http://schemas.openxmlformats.org/officeDocument/2006/relationships/notesMaster" Target="/ppt/notesMasters/notesMaster1.xml" Id="Rb90d9879ac9747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92dde68304dd1" /><Relationship Type="http://schemas.openxmlformats.org/officeDocument/2006/relationships/notesMaster" Target="/ppt/notesMasters/notesMaster1.xml" Id="Rfaf375f6ead5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05357d36b4fbf" /><Relationship Type="http://schemas.openxmlformats.org/officeDocument/2006/relationships/notesMaster" Target="/ppt/notesMasters/notesMaster1.xml" Id="R97ce26136c96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465326017c4fa6" /><Relationship Type="http://schemas.openxmlformats.org/officeDocument/2006/relationships/notesMaster" Target="/ppt/notesMasters/notesMaster1.xml" Id="R8e31bdde4b9b47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cb1034555465d" /><Relationship Type="http://schemas.openxmlformats.org/officeDocument/2006/relationships/notesMaster" Target="/ppt/notesMasters/notesMaster1.xml" Id="R0215ed515a74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c8767131d54c99" /><Relationship Type="http://schemas.openxmlformats.org/officeDocument/2006/relationships/notesMaster" Target="/ppt/notesMasters/notesMaster1.xml" Id="R22cb0433894045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86e88d2f164d3b" /><Relationship Type="http://schemas.openxmlformats.org/officeDocument/2006/relationships/notesMaster" Target="/ppt/notesMasters/notesMaster1.xml" Id="Rac7632c8e8924a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90fd076a7a47fd" /><Relationship Type="http://schemas.openxmlformats.org/officeDocument/2006/relationships/notesMaster" Target="/ppt/notesMasters/notesMaster1.xml" Id="Rbe0d3b61708142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38f7b9da854956" /><Relationship Type="http://schemas.openxmlformats.org/officeDocument/2006/relationships/notesMaster" Target="/ppt/notesMasters/notesMaster1.xml" Id="R061020b040d7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6df13000924a2c" /><Relationship Type="http://schemas.openxmlformats.org/officeDocument/2006/relationships/notesMaster" Target="/ppt/notesMasters/notesMaster1.xml" Id="R1b39792fb125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本页判断：把模糊需求变成可验收 Spec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本页判断：先把模糊词摆上谈判桌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本页判断：相似旧方案最容易在无人察觉时篡改合同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本页判断：一句愿望要经过七层拆解才能进入实现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本页判断：六项判定权必须在写代码前拿回来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本页判断：销售订单状态迫使我们先统一业务语言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D:\work\CodexFDE\docs\courses\assets\web-22-delivery-generated-spec.png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本页判断：验收矩阵要同时覆盖正常、失败、幂等和不变状态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本页判断：任务级 Spec 必须显示来源、边界与业务对象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D:\work\CodexFDE\docs\courses\assets\web-14-sales-orders.png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本页判断：合同的交付物不止一份 Markdown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本页判断：删掉非目标，范围会怎样悄悄膨胀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本页判断：反向验收：错误实现能否也通过这份 Spec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课堂类型：合同谈判</a:t>
            </a:r>
          </a:p>
          <a:p xmlns:a="http://schemas.openxmlformats.org/drawingml/2006/main">
            <a:r>
              <a:t>本页判断：合同落笔之后，没有一行代码会自动改变</a:t>
            </a:r>
            <a:endParaRPr/>
          </a:p>
          <a:p xmlns:a="http://schemas.openxmlformats.org/drawingml/2006/main">
            <a:r>
              <a:t>课程主线：把‘缺货时智能补货’拆成对象、状态、不变量、反例与明确非目标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workbench.cli task create</a:t>
            </a:r>
          </a:p>
          <a:p xmlns:a="http://schemas.openxmlformats.org/drawingml/2006/main">
            <a:r>
              <a:t>边界：Memory 只提供候选证据，不能静默升级为本次合同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D:\work\CodexFDE\docs\courses\L03-把模糊需求变成可验收Spec.md</a:t>
            </a:r>
          </a:p>
          <a:p xmlns:a="http://schemas.openxmlformats.org/drawingml/2006/main">
            <a:r>
              <a:t>- D:\work\CodexFDE\course\tasks\L03-Spec驱动.md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dbc58ff94496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d69fa58df4442" /><Relationship Type="http://schemas.openxmlformats.org/officeDocument/2006/relationships/slideLayout" Target="/ppt/slideLayouts/slideLayout1.xml" Id="R9caedaa2721d4c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aedaa2721d4c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c093de04d4f10" /><Relationship Type="http://schemas.openxmlformats.org/officeDocument/2006/relationships/notesSlide" Target="/ppt/notesSlides/notesSlide1.xml" Id="R711800793d6d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45578aa34ad7" /><Relationship Type="http://schemas.openxmlformats.org/officeDocument/2006/relationships/notesSlide" Target="/ppt/notesSlides/notesSlide2.xml" Id="Rb16dfa8f784f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d479873c465f" /><Relationship Type="http://schemas.openxmlformats.org/officeDocument/2006/relationships/notesSlide" Target="/ppt/notesSlides/notesSlide3.xml" Id="R06f4e649fa0d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c6000a064843" /><Relationship Type="http://schemas.openxmlformats.org/officeDocument/2006/relationships/notesSlide" Target="/ppt/notesSlides/notesSlide4.xml" Id="Rd10834d1ac0f4a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f659df839425d" /><Relationship Type="http://schemas.openxmlformats.org/officeDocument/2006/relationships/notesSlide" Target="/ppt/notesSlides/notesSlide5.xml" Id="R6792af22e6e049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9f2382bd44bb3" /><Relationship Type="http://schemas.openxmlformats.org/officeDocument/2006/relationships/image" Target="/ppt/media/image.png" Id="R96ccf6422f6e4fe3" /><Relationship Type="http://schemas.openxmlformats.org/officeDocument/2006/relationships/image" Target="/ppt/media/image.jpeg" Id="Rc62a15553e4a438b" /><Relationship Type="http://schemas.openxmlformats.org/officeDocument/2006/relationships/notesSlide" Target="/ppt/notesSlides/notesSlide6.xml" Id="Rd918a9e2efa647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51c71556040d2" /><Relationship Type="http://schemas.openxmlformats.org/officeDocument/2006/relationships/notesSlide" Target="/ppt/notesSlides/notesSlide7.xml" Id="Reb16df547e8c47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f60edbfc340bf" /><Relationship Type="http://schemas.openxmlformats.org/officeDocument/2006/relationships/image" Target="/ppt/media/image.png" Id="Re7b0b4a2517a493a" /><Relationship Type="http://schemas.openxmlformats.org/officeDocument/2006/relationships/image" Target="/ppt/media/image2.jpeg" Id="R20a9ffca7ada4c48" /><Relationship Type="http://schemas.openxmlformats.org/officeDocument/2006/relationships/notesSlide" Target="/ppt/notesSlides/notesSlide8.xml" Id="Rbcd156229b8547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ad3be63774b9f" /><Relationship Type="http://schemas.openxmlformats.org/officeDocument/2006/relationships/notesSlide" Target="/ppt/notesSlides/notesSlide9.xml" Id="R0d8a982cab5446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1ba40e38146af" /><Relationship Type="http://schemas.openxmlformats.org/officeDocument/2006/relationships/notesSlide" Target="/ppt/notesSlides/notesSlide10.xml" Id="R56f70cc1398b40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12934588248bd" /><Relationship Type="http://schemas.openxmlformats.org/officeDocument/2006/relationships/notesSlide" Target="/ppt/notesSlides/notesSlide11.xml" Id="R7a7752c090124c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8a2ddbc1406d" /><Relationship Type="http://schemas.openxmlformats.org/officeDocument/2006/relationships/notesSlide" Target="/ppt/notesSlides/notesSlide12.xml" Id="Rcaf6e093b6ad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L03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把模糊需求变成可验收 Spec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主线：把‘缺货时智能补货’拆成对象、状态、不变量、反例与明确非目标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L03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先把模糊词摆上谈判桌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“增加导出”还缺哪些决定？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调用成功为什么不是验收？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失败后哪些状态不能变？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课堂收件物：结构化 Spec、渠道验收矩阵与历史采用表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L03 · 合同谈判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相似旧方案最容易在无人察觉时篡改合同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裁决标准：来源、目标、非目标、约束、验收、DoD 六段缺一不可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旧项目经验悄悄改变当前需求，失败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后状态也没有定义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73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本页只解决一个冲突：旧项目经验悄悄改变当前需求，失败后状态也没有定义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C0B59-1AE4-4A55-A3CA-117862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L03 · 合同谈判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EAC7C3-EE11-4DA9-88D8-50FF34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0" y="108775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990"/>
              </a:lnSpc>
              <a:buNone/>
            </a:pPr>
            <a:r>
              <a:rPr sz="26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一句愿望要经过七层拆解才能进入实现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5D57-7201-4403-AA3A-513D7FF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0B9AA0-BF74-45AE-BDBE-E4EA9DC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513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648D2C5F-BD1C-4C00-AAB1-BB4163E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32009C0-8F48-4469-96EF-FB0BB71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可观察业务结果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3C4F4CE-C197-4DBE-BF20-D2F02FD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目标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FA571A7-CBB9-43C7-8999-07DED08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5A6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CA39F7E-69E5-456E-977A-8C965B8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订单关联库存采购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A7A9109-6D6C-44DE-92B5-A34A6C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Ontology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03A22F6-B8E1-4F96-9A76-A948C29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5C8D0D7-42D7-4893-8BF0-B321943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采用/调查/拒绝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8B023A-06DF-4DB8-AFAC-BFBFF80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history table</a:t>
            </a:r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6C62559B-C59E-4948-A484-14F517D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39FFB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B0BF075-3CB9-44FC-AFC7-145BEB5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命令与证据位置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BE91A4-7AF5-47DA-8710-6F0CFE9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DoD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31892934-0B38-4EE6-8536-2021A0D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9105"/>
            <a:ext cx="914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066E113-6158-47D1-B3A6-ACF137A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0245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结业判定：正常、失败、幂等和不变状态均有可运行用例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1E2DFA7-2BFE-4766-BE73-0AB2E3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39293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不是概念清单，而是同一事件连续形成的可验收版本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696D0DA-D9CE-4C65-9BAD-675A89A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86918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V0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9A59F63-1DE5-499D-B401-23C3EEF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83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CB8FF3B-45ED-4B26-9BB4-0DFE19D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V1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0C44A94-EE1E-4D43-A4CF-FD47DC3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E67DF79-64F2-4CDF-A25A-C86D42B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V2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F4C0797-E3C2-4F4B-969B-5A1125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REPAIR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6B24EB8-E5FC-4ABF-A982-4E4E76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V3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E1B35615-95B7-49EE-82D3-D76A13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OPERATE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25FF185-A2B0-456E-992C-2C7394B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主线不断档：把‘缺货时智能补货’拆成对象、状态、不变量、反例与明确非目标</a:t>
            </a:r>
          </a:p>
        </p:txBody>
      </p:sp>
    </p:spTree>
    <p:extLst>
      <p:ext uri="{BB962C8B-B14F-4D97-AF65-F5344CB8AC3E}">
        <p14:creationId xmlns:p14="http://schemas.microsoft.com/office/powerpoint/2010/main" val="312736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合同谈判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049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六项判定权必须在写代码前拿回来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锁定需求来源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4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锁定：Spec 的价值不是写得长，而是让不同实现者得出同一个可反驳结果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建立业务对象图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读取 FDE_SPEC.md 与权威状态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FACT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写目标与非目标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python -X utf8 -m workbench.cli task create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ACTION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先写反例验收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7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 正常、失败、幂等和不变状态均有可运行用例 裁决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PROOF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记录历史取舍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 结构化 Spec、渠道验收矩阵与历史采用表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下一步只能由证据推进：把固定 Spec 委托给 Codex 做一次最小变更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销售订单状态迫使我们先统一业务语言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工作台把自然语言需求生成结构化 Spec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cf6422f6e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15553e4a438b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L03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验收矩阵要同时覆盖正常、失败、幂等和不变状态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形容词需求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可观察业务结果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FDE_SPEC.md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目标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对象孤岛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订单关联库存采购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workbench/specs/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Ontology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历史经验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采用/调查/拒绝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flowerp/models.py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history table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完成定义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命令与证据位置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tests/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正常、失败、幂等和不变状态均有可运行用例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任务级 Spec 必须显示来源、边界与业务对象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真实项目：销售订单列表暴露多种状态，迫使 Spec 定义合法迁移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0b4a2517a49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9ffca7ada4c48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收件物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87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合同的交付物不止一份 Markdown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FDE_SPEC.md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本次交付合同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workbench/specs/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任务级版本化 Spec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STATE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flowerp/models.py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订单、库存、采购对象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tests/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用例矩阵落成可运行断言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EVIDENCE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memory_decisions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记录历史经验取舍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最终交付：结构化 Spec、渠道验收矩阵与历史采用表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7D5079-CC1B-469C-8ABA-E592A3C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合同谈判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EDE8A0-34ED-48C3-9FE6-D819C69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948296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删掉非目标，范围会怎样悄悄膨胀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8FF44B-83AF-4886-85A5-B589C67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21AC50A-5A80-43CA-AFDE-D411F4F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智能补货</a:t>
            </a:r>
          </a:p>
        </p:txBody>
      </p:sp>
      <p:sp>
        <p:nvSpPr>
          <p:cNvPr id="14" name="箭头: 右 13">
            <a:extLst xmlns:a="http://schemas.openxmlformats.org/drawingml/2006/main">
              <a:ext uri="{FF2B5EF4-FFF2-40B4-BE49-F238E27FC236}">
                <a16:creationId xmlns:a16="http://schemas.microsoft.com/office/drawing/2014/main" id="{5B068980-2C15-4164-AC23-6A96C3F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15024E-A449-424A-98BA-B4E7001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DCF79-DB1E-4336-8775-60639D6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控制位置迁移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FB5D26-1E6B-430A-AA74-00980AE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7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可观察业务结果 → 订单关联库存采购</a:t>
            </a:r>
          </a:p>
        </p:txBody>
      </p:sp>
      <p:sp>
        <p:nvSpPr>
          <p:cNvPr id="18" name="箭头: 右 17">
            <a:extLst xmlns:a="http://schemas.openxmlformats.org/drawingml/2006/main">
              <a:ext uri="{FF2B5EF4-FFF2-40B4-BE49-F238E27FC236}">
                <a16:creationId xmlns:a16="http://schemas.microsoft.com/office/drawing/2014/main" id="{D2D93868-5D9B-4619-9DFD-E046F85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3DBE9C3-E2B7-4378-84D6-5C202BD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4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命令与证据位置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C04C5F0-9576-4A91-A1A8-0704FF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D10493-8ADB-4723-920D-DC38061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定义 / Contract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BAF19C-ED9E-4B6C-AA3A-3FC201E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975E80F-3C6D-4A24-AE2C-5FB380E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/ Control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3F7675-CF02-4572-8703-0F01AA3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DD70B61-4263-4029-BE60-A3A7845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失败 / Evidence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1ACF70D-7170-4499-9883-FB9FD32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AAD40B8-4023-4DE4-BA22-C246DDE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交接 / Handoff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BAC7070-A5BD-4C3D-A197-E012979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88CDCFB-A083-41F5-A381-895B4F4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旧的安全感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30D64E0-6F23-46E8-8472-0B56625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形容词需求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智能补货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37B404F-929A-4F08-A61B-0102664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专业能力迁移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8E3213B-BE32-4894-8A9E-F0761CC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对象孤岛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订单关联库存采购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283840A-C87C-4F39-B43D-97714CD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可扩展地负责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567FC0-75E3-42B0-B2B2-B463661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完成定义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命令与证据位置</a:t>
            </a:r>
          </a:p>
        </p:txBody>
      </p:sp>
    </p:spTree>
    <p:extLst>
      <p:ext uri="{BB962C8B-B14F-4D97-AF65-F5344CB8AC3E}">
        <p14:creationId xmlns:p14="http://schemas.microsoft.com/office/powerpoint/2010/main" val="709964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L03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反向验收：错误实现能否也通过这份 Spec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同一条规则必须用红灯和绿灯同时证明：来源、目标、非目标、约束、验收、DoD 六段缺一不可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旧项目经验悄悄改变当前需求，失败后状
态也没有定义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Memory 只提供候选证据，不能静默升级为本次合同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4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正常、失败、幂等和不变状态均有可运行用例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结构化 Spec、渠道验收矩阵与历史采用表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2026-09-01T07:16:01.1100000Z</dcterms:created>
  <dcterms:modified xsi:type="dcterms:W3CDTF">2026-09-01T07:16:01.1100000Z</dcterms:modified>
</coreProperties>
</file>